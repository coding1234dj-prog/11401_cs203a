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53" r:id="rId2"/>
    <p:sldId id="863" r:id="rId3"/>
    <p:sldId id="977" r:id="rId4"/>
    <p:sldId id="1178" r:id="rId5"/>
    <p:sldId id="1031" r:id="rId6"/>
    <p:sldId id="1185" r:id="rId7"/>
    <p:sldId id="1184" r:id="rId8"/>
    <p:sldId id="1186" r:id="rId9"/>
    <p:sldId id="1187" r:id="rId10"/>
    <p:sldId id="1188" r:id="rId11"/>
    <p:sldId id="1189" r:id="rId12"/>
    <p:sldId id="1190" r:id="rId13"/>
    <p:sldId id="1191" r:id="rId14"/>
    <p:sldId id="1208" r:id="rId15"/>
    <p:sldId id="1207" r:id="rId16"/>
    <p:sldId id="1183" r:id="rId17"/>
    <p:sldId id="1181" r:id="rId18"/>
    <p:sldId id="1224" r:id="rId19"/>
    <p:sldId id="1047" r:id="rId20"/>
    <p:sldId id="1052" r:id="rId21"/>
    <p:sldId id="1048" r:id="rId22"/>
    <p:sldId id="1056" r:id="rId23"/>
    <p:sldId id="1057" r:id="rId24"/>
    <p:sldId id="1055" r:id="rId25"/>
    <p:sldId id="1053" r:id="rId26"/>
    <p:sldId id="1054" r:id="rId27"/>
    <p:sldId id="1050" r:id="rId28"/>
    <p:sldId id="1059" r:id="rId29"/>
    <p:sldId id="1060" r:id="rId30"/>
    <p:sldId id="1058" r:id="rId31"/>
    <p:sldId id="1221" r:id="rId32"/>
    <p:sldId id="1065" r:id="rId33"/>
    <p:sldId id="1066" r:id="rId34"/>
    <p:sldId id="1061" r:id="rId35"/>
    <p:sldId id="1067" r:id="rId36"/>
    <p:sldId id="1068" r:id="rId37"/>
    <p:sldId id="1062" r:id="rId38"/>
    <p:sldId id="1069" r:id="rId39"/>
    <p:sldId id="1070" r:id="rId40"/>
    <p:sldId id="1063" r:id="rId41"/>
    <p:sldId id="1071" r:id="rId42"/>
    <p:sldId id="1072" r:id="rId43"/>
    <p:sldId id="1077" r:id="rId44"/>
    <p:sldId id="1075" r:id="rId45"/>
    <p:sldId id="1083" r:id="rId46"/>
    <p:sldId id="1084" r:id="rId47"/>
    <p:sldId id="1085" r:id="rId48"/>
    <p:sldId id="1086" r:id="rId49"/>
    <p:sldId id="1087" r:id="rId50"/>
    <p:sldId id="1088" r:id="rId51"/>
    <p:sldId id="1089" r:id="rId52"/>
    <p:sldId id="1090" r:id="rId53"/>
    <p:sldId id="1091" r:id="rId54"/>
    <p:sldId id="1092" r:id="rId55"/>
    <p:sldId id="1093" r:id="rId56"/>
    <p:sldId id="1094" r:id="rId57"/>
    <p:sldId id="1095" r:id="rId58"/>
    <p:sldId id="1096" r:id="rId59"/>
    <p:sldId id="1097" r:id="rId60"/>
    <p:sldId id="1098" r:id="rId61"/>
    <p:sldId id="1099" r:id="rId62"/>
    <p:sldId id="1100" r:id="rId63"/>
    <p:sldId id="1101" r:id="rId64"/>
    <p:sldId id="1102" r:id="rId65"/>
    <p:sldId id="1103" r:id="rId66"/>
    <p:sldId id="1104" r:id="rId67"/>
    <p:sldId id="1222" r:id="rId68"/>
    <p:sldId id="1106" r:id="rId69"/>
    <p:sldId id="1107" r:id="rId70"/>
    <p:sldId id="1108" r:id="rId71"/>
    <p:sldId id="1109" r:id="rId72"/>
    <p:sldId id="1110" r:id="rId73"/>
    <p:sldId id="1111" r:id="rId74"/>
    <p:sldId id="1112" r:id="rId75"/>
    <p:sldId id="1113" r:id="rId76"/>
    <p:sldId id="1223" r:id="rId77"/>
    <p:sldId id="1115" r:id="rId78"/>
    <p:sldId id="1116" r:id="rId79"/>
    <p:sldId id="1117" r:id="rId80"/>
    <p:sldId id="1118" r:id="rId81"/>
    <p:sldId id="1119" r:id="rId82"/>
    <p:sldId id="1120" r:id="rId83"/>
    <p:sldId id="1121" r:id="rId84"/>
    <p:sldId id="1122" r:id="rId85"/>
    <p:sldId id="1123" r:id="rId86"/>
    <p:sldId id="1124" r:id="rId87"/>
    <p:sldId id="1125" r:id="rId88"/>
    <p:sldId id="1126" r:id="rId89"/>
    <p:sldId id="1127" r:id="rId90"/>
    <p:sldId id="1128" r:id="rId91"/>
    <p:sldId id="1129" r:id="rId92"/>
    <p:sldId id="1130" r:id="rId93"/>
    <p:sldId id="1131" r:id="rId94"/>
    <p:sldId id="1132" r:id="rId95"/>
    <p:sldId id="1133" r:id="rId96"/>
    <p:sldId id="1134" r:id="rId97"/>
    <p:sldId id="1135" r:id="rId98"/>
    <p:sldId id="1136" r:id="rId99"/>
    <p:sldId id="1137" r:id="rId100"/>
    <p:sldId id="1138" r:id="rId101"/>
    <p:sldId id="1139" r:id="rId102"/>
    <p:sldId id="1140" r:id="rId103"/>
    <p:sldId id="1141" r:id="rId104"/>
    <p:sldId id="1142" r:id="rId105"/>
    <p:sldId id="1143" r:id="rId106"/>
    <p:sldId id="1144" r:id="rId107"/>
    <p:sldId id="1145" r:id="rId108"/>
    <p:sldId id="1146" r:id="rId109"/>
    <p:sldId id="1147" r:id="rId110"/>
    <p:sldId id="1225" r:id="rId111"/>
    <p:sldId id="1226" r:id="rId112"/>
    <p:sldId id="1227" r:id="rId113"/>
    <p:sldId id="1228" r:id="rId114"/>
    <p:sldId id="1229" r:id="rId115"/>
    <p:sldId id="1230" r:id="rId116"/>
    <p:sldId id="1231" r:id="rId117"/>
    <p:sldId id="1232" r:id="rId118"/>
    <p:sldId id="1233" r:id="rId119"/>
    <p:sldId id="1234" r:id="rId120"/>
    <p:sldId id="1235" r:id="rId121"/>
    <p:sldId id="1154" r:id="rId122"/>
    <p:sldId id="1195" r:id="rId123"/>
    <p:sldId id="1197" r:id="rId124"/>
    <p:sldId id="1203" r:id="rId125"/>
    <p:sldId id="1202" r:id="rId126"/>
    <p:sldId id="1198" r:id="rId127"/>
    <p:sldId id="1199" r:id="rId128"/>
    <p:sldId id="1200" r:id="rId129"/>
    <p:sldId id="1201" r:id="rId130"/>
    <p:sldId id="1196" r:id="rId131"/>
    <p:sldId id="1204" r:id="rId132"/>
    <p:sldId id="1149" r:id="rId133"/>
    <p:sldId id="1150" r:id="rId134"/>
    <p:sldId id="1151" r:id="rId135"/>
    <p:sldId id="1152" r:id="rId136"/>
    <p:sldId id="1153" r:id="rId137"/>
    <p:sldId id="1078" r:id="rId138"/>
    <p:sldId id="1079" r:id="rId139"/>
    <p:sldId id="1080" r:id="rId140"/>
    <p:sldId id="1081" r:id="rId14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91AF"/>
    <a:srgbClr val="0000FF"/>
    <a:srgbClr val="808080"/>
    <a:srgbClr val="74531F"/>
    <a:srgbClr val="800080"/>
    <a:srgbClr val="1F377F"/>
    <a:srgbClr val="92D050"/>
    <a:srgbClr val="66CCFF"/>
    <a:srgbClr val="FFCCFF"/>
    <a:srgbClr val="85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06" autoAdjust="0"/>
    <p:restoredTop sz="94660"/>
  </p:normalViewPr>
  <p:slideViewPr>
    <p:cSldViewPr showGuides="1">
      <p:cViewPr varScale="1">
        <p:scale>
          <a:sx n="93" d="100"/>
          <a:sy n="93" d="100"/>
        </p:scale>
        <p:origin x="125" y="72"/>
      </p:cViewPr>
      <p:guideLst>
        <p:guide orient="horz" pos="5"/>
        <p:guide pos="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2000" y="2708910"/>
            <a:ext cx="8640000" cy="1440180"/>
          </a:xfrm>
        </p:spPr>
        <p:txBody>
          <a:bodyPr>
            <a:noAutofit/>
          </a:bodyPr>
          <a:lstStyle>
            <a:lvl1pPr>
              <a:defRPr sz="5400">
                <a:solidFill>
                  <a:srgbClr val="0000FF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768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0" y="548639"/>
            <a:ext cx="8281059" cy="576072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219920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369000"/>
            <a:ext cx="8640000" cy="6119999"/>
          </a:xfrm>
        </p:spPr>
        <p:txBody>
          <a:bodyPr wrap="none"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815473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0" y="369000"/>
            <a:ext cx="7920530" cy="611999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6012000" y="549000"/>
            <a:ext cx="2700530" cy="1260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256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2529000"/>
            <a:ext cx="3060530" cy="1800000"/>
          </a:xfrm>
        </p:spPr>
        <p:txBody>
          <a:bodyPr/>
          <a:lstStyle>
            <a:lvl1pPr>
              <a:spcBef>
                <a:spcPts val="300"/>
              </a:spcBef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60422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872000" y="729000"/>
            <a:ext cx="5400000" cy="900000"/>
          </a:xfrm>
        </p:spPr>
        <p:txBody>
          <a:bodyPr/>
          <a:lstStyle>
            <a:lvl1pPr>
              <a:spcBef>
                <a:spcPts val="300"/>
              </a:spcBef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9734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4509000"/>
            <a:ext cx="3780000" cy="360000"/>
          </a:xfrm>
        </p:spPr>
        <p:txBody>
          <a:bodyPr/>
          <a:lstStyle>
            <a:lvl1pPr>
              <a:spcBef>
                <a:spcPts val="300"/>
              </a:spcBef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9445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3780000" cy="360000"/>
          </a:xfrm>
        </p:spPr>
        <p:txBody>
          <a:bodyPr/>
          <a:lstStyle>
            <a:lvl1pPr>
              <a:spcBef>
                <a:spcPts val="300"/>
              </a:spcBef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443298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000" y="4329000"/>
            <a:ext cx="4860000" cy="1980000"/>
          </a:xfrm>
        </p:spPr>
        <p:txBody>
          <a:bodyPr/>
          <a:lstStyle>
            <a:lvl1pPr>
              <a:spcBef>
                <a:spcPts val="300"/>
              </a:spcBef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9846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000" y="4509000"/>
            <a:ext cx="4500000" cy="1800000"/>
          </a:xfrm>
        </p:spPr>
        <p:txBody>
          <a:bodyPr/>
          <a:lstStyle>
            <a:lvl1pPr>
              <a:spcBef>
                <a:spcPts val="300"/>
              </a:spcBef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1834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000" y="4689000"/>
            <a:ext cx="4500000" cy="1620000"/>
          </a:xfrm>
        </p:spPr>
        <p:txBody>
          <a:bodyPr/>
          <a:lstStyle>
            <a:lvl1pPr>
              <a:spcBef>
                <a:spcPts val="300"/>
              </a:spcBef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69039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8280000" cy="1440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5112000" y="1989000"/>
            <a:ext cx="3600000" cy="1080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01528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92000" y="549000"/>
            <a:ext cx="2160001" cy="36036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28550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369000"/>
            <a:ext cx="8641080" cy="90011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099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53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251460" y="188586"/>
            <a:ext cx="8641080" cy="9001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1460" y="1268730"/>
            <a:ext cx="8641080" cy="5040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483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8" r:id="rId3"/>
    <p:sldLayoutId id="2147483665" r:id="rId4"/>
    <p:sldLayoutId id="2147483657" r:id="rId5"/>
    <p:sldLayoutId id="2147483658" r:id="rId6"/>
    <p:sldLayoutId id="2147483666" r:id="rId7"/>
    <p:sldLayoutId id="2147483667" r:id="rId8"/>
    <p:sldLayoutId id="2147483659" r:id="rId9"/>
    <p:sldLayoutId id="2147483660" r:id="rId10"/>
    <p:sldLayoutId id="2147483661" r:id="rId11"/>
    <p:sldLayoutId id="2147483663" r:id="rId12"/>
    <p:sldLayoutId id="2147483664" r:id="rId13"/>
    <p:sldLayoutId id="2147483654" r:id="rId14"/>
    <p:sldLayoutId id="214748365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971999" y="2708910"/>
            <a:ext cx="7200001" cy="1440180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078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548639"/>
            <a:ext cx="8281059" cy="594036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private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DequeVal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&gt;;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DequeConstIterator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   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deque(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deque(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&amp;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operator=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   ~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()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insert(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erase(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clear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private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enlargeMap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doubleMapSize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319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549000"/>
            <a:ext cx="8281059" cy="5940000"/>
          </a:xfrm>
        </p:spPr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template</a:t>
            </a:r>
            <a:r>
              <a:rPr lang="en-US" altLang="zh-TW" dirty="0" smtClean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DequeVal</a:t>
            </a:r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public</a:t>
            </a:r>
            <a:r>
              <a:rPr lang="en-US" altLang="zh-TW" dirty="0" smtClean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:</a:t>
            </a:r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=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difference_type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   =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*;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const_pointer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= </a:t>
            </a:r>
            <a:r>
              <a:rPr lang="en-US" altLang="zh-TW" dirty="0" err="1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*;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MapPtr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    =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**;</a:t>
            </a:r>
          </a:p>
          <a:p>
            <a:endParaRPr lang="zh-TW" altLang="en-US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: map(),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MapPtr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map;        </a:t>
            </a:r>
            <a:r>
              <a:rPr lang="en-US" altLang="zh-TW" dirty="0">
                <a:solidFill>
                  <a:srgbClr val="008000"/>
                </a:solidFill>
                <a:latin typeface="Lucida Console" pitchFamily="49" charset="0"/>
                <a:ea typeface="細明體" panose="02020509000000000000" pitchFamily="49" charset="-120"/>
              </a:rPr>
              <a:t>// pointer to array of pointers to blocks</a:t>
            </a:r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>
                <a:solidFill>
                  <a:srgbClr val="008000"/>
                </a:solidFill>
                <a:latin typeface="Lucida Console" pitchFamily="49" charset="0"/>
                <a:ea typeface="細明體" panose="02020509000000000000" pitchFamily="49" charset="-120"/>
              </a:rPr>
              <a:t>// size of map array, zero or </a:t>
            </a:r>
            <a:r>
              <a:rPr lang="en-US" altLang="zh-TW" dirty="0" err="1">
                <a:solidFill>
                  <a:srgbClr val="008000"/>
                </a:solidFill>
                <a:latin typeface="Lucida Console" pitchFamily="49" charset="0"/>
                <a:ea typeface="細明體" panose="02020509000000000000" pitchFamily="49" charset="-120"/>
              </a:rPr>
              <a:t>2^N</a:t>
            </a:r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   </a:t>
            </a:r>
            <a:r>
              <a:rPr lang="en-US" altLang="zh-TW" dirty="0">
                <a:solidFill>
                  <a:srgbClr val="008000"/>
                </a:solidFill>
                <a:latin typeface="Lucida Console" pitchFamily="49" charset="0"/>
                <a:ea typeface="細明體" panose="02020509000000000000" pitchFamily="49" charset="-120"/>
              </a:rPr>
              <a:t>// offset of initial element</a:t>
            </a:r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latin typeface="Lucida Console" pitchFamily="49" charset="0"/>
                <a:ea typeface="細明體" panose="02020509000000000000" pitchFamily="49" charset="-120"/>
              </a:rPr>
              <a:t>// current length of sequence</a:t>
            </a:r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};</a:t>
            </a:r>
          </a:p>
        </p:txBody>
      </p:sp>
      <p:sp>
        <p:nvSpPr>
          <p:cNvPr id="3" name="流程圖: 程序 2"/>
          <p:cNvSpPr/>
          <p:nvPr/>
        </p:nvSpPr>
        <p:spPr>
          <a:xfrm>
            <a:off x="655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" name="流程圖: 程序 3"/>
          <p:cNvSpPr/>
          <p:nvPr/>
        </p:nvSpPr>
        <p:spPr>
          <a:xfrm>
            <a:off x="673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91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091747" y="3249208"/>
            <a:ext cx="899909" cy="360046"/>
          </a:xfrm>
          <a:prstGeom prst="rect">
            <a:avLst/>
          </a:prstGeom>
          <a:noFill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70031"/>
              </p:ext>
            </p:extLst>
          </p:nvPr>
        </p:nvGraphicFramePr>
        <p:xfrm>
          <a:off x="673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63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DequeVal</a:t>
            </a:r>
            <a:endParaRPr lang="en-US" altLang="zh-TW" dirty="0">
              <a:solidFill>
                <a:srgbClr val="000000"/>
              </a:solidFill>
              <a:latin typeface="Lucida Console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: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=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difference_type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   =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*;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const_pointer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= </a:t>
            </a:r>
            <a:r>
              <a:rPr lang="en-US" altLang="zh-TW" dirty="0" err="1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*;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itchFamily="49" charset="0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MapPtr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         = </a:t>
            </a:r>
            <a:r>
              <a:rPr lang="en-US" altLang="zh-TW" dirty="0">
                <a:solidFill>
                  <a:srgbClr val="2B91AF"/>
                </a:solidFill>
                <a:latin typeface="Lucida Console" pitchFamily="49" charset="0"/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**;</a:t>
            </a:r>
            <a:endParaRPr lang="zh-TW" altLang="en-US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: map(),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getBlock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&lt;= 1 ? 16 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&lt;= 2 ?  8 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&lt;= 4 ?  4 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&lt;= 8 ?  2 : 1;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b="1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MapPtr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map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5371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548639"/>
            <a:ext cx="8281059" cy="234036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begin()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&amp;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end()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&amp;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77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Fill Constructor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651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deque(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nullptr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compDequeSize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8;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*= 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865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( 8, 3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  <p:sp>
        <p:nvSpPr>
          <p:cNvPr id="8" name="Line 43"/>
          <p:cNvSpPr>
            <a:spLocks noChangeShapeType="1"/>
          </p:cNvSpPr>
          <p:nvPr/>
        </p:nvSpPr>
        <p:spPr bwMode="auto">
          <a:xfrm>
            <a:off x="4932000" y="12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4932000" y="9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471498"/>
              </p:ext>
            </p:extLst>
          </p:nvPr>
        </p:nvGraphicFramePr>
        <p:xfrm>
          <a:off x="5472000" y="12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6" name="流程圖: 程序 15"/>
          <p:cNvSpPr/>
          <p:nvPr/>
        </p:nvSpPr>
        <p:spPr>
          <a:xfrm>
            <a:off x="2412000" y="7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2591747" y="9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771747" y="30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951747" y="27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58211"/>
              </p:ext>
            </p:extLst>
          </p:nvPr>
        </p:nvGraphicFramePr>
        <p:xfrm>
          <a:off x="2592000" y="10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3852000" y="9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61924"/>
              </p:ext>
            </p:extLst>
          </p:nvPr>
        </p:nvGraphicFramePr>
        <p:xfrm>
          <a:off x="4752000" y="72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464084"/>
              </p:ext>
            </p:extLst>
          </p:nvPr>
        </p:nvGraphicFramePr>
        <p:xfrm>
          <a:off x="5472000" y="3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1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( 9, 3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  <p:sp>
        <p:nvSpPr>
          <p:cNvPr id="8" name="Line 43"/>
          <p:cNvSpPr>
            <a:spLocks noChangeShapeType="1"/>
          </p:cNvSpPr>
          <p:nvPr/>
        </p:nvSpPr>
        <p:spPr bwMode="auto">
          <a:xfrm>
            <a:off x="4932000" y="12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4932000" y="9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05889"/>
              </p:ext>
            </p:extLst>
          </p:nvPr>
        </p:nvGraphicFramePr>
        <p:xfrm>
          <a:off x="5472000" y="12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6" name="流程圖: 程序 15"/>
          <p:cNvSpPr/>
          <p:nvPr/>
        </p:nvSpPr>
        <p:spPr>
          <a:xfrm>
            <a:off x="2412000" y="7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2591747" y="9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771747" y="30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951747" y="27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952480"/>
              </p:ext>
            </p:extLst>
          </p:nvPr>
        </p:nvGraphicFramePr>
        <p:xfrm>
          <a:off x="2592000" y="10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3852000" y="9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45915"/>
              </p:ext>
            </p:extLst>
          </p:nvPr>
        </p:nvGraphicFramePr>
        <p:xfrm>
          <a:off x="4752000" y="72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4932000" y="162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468607"/>
              </p:ext>
            </p:extLst>
          </p:nvPr>
        </p:nvGraphicFramePr>
        <p:xfrm>
          <a:off x="5472000" y="18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464084"/>
              </p:ext>
            </p:extLst>
          </p:nvPr>
        </p:nvGraphicFramePr>
        <p:xfrm>
          <a:off x="5472000" y="3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933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( 28, 3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  <p:sp>
        <p:nvSpPr>
          <p:cNvPr id="16" name="流程圖: 程序 15"/>
          <p:cNvSpPr/>
          <p:nvPr/>
        </p:nvSpPr>
        <p:spPr>
          <a:xfrm>
            <a:off x="2412000" y="7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2591747" y="9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771747" y="30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951747" y="27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53501"/>
              </p:ext>
            </p:extLst>
          </p:nvPr>
        </p:nvGraphicFramePr>
        <p:xfrm>
          <a:off x="2592000" y="10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3852000" y="9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26560"/>
              </p:ext>
            </p:extLst>
          </p:nvPr>
        </p:nvGraphicFramePr>
        <p:xfrm>
          <a:off x="4752000" y="72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Line 43"/>
          <p:cNvSpPr>
            <a:spLocks noChangeShapeType="1"/>
          </p:cNvSpPr>
          <p:nvPr/>
        </p:nvSpPr>
        <p:spPr bwMode="auto">
          <a:xfrm>
            <a:off x="4932000" y="12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 flipV="1">
            <a:off x="4932000" y="9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234797"/>
              </p:ext>
            </p:extLst>
          </p:nvPr>
        </p:nvGraphicFramePr>
        <p:xfrm>
          <a:off x="5472000" y="12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4932000" y="162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549389"/>
              </p:ext>
            </p:extLst>
          </p:nvPr>
        </p:nvGraphicFramePr>
        <p:xfrm>
          <a:off x="5472000" y="18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4932000" y="270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932000" y="234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40109"/>
              </p:ext>
            </p:extLst>
          </p:nvPr>
        </p:nvGraphicFramePr>
        <p:xfrm>
          <a:off x="5472000" y="28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180845"/>
              </p:ext>
            </p:extLst>
          </p:nvPr>
        </p:nvGraphicFramePr>
        <p:xfrm>
          <a:off x="5472000" y="34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1" name="Line 43"/>
          <p:cNvSpPr>
            <a:spLocks noChangeShapeType="1"/>
          </p:cNvSpPr>
          <p:nvPr/>
        </p:nvSpPr>
        <p:spPr bwMode="auto">
          <a:xfrm>
            <a:off x="4932000" y="306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847873"/>
              </p:ext>
            </p:extLst>
          </p:nvPr>
        </p:nvGraphicFramePr>
        <p:xfrm>
          <a:off x="5472000" y="39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4932000" y="198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218373"/>
              </p:ext>
            </p:extLst>
          </p:nvPr>
        </p:nvGraphicFramePr>
        <p:xfrm>
          <a:off x="5472000" y="23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464084"/>
              </p:ext>
            </p:extLst>
          </p:nvPr>
        </p:nvGraphicFramePr>
        <p:xfrm>
          <a:off x="5472000" y="3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28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( 29, 3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  <p:graphicFrame>
        <p:nvGraphicFramePr>
          <p:cNvPr id="2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49275"/>
              </p:ext>
            </p:extLst>
          </p:nvPr>
        </p:nvGraphicFramePr>
        <p:xfrm>
          <a:off x="4752000" y="72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" name="流程圖: 程序 37"/>
          <p:cNvSpPr/>
          <p:nvPr/>
        </p:nvSpPr>
        <p:spPr>
          <a:xfrm>
            <a:off x="2412000" y="7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9" name="流程圖: 程序 38"/>
          <p:cNvSpPr/>
          <p:nvPr/>
        </p:nvSpPr>
        <p:spPr>
          <a:xfrm>
            <a:off x="2591747" y="9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2771747" y="30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951747" y="27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52026"/>
              </p:ext>
            </p:extLst>
          </p:nvPr>
        </p:nvGraphicFramePr>
        <p:xfrm>
          <a:off x="2592000" y="10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3852000" y="9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>
            <a:off x="4932000" y="12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4932000" y="9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460582"/>
              </p:ext>
            </p:extLst>
          </p:nvPr>
        </p:nvGraphicFramePr>
        <p:xfrm>
          <a:off x="5472000" y="12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8" name="Line 43"/>
          <p:cNvSpPr>
            <a:spLocks noChangeShapeType="1"/>
          </p:cNvSpPr>
          <p:nvPr/>
        </p:nvSpPr>
        <p:spPr bwMode="auto">
          <a:xfrm>
            <a:off x="4932000" y="162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860763"/>
              </p:ext>
            </p:extLst>
          </p:nvPr>
        </p:nvGraphicFramePr>
        <p:xfrm>
          <a:off x="5472000" y="18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4932000" y="270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>
            <a:off x="4932000" y="234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79742"/>
              </p:ext>
            </p:extLst>
          </p:nvPr>
        </p:nvGraphicFramePr>
        <p:xfrm>
          <a:off x="5472000" y="28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655372"/>
              </p:ext>
            </p:extLst>
          </p:nvPr>
        </p:nvGraphicFramePr>
        <p:xfrm>
          <a:off x="5472000" y="34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4932000" y="306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51294"/>
              </p:ext>
            </p:extLst>
          </p:nvPr>
        </p:nvGraphicFramePr>
        <p:xfrm>
          <a:off x="5472000" y="39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4932000" y="198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591936"/>
              </p:ext>
            </p:extLst>
          </p:nvPr>
        </p:nvGraphicFramePr>
        <p:xfrm>
          <a:off x="5472000" y="23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932000" y="3429000"/>
            <a:ext cx="540000" cy="12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30446"/>
              </p:ext>
            </p:extLst>
          </p:nvPr>
        </p:nvGraphicFramePr>
        <p:xfrm>
          <a:off x="5472000" y="45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084622"/>
              </p:ext>
            </p:extLst>
          </p:nvPr>
        </p:nvGraphicFramePr>
        <p:xfrm>
          <a:off x="5472000" y="3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836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Copy Constructor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1523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compDequeSize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8;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*= 2;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618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629000"/>
            <a:ext cx="3780000" cy="360000"/>
          </a:xfrm>
        </p:spPr>
        <p:txBody>
          <a:bodyPr/>
          <a:lstStyle/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67321"/>
              </p:ext>
            </p:extLst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流程圖: 程序 4"/>
          <p:cNvSpPr/>
          <p:nvPr/>
        </p:nvSpPr>
        <p:spPr>
          <a:xfrm>
            <a:off x="439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457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5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93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123532"/>
              </p:ext>
            </p:extLst>
          </p:nvPr>
        </p:nvGraphicFramePr>
        <p:xfrm>
          <a:off x="457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583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691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58443"/>
              </p:ext>
            </p:extLst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418347"/>
              </p:ext>
            </p:extLst>
          </p:nvPr>
        </p:nvGraphicFramePr>
        <p:xfrm>
          <a:off x="7452000" y="59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9" name="Line 43"/>
          <p:cNvSpPr>
            <a:spLocks noChangeShapeType="1"/>
          </p:cNvSpPr>
          <p:nvPr/>
        </p:nvSpPr>
        <p:spPr bwMode="auto">
          <a:xfrm flipV="1">
            <a:off x="6912000" y="5588999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20118"/>
              </p:ext>
            </p:extLst>
          </p:nvPr>
        </p:nvGraphicFramePr>
        <p:xfrm>
          <a:off x="745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44480"/>
              </p:ext>
            </p:extLst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889842"/>
              </p:ext>
            </p:extLst>
          </p:nvPr>
        </p:nvGraphicFramePr>
        <p:xfrm>
          <a:off x="25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14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629000"/>
            <a:ext cx="3780000" cy="360000"/>
          </a:xfrm>
        </p:spPr>
        <p:txBody>
          <a:bodyPr/>
          <a:lstStyle/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67321"/>
              </p:ext>
            </p:extLst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流程圖: 程序 4"/>
          <p:cNvSpPr/>
          <p:nvPr/>
        </p:nvSpPr>
        <p:spPr>
          <a:xfrm>
            <a:off x="439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457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5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93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782624"/>
              </p:ext>
            </p:extLst>
          </p:nvPr>
        </p:nvGraphicFramePr>
        <p:xfrm>
          <a:off x="457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583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252000" y="34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431747" y="36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11747" y="57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91747" y="54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67208"/>
              </p:ext>
            </p:extLst>
          </p:nvPr>
        </p:nvGraphicFramePr>
        <p:xfrm>
          <a:off x="432000" y="37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Line 43"/>
          <p:cNvSpPr>
            <a:spLocks noChangeShapeType="1"/>
          </p:cNvSpPr>
          <p:nvPr/>
        </p:nvSpPr>
        <p:spPr bwMode="auto">
          <a:xfrm flipV="1">
            <a:off x="1692000" y="36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86709"/>
              </p:ext>
            </p:extLst>
          </p:nvPr>
        </p:nvGraphicFramePr>
        <p:xfrm>
          <a:off x="2592000" y="342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2772000" y="396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2772000" y="36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123984"/>
              </p:ext>
            </p:extLst>
          </p:nvPr>
        </p:nvGraphicFramePr>
        <p:xfrm>
          <a:off x="331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858235"/>
              </p:ext>
            </p:extLst>
          </p:nvPr>
        </p:nvGraphicFramePr>
        <p:xfrm>
          <a:off x="331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2772000" y="432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932192"/>
              </p:ext>
            </p:extLst>
          </p:nvPr>
        </p:nvGraphicFramePr>
        <p:xfrm>
          <a:off x="331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691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58443"/>
              </p:ext>
            </p:extLst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418347"/>
              </p:ext>
            </p:extLst>
          </p:nvPr>
        </p:nvGraphicFramePr>
        <p:xfrm>
          <a:off x="7452000" y="59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9" name="Line 43"/>
          <p:cNvSpPr>
            <a:spLocks noChangeShapeType="1"/>
          </p:cNvSpPr>
          <p:nvPr/>
        </p:nvSpPr>
        <p:spPr bwMode="auto">
          <a:xfrm flipV="1">
            <a:off x="6912000" y="5588999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20118"/>
              </p:ext>
            </p:extLst>
          </p:nvPr>
        </p:nvGraphicFramePr>
        <p:xfrm>
          <a:off x="745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44480"/>
              </p:ext>
            </p:extLst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0499"/>
              </p:ext>
            </p:extLst>
          </p:nvPr>
        </p:nvGraphicFramePr>
        <p:xfrm>
          <a:off x="25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35049"/>
              </p:ext>
            </p:extLst>
          </p:nvPr>
        </p:nvGraphicFramePr>
        <p:xfrm>
          <a:off x="25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347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Insert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6915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89000"/>
            <a:ext cx="8640000" cy="6479999"/>
          </a:xfrm>
        </p:spPr>
        <p:txBody>
          <a:bodyPr/>
          <a:lstStyle/>
          <a:p>
            <a:r>
              <a:rPr lang="en-US" altLang="zh-TW" sz="1500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insert(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const_iterator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where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sz="1500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compDequeSize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();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// elements per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block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=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&gt;( 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where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- begin() );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 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all elements before where move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forward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off &lt;=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/ 2 )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closer to front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myData.myOff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%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0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&amp;&amp;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&lt;= 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doubleMapSize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// all elements after (and at) where move backward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myData.myOff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 %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0 &amp;&amp;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&lt;= 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doubleMapSize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5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begin() + </a:t>
            </a:r>
            <a:r>
              <a:rPr lang="en-US" altLang="zh-TW" sz="1500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static_cast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difference_type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&gt;( off );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195877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doubleMapSize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947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+ 12, 25 );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&lt;=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249646"/>
              </p:ext>
            </p:extLst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81024"/>
              </p:ext>
            </p:extLst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48127"/>
              </p:ext>
            </p:extLst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52664"/>
              </p:ext>
            </p:extLst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24409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495933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049777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330793"/>
              </p:ext>
            </p:extLst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128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+ 12, 25 );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&lt;=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835013"/>
              </p:ext>
            </p:extLst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864457"/>
              </p:ext>
            </p:extLst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54805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185305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420918"/>
              </p:ext>
            </p:extLst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80992"/>
              </p:ext>
            </p:extLst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753947"/>
              </p:ext>
            </p:extLst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633940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21810"/>
              </p:ext>
            </p:extLst>
          </p:nvPr>
        </p:nvGraphicFramePr>
        <p:xfrm>
          <a:off x="529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475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043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01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+ 12, 26 );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&lt;=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430960"/>
              </p:ext>
            </p:extLst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14390"/>
              </p:ext>
            </p:extLst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8036"/>
              </p:ext>
            </p:extLst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37250"/>
              </p:ext>
            </p:extLst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399541"/>
              </p:ext>
            </p:extLst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823938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64532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87877"/>
              </p:ext>
            </p:extLst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11180"/>
              </p:ext>
            </p:extLst>
          </p:nvPr>
        </p:nvGraphicFramePr>
        <p:xfrm>
          <a:off x="5292000" y="57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065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+ 12, 26 );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&lt;=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430960"/>
              </p:ext>
            </p:extLst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14390"/>
              </p:ext>
            </p:extLst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823938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15779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447665"/>
              </p:ext>
            </p:extLst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11180"/>
              </p:ext>
            </p:extLst>
          </p:nvPr>
        </p:nvGraphicFramePr>
        <p:xfrm>
          <a:off x="5292000" y="57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928508"/>
              </p:ext>
            </p:extLst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845979"/>
              </p:ext>
            </p:extLst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577"/>
              </p:ext>
            </p:extLst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087811"/>
              </p:ext>
            </p:extLst>
          </p:nvPr>
        </p:nvGraphicFramePr>
        <p:xfrm>
          <a:off x="529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7" name="Line 43"/>
          <p:cNvSpPr>
            <a:spLocks noChangeShapeType="1"/>
          </p:cNvSpPr>
          <p:nvPr/>
        </p:nvSpPr>
        <p:spPr bwMode="auto">
          <a:xfrm flipV="1">
            <a:off x="4752000" y="216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43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34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+ 13, 25 );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249646"/>
              </p:ext>
            </p:extLst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81024"/>
              </p:ext>
            </p:extLst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48127"/>
              </p:ext>
            </p:extLst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52664"/>
              </p:ext>
            </p:extLst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24409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490183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64566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330793"/>
              </p:ext>
            </p:extLst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969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+ 13, 25 );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821823"/>
              </p:ext>
            </p:extLst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576405"/>
              </p:ext>
            </p:extLst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48127"/>
              </p:ext>
            </p:extLst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52664"/>
              </p:ext>
            </p:extLst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24409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971414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697964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756965"/>
              </p:ext>
            </p:extLst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347392"/>
              </p:ext>
            </p:extLst>
          </p:nvPr>
        </p:nvGraphicFramePr>
        <p:xfrm>
          <a:off x="5292000" y="59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097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397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+ 13, 26 );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213560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19105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5292000" y="57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158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+ 13, 26 );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61916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240541"/>
              </p:ext>
            </p:extLst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138418"/>
              </p:ext>
            </p:extLst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934789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31159"/>
              </p:ext>
            </p:extLst>
          </p:nvPr>
        </p:nvGraphicFramePr>
        <p:xfrm>
          <a:off x="5292000" y="57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385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Erase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1138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369000"/>
            <a:ext cx="8281059" cy="6119999"/>
          </a:xfrm>
        </p:spPr>
        <p:txBody>
          <a:bodyPr/>
          <a:lstStyle/>
          <a:p>
            <a:r>
              <a:rPr lang="en-US" altLang="zh-TW" dirty="0" smtClean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iterator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erase(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1 &amp;&amp; begin() ==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begin();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compDequeSize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off =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- begin()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all elements before where move backward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off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2 )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closer to front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all elements after where move forward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--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begin() +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difference_type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&gt;( off );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23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+ 11 );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 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584020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93842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965970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838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+ 11 );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 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60587"/>
              </p:ext>
            </p:extLst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28705"/>
              </p:ext>
            </p:extLst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845851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93842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19316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436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092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&gt;=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62537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760438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617805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427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 &gt;=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370578"/>
              </p:ext>
            </p:extLst>
          </p:nvPr>
        </p:nvGraphicFramePr>
        <p:xfrm>
          <a:off x="529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999240"/>
              </p:ext>
            </p:extLst>
          </p:nvPr>
        </p:nvGraphicFramePr>
        <p:xfrm>
          <a:off x="529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62537"/>
              </p:ext>
            </p:extLst>
          </p:nvPr>
        </p:nvGraphicFramePr>
        <p:xfrm>
          <a:off x="529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68487"/>
              </p:ext>
            </p:extLst>
          </p:nvPr>
        </p:nvGraphicFramePr>
        <p:xfrm>
          <a:off x="529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950048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877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9473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+ 11 );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 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003162"/>
              </p:ext>
            </p:extLst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668540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132314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5292000" y="57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959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+ 11 );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 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668540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873778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5292000" y="57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18529"/>
              </p:ext>
            </p:extLst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666586"/>
              </p:ext>
            </p:extLst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223642"/>
              </p:ext>
            </p:extLst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06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95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 &gt;=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704258"/>
              </p:ext>
            </p:extLst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4752000" y="54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136187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629885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5292000" y="57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81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+ 12 );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off &gt;=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2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752000" y="46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752000" y="43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4752000" y="37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4752000" y="32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4752000" y="50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529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29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704258"/>
              </p:ext>
            </p:extLst>
          </p:nvPr>
        </p:nvGraphicFramePr>
        <p:xfrm>
          <a:off x="529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4" name="流程圖: 程序 23"/>
          <p:cNvSpPr/>
          <p:nvPr/>
        </p:nvSpPr>
        <p:spPr>
          <a:xfrm>
            <a:off x="2232000" y="23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2411747" y="25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591747" y="46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1747" y="43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696205"/>
              </p:ext>
            </p:extLst>
          </p:nvPr>
        </p:nvGraphicFramePr>
        <p:xfrm>
          <a:off x="241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3672000" y="28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6" name="Group 5"/>
          <p:cNvGraphicFramePr>
            <a:graphicFrameLocks noGrp="1"/>
          </p:cNvGraphicFramePr>
          <p:nvPr>
            <p:extLst/>
          </p:nvPr>
        </p:nvGraphicFramePr>
        <p:xfrm>
          <a:off x="457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4752000" y="27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58147"/>
              </p:ext>
            </p:extLst>
          </p:nvPr>
        </p:nvGraphicFramePr>
        <p:xfrm>
          <a:off x="529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112965"/>
              </p:ext>
            </p:extLst>
          </p:nvPr>
        </p:nvGraphicFramePr>
        <p:xfrm>
          <a:off x="529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028180"/>
              </p:ext>
            </p:extLst>
          </p:nvPr>
        </p:nvGraphicFramePr>
        <p:xfrm>
          <a:off x="529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8683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#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ifdef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6F008A"/>
                </a:solidFill>
                <a:ea typeface="細明體" panose="02020509000000000000" pitchFamily="49" charset="-120"/>
              </a:rPr>
              <a:t>_WIN64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__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int64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__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int64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__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int64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intptr_t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#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intptr_t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#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endif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46254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934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流程圖: 程序 15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30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/>
              </a:rPr>
              <a:t>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7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9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6 );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8 );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9755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流程圖: 程序 15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7 );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8 );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019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流程圖: 程序 15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7 );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8 );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6785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流程圖: 程序 15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7 );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8 );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529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流程圖: 程序 15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7 );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8 );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1371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流程圖: 程序 15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7 );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8 );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8416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199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8 );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sp>
        <p:nvSpPr>
          <p:cNvPr id="5" name="流程圖: 程序 4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1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0107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/>
              </a:rPr>
              <a:t>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6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8917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/>
              </a:rPr>
              <a:t>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6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1452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/>
              </a:rPr>
              <a:t>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6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5280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/>
              </a:rPr>
              <a:t>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6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5024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/>
              </a:rPr>
              <a:t>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6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2125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3571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6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9885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9601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2923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1603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2412000" y="54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8" name="流程圖: 程序 17"/>
          <p:cNvSpPr/>
          <p:nvPr/>
        </p:nvSpPr>
        <p:spPr>
          <a:xfrm>
            <a:off x="4032000" y="162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211747" y="180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391747" y="396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1747" y="360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212000" y="19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472000" y="216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37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Line 43"/>
          <p:cNvSpPr>
            <a:spLocks noChangeShapeType="1"/>
          </p:cNvSpPr>
          <p:nvPr/>
        </p:nvSpPr>
        <p:spPr bwMode="auto">
          <a:xfrm flipV="1">
            <a:off x="6552000" y="46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6552000" y="21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16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092000" y="41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7663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4" name="流程圖: 程序 3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6" name="內容版面配置區 15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+ 2, 7 );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+ 3, 3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36086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4" name="流程圖: 程序 3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6" name="內容版面配置區 15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+ 2, 7 );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+ 3, 3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00263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4" name="流程圖: 程序 3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6" name="內容版面配置區 15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+ 2, 7 );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+ 3, 3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/>
          </a:p>
        </p:txBody>
      </p:sp>
      <p:sp>
        <p:nvSpPr>
          <p:cNvPr id="17" name="Line 43"/>
          <p:cNvSpPr>
            <a:spLocks noChangeShapeType="1"/>
          </p:cNvSpPr>
          <p:nvPr/>
        </p:nvSpPr>
        <p:spPr bwMode="auto">
          <a:xfrm flipV="1">
            <a:off x="6552000" y="3608998"/>
            <a:ext cx="540000" cy="54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/>
          </p:nvPr>
        </p:nvGraphicFramePr>
        <p:xfrm>
          <a:off x="7092000" y="30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0375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89000"/>
            <a:ext cx="8640000" cy="6479999"/>
          </a:xfrm>
        </p:spPr>
        <p:txBody>
          <a:bodyPr/>
          <a:lstStyle/>
          <a:p>
            <a:r>
              <a:rPr lang="en-US" altLang="zh-TW" sz="1500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insert(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const_iterator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where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sz="1500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compDequeSize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();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// elements per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block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off =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&gt;( </a:t>
            </a:r>
            <a:r>
              <a:rPr lang="en-US" altLang="zh-TW" sz="1500" dirty="0">
                <a:solidFill>
                  <a:srgbClr val="808080"/>
                </a:solidFill>
                <a:ea typeface="細明體" panose="02020509000000000000" pitchFamily="49" charset="-120"/>
              </a:rPr>
              <a:t>where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- begin() );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 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all elements before where move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forward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off &lt;=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/ 2 )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500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closer to front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myData.myOff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%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0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&amp;&amp;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&lt;= 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doubleMapSize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8000"/>
                </a:solidFill>
                <a:ea typeface="細明體" panose="02020509000000000000" pitchFamily="49" charset="-120"/>
              </a:rPr>
              <a:t>// all elements after (and at) where move backward</a:t>
            </a:r>
            <a:endParaRPr lang="en-US" altLang="zh-TW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5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 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myData.myOff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 %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== 0 &amp;&amp;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&lt;= (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doubleMapSize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endParaRPr lang="zh-TW" altLang="en-US" sz="15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5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sz="15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begin() + </a:t>
            </a:r>
            <a:r>
              <a:rPr lang="en-US" altLang="zh-TW" sz="1500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static_cast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difference_type</a:t>
            </a:r>
            <a:r>
              <a:rPr lang="en-US" altLang="zh-TW" sz="15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&gt;( off );</a:t>
            </a:r>
          </a:p>
          <a:p>
            <a:r>
              <a:rPr lang="en-US" altLang="zh-TW" sz="15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573867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7025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4" name="流程圖: 程序 3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內容版面配置區 14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+ 2, 7 );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+ 4, 3 );</a:t>
            </a:r>
          </a:p>
        </p:txBody>
      </p:sp>
    </p:spTree>
    <p:extLst>
      <p:ext uri="{BB962C8B-B14F-4D97-AF65-F5344CB8AC3E}">
        <p14:creationId xmlns:p14="http://schemas.microsoft.com/office/powerpoint/2010/main" val="40835209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sp>
        <p:nvSpPr>
          <p:cNvPr id="15" name="內容版面配置區 14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+ 2, 7 );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+ 4, 3 );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7" name="流程圖: 程序 16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1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3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7966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sp>
        <p:nvSpPr>
          <p:cNvPr id="15" name="內容版面配置區 14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+ 2, 7 );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+ 4, 3 );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7" name="流程圖: 程序 16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1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3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0148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5889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4" name="流程圖: 程序 3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內容版面配置區 14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2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617025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4" name="流程圖: 程序 3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內容版面配置區 14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2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290449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2000" y="4509000"/>
            <a:ext cx="5040000" cy="1800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412000" y="36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4" name="流程圖: 程序 3"/>
          <p:cNvSpPr/>
          <p:nvPr/>
        </p:nvSpPr>
        <p:spPr>
          <a:xfrm>
            <a:off x="4032000" y="144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4211747" y="162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391747" y="378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1747" y="342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/>
          </p:nvPr>
        </p:nvGraphicFramePr>
        <p:xfrm>
          <a:off x="4212000" y="18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5472000" y="198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" name="Group 5"/>
          <p:cNvGraphicFramePr>
            <a:graphicFrameLocks noGrp="1"/>
          </p:cNvGraphicFramePr>
          <p:nvPr>
            <p:extLst/>
          </p:nvPr>
        </p:nvGraphicFramePr>
        <p:xfrm>
          <a:off x="6372000" y="18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6552000" y="45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6552000" y="19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092000" y="14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7092000" y="39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5" name="內容版面配置區 14"/>
          <p:cNvSpPr>
            <a:spLocks noGrp="1"/>
          </p:cNvSpPr>
          <p:nvPr>
            <p:ph idx="1"/>
          </p:nvPr>
        </p:nvSpPr>
        <p:spPr>
          <a:xfrm>
            <a:off x="972000" y="4689000"/>
            <a:ext cx="5040000" cy="1800000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8 );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4 );</a:t>
            </a:r>
            <a:endParaRPr lang="en-US" altLang="zh-TW" dirty="0">
              <a:solidFill>
                <a:srgbClr val="000000"/>
              </a:solidFill>
              <a:ea typeface="細明體"/>
            </a:endParaRP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6 );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5 );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2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044951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369000"/>
            <a:ext cx="8281059" cy="6119999"/>
          </a:xfrm>
        </p:spPr>
        <p:txBody>
          <a:bodyPr/>
          <a:lstStyle/>
          <a:p>
            <a:r>
              <a:rPr lang="en-US" altLang="zh-TW" dirty="0" smtClean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iterator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erase(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1 &amp;&amp; begin() ==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begin();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compDequeSize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off =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where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- begin()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all elements before where move backward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off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2 )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closer to front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all elements after where move forward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--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begin() +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difference_type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&gt;( off );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8169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2193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圖: 程序 9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1" name="流程圖: 程序 1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0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4498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nn-NO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2;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 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0" name="流程圖: 程序 9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1" name="流程圖: 程序 1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4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3344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4" name="流程圖: 程序 13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9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494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4" name="流程圖: 程序 13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9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78384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6" name="流程圖: 程序 15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9701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2322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流程圖: 程序 21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1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3167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流程圖: 程序 21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1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3089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673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727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71561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34787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22" name="流程圖: 程序 21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2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65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3952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流程圖: 程序 23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2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0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65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673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727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71561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34787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1172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4702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流程圖: 程序 21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8" name="流程圖: 程序 37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1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3732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673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727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71561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34787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22" name="流程圖: 程序 21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2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565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46071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12;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13; i &lt;= 28;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29 );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673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727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71561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34787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/>
          </p:nvPr>
        </p:nvGraphicFramePr>
        <p:xfrm>
          <a:off x="727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 flipV="1">
            <a:off x="565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2321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940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</a:t>
            </a:r>
            <a:r>
              <a:rPr lang="nn-NO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13;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</a:t>
            </a:r>
            <a:r>
              <a:rPr lang="nn-NO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14;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 &lt;= </a:t>
            </a:r>
            <a:r>
              <a:rPr lang="nn-NO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29; 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30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0" name="流程圖: 程序 9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1" name="流程圖: 程序 1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7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9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3795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2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流程圖: 程序 12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4" name="流程圖: 程序 13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8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489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14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7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流程圖: 程序 28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5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98695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9788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5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01295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5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22343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流程圖: 程序 4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4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8853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流程圖: 程序 4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4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03268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673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727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71561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34787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/>
          </p:nvPr>
        </p:nvGraphicFramePr>
        <p:xfrm>
          <a:off x="727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65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79920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30 );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2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673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727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71561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34787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/>
          </p:nvPr>
        </p:nvGraphicFramePr>
        <p:xfrm>
          <a:off x="727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3" name="流程圖: 程序 42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4" name="流程圖: 程序 43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7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Line 43"/>
          <p:cNvSpPr>
            <a:spLocks noChangeShapeType="1"/>
          </p:cNvSpPr>
          <p:nvPr/>
        </p:nvSpPr>
        <p:spPr bwMode="auto">
          <a:xfrm flipV="1">
            <a:off x="5652000" y="729000"/>
            <a:ext cx="90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1696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14082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30; i &lt;= 33; i++ </a:t>
            </a:r>
            <a:r>
              <a:rPr lang="nn-NO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5974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流程圖: 程序 4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4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06702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30; i &lt;= 33; i++ 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5974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25" name="流程圖: 程序 24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流程圖: 程序 4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4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65429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30; i &lt;= 33; i++ 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5974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25" name="流程圖: 程序 24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流程圖: 程序 4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4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43323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30; i &lt;= 33; i++ 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6732000" y="16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272000" y="14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/>
          </p:nvPr>
        </p:nvGraphicFramePr>
        <p:xfrm>
          <a:off x="6552000" y="198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7272000" y="19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7272000" y="25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6732000" y="21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27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7272000" y="46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3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/>
          </p:nvPr>
        </p:nvGraphicFramePr>
        <p:xfrm>
          <a:off x="7272000" y="41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7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7272000" y="30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 flipV="1">
            <a:off x="6732000" y="324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432000" y="189000"/>
          <a:ext cx="54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29549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03925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5974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0837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spc="100" baseline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lang="zh-TW" altLang="en-US" sz="1800" b="0" dirty="0" smtClean="0">
                          <a:latin typeface="+mn-lt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8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sp>
        <p:nvSpPr>
          <p:cNvPr id="25" name="流程圖: 程序 24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流程圖: 程序 40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4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5652000" y="180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81484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30; i &lt;= 33; i++ 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4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9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5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25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37109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733863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6936436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7272000" y="28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7272000" y="23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7272000" y="18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7272000" y="12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2000" y="50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 flipV="1">
            <a:off x="6732000" y="30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5" name="Line 43"/>
          <p:cNvSpPr>
            <a:spLocks noChangeShapeType="1"/>
          </p:cNvSpPr>
          <p:nvPr/>
        </p:nvSpPr>
        <p:spPr bwMode="auto">
          <a:xfrm flipV="1">
            <a:off x="6732000" y="252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V="1">
            <a:off x="6732000" y="198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6732000" y="144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8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 flipV="1">
            <a:off x="5832000" y="729000"/>
            <a:ext cx="72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522599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細明體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( 1, 1 )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2; i &lt;= 13;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14; i &lt;= 29;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deque1.begin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</a:p>
          <a:p>
            <a:pPr lvl="0"/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30; i &lt;= 33; i++ 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deque1.end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(), i 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/>
          </p:nvPr>
        </p:nvGraphicFramePr>
        <p:xfrm>
          <a:off x="655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 flipV="1">
            <a:off x="6732000" y="30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6732000" y="252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 flipV="1">
            <a:off x="6732000" y="198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6732000" y="144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673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7272000" y="34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272000" y="39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7272000" y="45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6732000" y="396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732000" y="432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252000" y="1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524639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19622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04161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59074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035844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068291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014438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09689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59952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37109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733863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6936436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698423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81318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673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cap="none" spc="10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r>
                        <a:rPr kumimoji="0" lang="zh-TW" alt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⋯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2287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7272000" y="28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7272000" y="23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7272000" y="18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7272000" y="12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2000" y="50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6732000" y="468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7272000" y="55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6732000" y="504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流程圖: 程序 25"/>
          <p:cNvSpPr/>
          <p:nvPr/>
        </p:nvSpPr>
        <p:spPr>
          <a:xfrm>
            <a:off x="4212000" y="12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4391747" y="14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71747" y="36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751747" y="32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3" name="Group 5"/>
          <p:cNvGraphicFramePr>
            <a:graphicFrameLocks noGrp="1"/>
          </p:cNvGraphicFramePr>
          <p:nvPr>
            <p:extLst/>
          </p:nvPr>
        </p:nvGraphicFramePr>
        <p:xfrm>
          <a:off x="4392000" y="16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Line 43"/>
          <p:cNvSpPr>
            <a:spLocks noChangeShapeType="1"/>
          </p:cNvSpPr>
          <p:nvPr/>
        </p:nvSpPr>
        <p:spPr bwMode="auto">
          <a:xfrm flipV="1">
            <a:off x="5832000" y="729000"/>
            <a:ext cx="72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79382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Assignment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93847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&amp;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operator=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&amp;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!=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this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compDequeSize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8;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*= 2;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%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0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&amp;&amp;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* 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- 1 ) &amp;&amp;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* 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- 1 ) ) ||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%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0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&amp;&amp;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%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&gt;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*= 2;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enlargeMap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239597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.myData.mySize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myData.myOff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 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copy data from right to the current object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this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enables x = y = z, for example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9948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enlargeMap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**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* [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myData.map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myData.mapSize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myData.map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newMap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95021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47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752000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3" name="Group 5"/>
          <p:cNvGraphicFramePr>
            <a:graphicFrameLocks noGrp="1"/>
          </p:cNvGraphicFramePr>
          <p:nvPr>
            <p:extLst/>
          </p:nvPr>
        </p:nvGraphicFramePr>
        <p:xfrm>
          <a:off x="47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Line 43"/>
          <p:cNvSpPr>
            <a:spLocks noChangeShapeType="1"/>
          </p:cNvSpPr>
          <p:nvPr/>
        </p:nvSpPr>
        <p:spPr bwMode="auto">
          <a:xfrm flipV="1">
            <a:off x="60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47326" y="432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252000" y="252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graphicFrame>
        <p:nvGraphicFramePr>
          <p:cNvPr id="50" name="Group 5"/>
          <p:cNvGraphicFramePr>
            <a:graphicFrameLocks noGrp="1"/>
          </p:cNvGraphicFramePr>
          <p:nvPr>
            <p:extLst/>
          </p:nvPr>
        </p:nvGraphicFramePr>
        <p:xfrm>
          <a:off x="252253" y="270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1512000" y="288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8" name="Group 5"/>
          <p:cNvGraphicFramePr>
            <a:graphicFrameLocks noGrp="1"/>
          </p:cNvGraphicFramePr>
          <p:nvPr>
            <p:extLst/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9" name="Line 43"/>
          <p:cNvSpPr>
            <a:spLocks noChangeShapeType="1"/>
          </p:cNvSpPr>
          <p:nvPr/>
        </p:nvSpPr>
        <p:spPr bwMode="auto">
          <a:xfrm>
            <a:off x="6912000" y="252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0" name="表格 79"/>
          <p:cNvGraphicFramePr>
            <a:graphicFrameLocks noGrp="1"/>
          </p:cNvGraphicFramePr>
          <p:nvPr>
            <p:extLst/>
          </p:nvPr>
        </p:nvGraphicFramePr>
        <p:xfrm>
          <a:off x="74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>
            <p:extLst/>
          </p:nvPr>
        </p:nvGraphicFramePr>
        <p:xfrm>
          <a:off x="74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2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3" name="表格 82"/>
          <p:cNvGraphicFramePr>
            <a:graphicFrameLocks noGrp="1"/>
          </p:cNvGraphicFramePr>
          <p:nvPr>
            <p:extLst/>
          </p:nvPr>
        </p:nvGraphicFramePr>
        <p:xfrm>
          <a:off x="74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4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5" name="表格 84"/>
          <p:cNvGraphicFramePr>
            <a:graphicFrameLocks noGrp="1"/>
          </p:cNvGraphicFramePr>
          <p:nvPr>
            <p:extLst/>
          </p:nvPr>
        </p:nvGraphicFramePr>
        <p:xfrm>
          <a:off x="74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6" name="Line 43"/>
          <p:cNvSpPr>
            <a:spLocks noChangeShapeType="1"/>
          </p:cNvSpPr>
          <p:nvPr/>
        </p:nvSpPr>
        <p:spPr bwMode="auto">
          <a:xfrm>
            <a:off x="6912000" y="3249000"/>
            <a:ext cx="540000" cy="12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7" name="表格 86"/>
          <p:cNvGraphicFramePr>
            <a:graphicFrameLocks noGrp="1"/>
          </p:cNvGraphicFramePr>
          <p:nvPr>
            <p:extLst/>
          </p:nvPr>
        </p:nvGraphicFramePr>
        <p:xfrm>
          <a:off x="74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8" name="Line 43"/>
          <p:cNvSpPr>
            <a:spLocks noChangeShapeType="1"/>
          </p:cNvSpPr>
          <p:nvPr/>
        </p:nvSpPr>
        <p:spPr bwMode="auto">
          <a:xfrm>
            <a:off x="6912000" y="288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9" name="Line 43"/>
          <p:cNvSpPr>
            <a:spLocks noChangeShapeType="1"/>
          </p:cNvSpPr>
          <p:nvPr/>
        </p:nvSpPr>
        <p:spPr bwMode="auto">
          <a:xfrm>
            <a:off x="6912000" y="14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>
            <p:extLst/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>
            <p:extLst/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/>
          </p:nvPr>
        </p:nvGraphicFramePr>
        <p:xfrm>
          <a:off x="74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93" name="Line 43"/>
          <p:cNvSpPr>
            <a:spLocks noChangeShapeType="1"/>
          </p:cNvSpPr>
          <p:nvPr/>
        </p:nvSpPr>
        <p:spPr bwMode="auto">
          <a:xfrm>
            <a:off x="6912000" y="18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4" name="Line 43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 flipV="1">
            <a:off x="241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96" name="表格 95"/>
          <p:cNvGraphicFramePr>
            <a:graphicFrameLocks noGrp="1"/>
          </p:cNvGraphicFramePr>
          <p:nvPr>
            <p:extLst/>
          </p:nvPr>
        </p:nvGraphicFramePr>
        <p:xfrm>
          <a:off x="29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7" name="Group 5"/>
          <p:cNvGraphicFramePr>
            <a:graphicFrameLocks noGrp="1"/>
          </p:cNvGraphicFramePr>
          <p:nvPr>
            <p:extLst/>
          </p:nvPr>
        </p:nvGraphicFramePr>
        <p:xfrm>
          <a:off x="223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8" name="表格 97"/>
          <p:cNvGraphicFramePr>
            <a:graphicFrameLocks noGrp="1"/>
          </p:cNvGraphicFramePr>
          <p:nvPr>
            <p:extLst/>
          </p:nvPr>
        </p:nvGraphicFramePr>
        <p:xfrm>
          <a:off x="29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9" name="表格 98"/>
          <p:cNvGraphicFramePr>
            <a:graphicFrameLocks noGrp="1"/>
          </p:cNvGraphicFramePr>
          <p:nvPr>
            <p:extLst/>
          </p:nvPr>
        </p:nvGraphicFramePr>
        <p:xfrm>
          <a:off x="29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0" name="Line 43"/>
          <p:cNvSpPr>
            <a:spLocks noChangeShapeType="1"/>
          </p:cNvSpPr>
          <p:nvPr/>
        </p:nvSpPr>
        <p:spPr bwMode="auto">
          <a:xfrm flipV="1">
            <a:off x="241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1" name="Line 43"/>
          <p:cNvSpPr>
            <a:spLocks noChangeShapeType="1"/>
          </p:cNvSpPr>
          <p:nvPr/>
        </p:nvSpPr>
        <p:spPr bwMode="auto">
          <a:xfrm flipV="1">
            <a:off x="241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2" name="表格 101"/>
          <p:cNvGraphicFramePr>
            <a:graphicFrameLocks noGrp="1"/>
          </p:cNvGraphicFramePr>
          <p:nvPr>
            <p:extLst/>
          </p:nvPr>
        </p:nvGraphicFramePr>
        <p:xfrm>
          <a:off x="2952000" y="59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3" name="Line 43"/>
          <p:cNvSpPr>
            <a:spLocks noChangeShapeType="1"/>
          </p:cNvSpPr>
          <p:nvPr/>
        </p:nvSpPr>
        <p:spPr bwMode="auto">
          <a:xfrm>
            <a:off x="241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4" name="表格 103"/>
          <p:cNvGraphicFramePr>
            <a:graphicFrameLocks noGrp="1"/>
          </p:cNvGraphicFramePr>
          <p:nvPr>
            <p:extLst/>
          </p:nvPr>
        </p:nvGraphicFramePr>
        <p:xfrm>
          <a:off x="295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5" name="Line 43"/>
          <p:cNvSpPr>
            <a:spLocks noChangeShapeType="1"/>
          </p:cNvSpPr>
          <p:nvPr/>
        </p:nvSpPr>
        <p:spPr bwMode="auto">
          <a:xfrm>
            <a:off x="241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6" name="表格 105"/>
          <p:cNvGraphicFramePr>
            <a:graphicFrameLocks noGrp="1"/>
          </p:cNvGraphicFramePr>
          <p:nvPr>
            <p:extLst/>
          </p:nvPr>
        </p:nvGraphicFramePr>
        <p:xfrm>
          <a:off x="295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7" name="Line 43"/>
          <p:cNvSpPr>
            <a:spLocks noChangeShapeType="1"/>
          </p:cNvSpPr>
          <p:nvPr/>
        </p:nvSpPr>
        <p:spPr bwMode="auto">
          <a:xfrm>
            <a:off x="241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8" name="表格 107"/>
          <p:cNvGraphicFramePr>
            <a:graphicFrameLocks noGrp="1"/>
          </p:cNvGraphicFramePr>
          <p:nvPr>
            <p:extLst/>
          </p:nvPr>
        </p:nvGraphicFramePr>
        <p:xfrm>
          <a:off x="29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9" name="Line 43"/>
          <p:cNvSpPr>
            <a:spLocks noChangeShapeType="1"/>
          </p:cNvSpPr>
          <p:nvPr/>
        </p:nvSpPr>
        <p:spPr bwMode="auto">
          <a:xfrm>
            <a:off x="241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0" name="表格 109"/>
          <p:cNvGraphicFramePr>
            <a:graphicFrameLocks noGrp="1"/>
          </p:cNvGraphicFramePr>
          <p:nvPr>
            <p:extLst/>
          </p:nvPr>
        </p:nvGraphicFramePr>
        <p:xfrm>
          <a:off x="29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11" name="Line 43"/>
          <p:cNvSpPr>
            <a:spLocks noChangeShapeType="1"/>
          </p:cNvSpPr>
          <p:nvPr/>
        </p:nvSpPr>
        <p:spPr bwMode="auto">
          <a:xfrm flipV="1">
            <a:off x="241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19270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47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752000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3" name="Group 5"/>
          <p:cNvGraphicFramePr>
            <a:graphicFrameLocks noGrp="1"/>
          </p:cNvGraphicFramePr>
          <p:nvPr>
            <p:extLst/>
          </p:nvPr>
        </p:nvGraphicFramePr>
        <p:xfrm>
          <a:off x="47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Line 43"/>
          <p:cNvSpPr>
            <a:spLocks noChangeShapeType="1"/>
          </p:cNvSpPr>
          <p:nvPr/>
        </p:nvSpPr>
        <p:spPr bwMode="auto">
          <a:xfrm flipV="1">
            <a:off x="60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47326" y="432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252000" y="252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graphicFrame>
        <p:nvGraphicFramePr>
          <p:cNvPr id="50" name="Group 5"/>
          <p:cNvGraphicFramePr>
            <a:graphicFrameLocks noGrp="1"/>
          </p:cNvGraphicFramePr>
          <p:nvPr>
            <p:extLst/>
          </p:nvPr>
        </p:nvGraphicFramePr>
        <p:xfrm>
          <a:off x="252253" y="270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1512000" y="288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8" name="Group 5"/>
          <p:cNvGraphicFramePr>
            <a:graphicFrameLocks noGrp="1"/>
          </p:cNvGraphicFramePr>
          <p:nvPr>
            <p:extLst/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9" name="Line 43"/>
          <p:cNvSpPr>
            <a:spLocks noChangeShapeType="1"/>
          </p:cNvSpPr>
          <p:nvPr/>
        </p:nvSpPr>
        <p:spPr bwMode="auto">
          <a:xfrm>
            <a:off x="6912000" y="252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0" name="表格 79"/>
          <p:cNvGraphicFramePr>
            <a:graphicFrameLocks noGrp="1"/>
          </p:cNvGraphicFramePr>
          <p:nvPr>
            <p:extLst/>
          </p:nvPr>
        </p:nvGraphicFramePr>
        <p:xfrm>
          <a:off x="74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>
            <p:extLst/>
          </p:nvPr>
        </p:nvGraphicFramePr>
        <p:xfrm>
          <a:off x="74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2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3" name="表格 82"/>
          <p:cNvGraphicFramePr>
            <a:graphicFrameLocks noGrp="1"/>
          </p:cNvGraphicFramePr>
          <p:nvPr>
            <p:extLst/>
          </p:nvPr>
        </p:nvGraphicFramePr>
        <p:xfrm>
          <a:off x="74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4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5" name="表格 84"/>
          <p:cNvGraphicFramePr>
            <a:graphicFrameLocks noGrp="1"/>
          </p:cNvGraphicFramePr>
          <p:nvPr>
            <p:extLst/>
          </p:nvPr>
        </p:nvGraphicFramePr>
        <p:xfrm>
          <a:off x="74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6" name="Line 43"/>
          <p:cNvSpPr>
            <a:spLocks noChangeShapeType="1"/>
          </p:cNvSpPr>
          <p:nvPr/>
        </p:nvSpPr>
        <p:spPr bwMode="auto">
          <a:xfrm>
            <a:off x="6912000" y="3249000"/>
            <a:ext cx="540000" cy="12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7" name="表格 86"/>
          <p:cNvGraphicFramePr>
            <a:graphicFrameLocks noGrp="1"/>
          </p:cNvGraphicFramePr>
          <p:nvPr>
            <p:extLst/>
          </p:nvPr>
        </p:nvGraphicFramePr>
        <p:xfrm>
          <a:off x="74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8" name="Line 43"/>
          <p:cNvSpPr>
            <a:spLocks noChangeShapeType="1"/>
          </p:cNvSpPr>
          <p:nvPr/>
        </p:nvSpPr>
        <p:spPr bwMode="auto">
          <a:xfrm>
            <a:off x="6912000" y="288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9" name="Line 43"/>
          <p:cNvSpPr>
            <a:spLocks noChangeShapeType="1"/>
          </p:cNvSpPr>
          <p:nvPr/>
        </p:nvSpPr>
        <p:spPr bwMode="auto">
          <a:xfrm>
            <a:off x="6912000" y="14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>
            <p:extLst/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>
            <p:extLst/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/>
          </p:nvPr>
        </p:nvGraphicFramePr>
        <p:xfrm>
          <a:off x="74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93" name="Line 43"/>
          <p:cNvSpPr>
            <a:spLocks noChangeShapeType="1"/>
          </p:cNvSpPr>
          <p:nvPr/>
        </p:nvSpPr>
        <p:spPr bwMode="auto">
          <a:xfrm>
            <a:off x="6912000" y="18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4" name="Line 43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 flipV="1">
            <a:off x="241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97" name="Group 5"/>
          <p:cNvGraphicFramePr>
            <a:graphicFrameLocks noGrp="1"/>
          </p:cNvGraphicFramePr>
          <p:nvPr>
            <p:extLst/>
          </p:nvPr>
        </p:nvGraphicFramePr>
        <p:xfrm>
          <a:off x="223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0" name="Line 43"/>
          <p:cNvSpPr>
            <a:spLocks noChangeShapeType="1"/>
          </p:cNvSpPr>
          <p:nvPr/>
        </p:nvSpPr>
        <p:spPr bwMode="auto">
          <a:xfrm flipV="1">
            <a:off x="241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1" name="Line 43"/>
          <p:cNvSpPr>
            <a:spLocks noChangeShapeType="1"/>
          </p:cNvSpPr>
          <p:nvPr/>
        </p:nvSpPr>
        <p:spPr bwMode="auto">
          <a:xfrm flipV="1">
            <a:off x="241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3" name="Line 43"/>
          <p:cNvSpPr>
            <a:spLocks noChangeShapeType="1"/>
          </p:cNvSpPr>
          <p:nvPr/>
        </p:nvSpPr>
        <p:spPr bwMode="auto">
          <a:xfrm>
            <a:off x="241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5" name="Line 43"/>
          <p:cNvSpPr>
            <a:spLocks noChangeShapeType="1"/>
          </p:cNvSpPr>
          <p:nvPr/>
        </p:nvSpPr>
        <p:spPr bwMode="auto">
          <a:xfrm>
            <a:off x="241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7" name="Line 43"/>
          <p:cNvSpPr>
            <a:spLocks noChangeShapeType="1"/>
          </p:cNvSpPr>
          <p:nvPr/>
        </p:nvSpPr>
        <p:spPr bwMode="auto">
          <a:xfrm>
            <a:off x="241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9" name="Line 43"/>
          <p:cNvSpPr>
            <a:spLocks noChangeShapeType="1"/>
          </p:cNvSpPr>
          <p:nvPr/>
        </p:nvSpPr>
        <p:spPr bwMode="auto">
          <a:xfrm>
            <a:off x="241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11" name="Line 43"/>
          <p:cNvSpPr>
            <a:spLocks noChangeShapeType="1"/>
          </p:cNvSpPr>
          <p:nvPr/>
        </p:nvSpPr>
        <p:spPr bwMode="auto">
          <a:xfrm flipV="1">
            <a:off x="241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9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/>
          </p:nvPr>
        </p:nvGraphicFramePr>
        <p:xfrm>
          <a:off x="29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29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2952000" y="59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295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29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29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/>
          </p:nvPr>
        </p:nvGraphicFramePr>
        <p:xfrm>
          <a:off x="295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23955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7460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47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752000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3" name="Group 5"/>
          <p:cNvGraphicFramePr>
            <a:graphicFrameLocks noGrp="1"/>
          </p:cNvGraphicFramePr>
          <p:nvPr>
            <p:extLst/>
          </p:nvPr>
        </p:nvGraphicFramePr>
        <p:xfrm>
          <a:off x="47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Line 43"/>
          <p:cNvSpPr>
            <a:spLocks noChangeShapeType="1"/>
          </p:cNvSpPr>
          <p:nvPr/>
        </p:nvSpPr>
        <p:spPr bwMode="auto">
          <a:xfrm flipV="1">
            <a:off x="60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47326" y="432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252000" y="252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graphicFrame>
        <p:nvGraphicFramePr>
          <p:cNvPr id="50" name="Group 5"/>
          <p:cNvGraphicFramePr>
            <a:graphicFrameLocks noGrp="1"/>
          </p:cNvGraphicFramePr>
          <p:nvPr>
            <p:extLst/>
          </p:nvPr>
        </p:nvGraphicFramePr>
        <p:xfrm>
          <a:off x="252253" y="270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1512000" y="288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8" name="Group 5"/>
          <p:cNvGraphicFramePr>
            <a:graphicFrameLocks noGrp="1"/>
          </p:cNvGraphicFramePr>
          <p:nvPr>
            <p:extLst/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9" name="Line 43"/>
          <p:cNvSpPr>
            <a:spLocks noChangeShapeType="1"/>
          </p:cNvSpPr>
          <p:nvPr/>
        </p:nvSpPr>
        <p:spPr bwMode="auto">
          <a:xfrm>
            <a:off x="6912000" y="252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0" name="表格 79"/>
          <p:cNvGraphicFramePr>
            <a:graphicFrameLocks noGrp="1"/>
          </p:cNvGraphicFramePr>
          <p:nvPr>
            <p:extLst/>
          </p:nvPr>
        </p:nvGraphicFramePr>
        <p:xfrm>
          <a:off x="74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>
            <p:extLst/>
          </p:nvPr>
        </p:nvGraphicFramePr>
        <p:xfrm>
          <a:off x="74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2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3" name="表格 82"/>
          <p:cNvGraphicFramePr>
            <a:graphicFrameLocks noGrp="1"/>
          </p:cNvGraphicFramePr>
          <p:nvPr>
            <p:extLst/>
          </p:nvPr>
        </p:nvGraphicFramePr>
        <p:xfrm>
          <a:off x="74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4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5" name="表格 84"/>
          <p:cNvGraphicFramePr>
            <a:graphicFrameLocks noGrp="1"/>
          </p:cNvGraphicFramePr>
          <p:nvPr>
            <p:extLst/>
          </p:nvPr>
        </p:nvGraphicFramePr>
        <p:xfrm>
          <a:off x="74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6" name="Line 43"/>
          <p:cNvSpPr>
            <a:spLocks noChangeShapeType="1"/>
          </p:cNvSpPr>
          <p:nvPr/>
        </p:nvSpPr>
        <p:spPr bwMode="auto">
          <a:xfrm>
            <a:off x="6912000" y="3249000"/>
            <a:ext cx="540000" cy="12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7" name="表格 86"/>
          <p:cNvGraphicFramePr>
            <a:graphicFrameLocks noGrp="1"/>
          </p:cNvGraphicFramePr>
          <p:nvPr>
            <p:extLst/>
          </p:nvPr>
        </p:nvGraphicFramePr>
        <p:xfrm>
          <a:off x="74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88" name="Line 43"/>
          <p:cNvSpPr>
            <a:spLocks noChangeShapeType="1"/>
          </p:cNvSpPr>
          <p:nvPr/>
        </p:nvSpPr>
        <p:spPr bwMode="auto">
          <a:xfrm>
            <a:off x="6912000" y="288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9" name="Line 43"/>
          <p:cNvSpPr>
            <a:spLocks noChangeShapeType="1"/>
          </p:cNvSpPr>
          <p:nvPr/>
        </p:nvSpPr>
        <p:spPr bwMode="auto">
          <a:xfrm>
            <a:off x="6912000" y="14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>
            <p:extLst/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>
            <p:extLst/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/>
          </p:nvPr>
        </p:nvGraphicFramePr>
        <p:xfrm>
          <a:off x="74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93" name="Line 43"/>
          <p:cNvSpPr>
            <a:spLocks noChangeShapeType="1"/>
          </p:cNvSpPr>
          <p:nvPr/>
        </p:nvSpPr>
        <p:spPr bwMode="auto">
          <a:xfrm>
            <a:off x="6912000" y="18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4" name="Line 43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 flipV="1">
            <a:off x="241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96" name="表格 95"/>
          <p:cNvGraphicFramePr>
            <a:graphicFrameLocks noGrp="1"/>
          </p:cNvGraphicFramePr>
          <p:nvPr>
            <p:extLst/>
          </p:nvPr>
        </p:nvGraphicFramePr>
        <p:xfrm>
          <a:off x="29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7" name="Group 5"/>
          <p:cNvGraphicFramePr>
            <a:graphicFrameLocks noGrp="1"/>
          </p:cNvGraphicFramePr>
          <p:nvPr>
            <p:extLst/>
          </p:nvPr>
        </p:nvGraphicFramePr>
        <p:xfrm>
          <a:off x="223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8" name="表格 97"/>
          <p:cNvGraphicFramePr>
            <a:graphicFrameLocks noGrp="1"/>
          </p:cNvGraphicFramePr>
          <p:nvPr>
            <p:extLst/>
          </p:nvPr>
        </p:nvGraphicFramePr>
        <p:xfrm>
          <a:off x="29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9" name="表格 98"/>
          <p:cNvGraphicFramePr>
            <a:graphicFrameLocks noGrp="1"/>
          </p:cNvGraphicFramePr>
          <p:nvPr>
            <p:extLst/>
          </p:nvPr>
        </p:nvGraphicFramePr>
        <p:xfrm>
          <a:off x="29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0" name="Line 43"/>
          <p:cNvSpPr>
            <a:spLocks noChangeShapeType="1"/>
          </p:cNvSpPr>
          <p:nvPr/>
        </p:nvSpPr>
        <p:spPr bwMode="auto">
          <a:xfrm flipV="1">
            <a:off x="241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1" name="Line 43"/>
          <p:cNvSpPr>
            <a:spLocks noChangeShapeType="1"/>
          </p:cNvSpPr>
          <p:nvPr/>
        </p:nvSpPr>
        <p:spPr bwMode="auto">
          <a:xfrm flipV="1">
            <a:off x="241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2" name="表格 101"/>
          <p:cNvGraphicFramePr>
            <a:graphicFrameLocks noGrp="1"/>
          </p:cNvGraphicFramePr>
          <p:nvPr>
            <p:extLst/>
          </p:nvPr>
        </p:nvGraphicFramePr>
        <p:xfrm>
          <a:off x="2952000" y="59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3" name="Line 43"/>
          <p:cNvSpPr>
            <a:spLocks noChangeShapeType="1"/>
          </p:cNvSpPr>
          <p:nvPr/>
        </p:nvSpPr>
        <p:spPr bwMode="auto">
          <a:xfrm>
            <a:off x="241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4" name="表格 103"/>
          <p:cNvGraphicFramePr>
            <a:graphicFrameLocks noGrp="1"/>
          </p:cNvGraphicFramePr>
          <p:nvPr>
            <p:extLst/>
          </p:nvPr>
        </p:nvGraphicFramePr>
        <p:xfrm>
          <a:off x="295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5" name="Line 43"/>
          <p:cNvSpPr>
            <a:spLocks noChangeShapeType="1"/>
          </p:cNvSpPr>
          <p:nvPr/>
        </p:nvSpPr>
        <p:spPr bwMode="auto">
          <a:xfrm>
            <a:off x="241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6" name="表格 105"/>
          <p:cNvGraphicFramePr>
            <a:graphicFrameLocks noGrp="1"/>
          </p:cNvGraphicFramePr>
          <p:nvPr>
            <p:extLst/>
          </p:nvPr>
        </p:nvGraphicFramePr>
        <p:xfrm>
          <a:off x="295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7" name="Line 43"/>
          <p:cNvSpPr>
            <a:spLocks noChangeShapeType="1"/>
          </p:cNvSpPr>
          <p:nvPr/>
        </p:nvSpPr>
        <p:spPr bwMode="auto">
          <a:xfrm>
            <a:off x="241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08" name="表格 107"/>
          <p:cNvGraphicFramePr>
            <a:graphicFrameLocks noGrp="1"/>
          </p:cNvGraphicFramePr>
          <p:nvPr>
            <p:extLst/>
          </p:nvPr>
        </p:nvGraphicFramePr>
        <p:xfrm>
          <a:off x="29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09" name="Line 43"/>
          <p:cNvSpPr>
            <a:spLocks noChangeShapeType="1"/>
          </p:cNvSpPr>
          <p:nvPr/>
        </p:nvSpPr>
        <p:spPr bwMode="auto">
          <a:xfrm>
            <a:off x="241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0" name="表格 109"/>
          <p:cNvGraphicFramePr>
            <a:graphicFrameLocks noGrp="1"/>
          </p:cNvGraphicFramePr>
          <p:nvPr>
            <p:extLst/>
          </p:nvPr>
        </p:nvGraphicFramePr>
        <p:xfrm>
          <a:off x="29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11" name="Line 43"/>
          <p:cNvSpPr>
            <a:spLocks noChangeShapeType="1"/>
          </p:cNvSpPr>
          <p:nvPr/>
        </p:nvSpPr>
        <p:spPr bwMode="auto">
          <a:xfrm flipV="1">
            <a:off x="241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33317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47326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2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graphicFrame>
        <p:nvGraphicFramePr>
          <p:cNvPr id="50" name="Group 5"/>
          <p:cNvGraphicFramePr>
            <a:graphicFrameLocks noGrp="1"/>
          </p:cNvGraphicFramePr>
          <p:nvPr>
            <p:extLst/>
          </p:nvPr>
        </p:nvGraphicFramePr>
        <p:xfrm>
          <a:off x="2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15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/>
          </p:nvPr>
        </p:nvGraphicFramePr>
        <p:xfrm>
          <a:off x="22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 flipV="1">
            <a:off x="2412000" y="12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>
            <a:off x="241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 flipV="1">
            <a:off x="241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241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V="1">
            <a:off x="241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241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241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5" name="Line 43"/>
          <p:cNvSpPr>
            <a:spLocks noChangeShapeType="1"/>
          </p:cNvSpPr>
          <p:nvPr/>
        </p:nvSpPr>
        <p:spPr bwMode="auto">
          <a:xfrm>
            <a:off x="241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6" name="流程圖: 程序 55"/>
          <p:cNvSpPr/>
          <p:nvPr/>
        </p:nvSpPr>
        <p:spPr>
          <a:xfrm>
            <a:off x="47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752000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8" name="Group 5"/>
          <p:cNvGraphicFramePr>
            <a:graphicFrameLocks noGrp="1"/>
          </p:cNvGraphicFramePr>
          <p:nvPr>
            <p:extLst/>
          </p:nvPr>
        </p:nvGraphicFramePr>
        <p:xfrm>
          <a:off x="47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Line 43"/>
          <p:cNvSpPr>
            <a:spLocks noChangeShapeType="1"/>
          </p:cNvSpPr>
          <p:nvPr/>
        </p:nvSpPr>
        <p:spPr bwMode="auto">
          <a:xfrm flipV="1">
            <a:off x="60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0" name="Group 5"/>
          <p:cNvGraphicFramePr>
            <a:graphicFrameLocks noGrp="1"/>
          </p:cNvGraphicFramePr>
          <p:nvPr>
            <p:extLst/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" name="Line 43"/>
          <p:cNvSpPr>
            <a:spLocks noChangeShapeType="1"/>
          </p:cNvSpPr>
          <p:nvPr/>
        </p:nvSpPr>
        <p:spPr bwMode="auto">
          <a:xfrm>
            <a:off x="6912000" y="252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74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/>
          </p:nvPr>
        </p:nvGraphicFramePr>
        <p:xfrm>
          <a:off x="74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4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5" name="表格 64"/>
          <p:cNvGraphicFramePr>
            <a:graphicFrameLocks noGrp="1"/>
          </p:cNvGraphicFramePr>
          <p:nvPr>
            <p:extLst/>
          </p:nvPr>
        </p:nvGraphicFramePr>
        <p:xfrm>
          <a:off x="74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74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6912000" y="3249000"/>
            <a:ext cx="540000" cy="12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/>
          </p:nvPr>
        </p:nvGraphicFramePr>
        <p:xfrm>
          <a:off x="74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6912000" y="288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6912000" y="14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/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/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/>
          </p:nvPr>
        </p:nvGraphicFramePr>
        <p:xfrm>
          <a:off x="74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75" name="Line 43"/>
          <p:cNvSpPr>
            <a:spLocks noChangeShapeType="1"/>
          </p:cNvSpPr>
          <p:nvPr/>
        </p:nvSpPr>
        <p:spPr bwMode="auto">
          <a:xfrm>
            <a:off x="6912000" y="18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6" name="Line 43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8" name="表格 77"/>
          <p:cNvGraphicFramePr>
            <a:graphicFrameLocks noGrp="1"/>
          </p:cNvGraphicFramePr>
          <p:nvPr>
            <p:extLst/>
          </p:nvPr>
        </p:nvGraphicFramePr>
        <p:xfrm>
          <a:off x="29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>
            <p:extLst/>
          </p:nvPr>
        </p:nvGraphicFramePr>
        <p:xfrm>
          <a:off x="29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>
            <a:graphicFrameLocks noGrp="1"/>
          </p:cNvGraphicFramePr>
          <p:nvPr>
            <p:extLst/>
          </p:nvPr>
        </p:nvGraphicFramePr>
        <p:xfrm>
          <a:off x="29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>
            <p:extLst/>
          </p:nvPr>
        </p:nvGraphicFramePr>
        <p:xfrm>
          <a:off x="29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>
            <p:extLst/>
          </p:nvPr>
        </p:nvGraphicFramePr>
        <p:xfrm>
          <a:off x="29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3" name="表格 82"/>
          <p:cNvGraphicFramePr>
            <a:graphicFrameLocks noGrp="1"/>
          </p:cNvGraphicFramePr>
          <p:nvPr>
            <p:extLst/>
          </p:nvPr>
        </p:nvGraphicFramePr>
        <p:xfrm>
          <a:off x="29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>
            <p:extLst/>
          </p:nvPr>
        </p:nvGraphicFramePr>
        <p:xfrm>
          <a:off x="29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/>
          </p:nvPr>
        </p:nvGraphicFramePr>
        <p:xfrm>
          <a:off x="295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54124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47326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2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graphicFrame>
        <p:nvGraphicFramePr>
          <p:cNvPr id="50" name="Group 5"/>
          <p:cNvGraphicFramePr>
            <a:graphicFrameLocks noGrp="1"/>
          </p:cNvGraphicFramePr>
          <p:nvPr>
            <p:extLst/>
          </p:nvPr>
        </p:nvGraphicFramePr>
        <p:xfrm>
          <a:off x="2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15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5" name="Group 5"/>
          <p:cNvGraphicFramePr>
            <a:graphicFrameLocks noGrp="1"/>
          </p:cNvGraphicFramePr>
          <p:nvPr>
            <p:extLst/>
          </p:nvPr>
        </p:nvGraphicFramePr>
        <p:xfrm>
          <a:off x="22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 flipV="1">
            <a:off x="2412000" y="12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>
            <a:off x="241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 flipV="1">
            <a:off x="241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241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V="1">
            <a:off x="241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241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241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5" name="Line 43"/>
          <p:cNvSpPr>
            <a:spLocks noChangeShapeType="1"/>
          </p:cNvSpPr>
          <p:nvPr/>
        </p:nvSpPr>
        <p:spPr bwMode="auto">
          <a:xfrm>
            <a:off x="241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6" name="流程圖: 程序 55"/>
          <p:cNvSpPr/>
          <p:nvPr/>
        </p:nvSpPr>
        <p:spPr>
          <a:xfrm>
            <a:off x="47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752000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8" name="Group 5"/>
          <p:cNvGraphicFramePr>
            <a:graphicFrameLocks noGrp="1"/>
          </p:cNvGraphicFramePr>
          <p:nvPr>
            <p:extLst/>
          </p:nvPr>
        </p:nvGraphicFramePr>
        <p:xfrm>
          <a:off x="47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Line 43"/>
          <p:cNvSpPr>
            <a:spLocks noChangeShapeType="1"/>
          </p:cNvSpPr>
          <p:nvPr/>
        </p:nvSpPr>
        <p:spPr bwMode="auto">
          <a:xfrm flipV="1">
            <a:off x="60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0" name="Group 5"/>
          <p:cNvGraphicFramePr>
            <a:graphicFrameLocks noGrp="1"/>
          </p:cNvGraphicFramePr>
          <p:nvPr>
            <p:extLst/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" name="Line 43"/>
          <p:cNvSpPr>
            <a:spLocks noChangeShapeType="1"/>
          </p:cNvSpPr>
          <p:nvPr/>
        </p:nvSpPr>
        <p:spPr bwMode="auto">
          <a:xfrm>
            <a:off x="6912000" y="252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74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/>
          </p:nvPr>
        </p:nvGraphicFramePr>
        <p:xfrm>
          <a:off x="74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4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5" name="表格 64"/>
          <p:cNvGraphicFramePr>
            <a:graphicFrameLocks noGrp="1"/>
          </p:cNvGraphicFramePr>
          <p:nvPr>
            <p:extLst/>
          </p:nvPr>
        </p:nvGraphicFramePr>
        <p:xfrm>
          <a:off x="74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74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6912000" y="3249000"/>
            <a:ext cx="540000" cy="12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/>
          </p:nvPr>
        </p:nvGraphicFramePr>
        <p:xfrm>
          <a:off x="74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6912000" y="288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6912000" y="14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/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/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/>
          </p:nvPr>
        </p:nvGraphicFramePr>
        <p:xfrm>
          <a:off x="74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75" name="Line 43"/>
          <p:cNvSpPr>
            <a:spLocks noChangeShapeType="1"/>
          </p:cNvSpPr>
          <p:nvPr/>
        </p:nvSpPr>
        <p:spPr bwMode="auto">
          <a:xfrm>
            <a:off x="6912000" y="18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6" name="Line 43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>
            <a:off x="2412000" y="468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8" name="表格 77"/>
          <p:cNvGraphicFramePr>
            <a:graphicFrameLocks noGrp="1"/>
          </p:cNvGraphicFramePr>
          <p:nvPr>
            <p:extLst/>
          </p:nvPr>
        </p:nvGraphicFramePr>
        <p:xfrm>
          <a:off x="29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>
            <p:extLst/>
          </p:nvPr>
        </p:nvGraphicFramePr>
        <p:xfrm>
          <a:off x="29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>
            <a:graphicFrameLocks noGrp="1"/>
          </p:cNvGraphicFramePr>
          <p:nvPr>
            <p:extLst/>
          </p:nvPr>
        </p:nvGraphicFramePr>
        <p:xfrm>
          <a:off x="29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>
            <p:extLst/>
          </p:nvPr>
        </p:nvGraphicFramePr>
        <p:xfrm>
          <a:off x="29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>
            <p:extLst/>
          </p:nvPr>
        </p:nvGraphicFramePr>
        <p:xfrm>
          <a:off x="29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3" name="表格 82"/>
          <p:cNvGraphicFramePr>
            <a:graphicFrameLocks noGrp="1"/>
          </p:cNvGraphicFramePr>
          <p:nvPr>
            <p:extLst/>
          </p:nvPr>
        </p:nvGraphicFramePr>
        <p:xfrm>
          <a:off x="29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>
            <p:extLst/>
          </p:nvPr>
        </p:nvGraphicFramePr>
        <p:xfrm>
          <a:off x="29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/>
          </p:nvPr>
        </p:nvGraphicFramePr>
        <p:xfrm>
          <a:off x="295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7" name="表格 76"/>
          <p:cNvGraphicFramePr>
            <a:graphicFrameLocks noGrp="1"/>
          </p:cNvGraphicFramePr>
          <p:nvPr>
            <p:extLst/>
          </p:nvPr>
        </p:nvGraphicFramePr>
        <p:xfrm>
          <a:off x="295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6276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47326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9" name="流程圖: 程序 48"/>
          <p:cNvSpPr/>
          <p:nvPr/>
        </p:nvSpPr>
        <p:spPr>
          <a:xfrm>
            <a:off x="2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graphicFrame>
        <p:nvGraphicFramePr>
          <p:cNvPr id="50" name="Group 5"/>
          <p:cNvGraphicFramePr>
            <a:graphicFrameLocks noGrp="1"/>
          </p:cNvGraphicFramePr>
          <p:nvPr>
            <p:extLst/>
          </p:nvPr>
        </p:nvGraphicFramePr>
        <p:xfrm>
          <a:off x="2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15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96" name="表格 95"/>
          <p:cNvGraphicFramePr>
            <a:graphicFrameLocks noGrp="1"/>
          </p:cNvGraphicFramePr>
          <p:nvPr>
            <p:extLst/>
          </p:nvPr>
        </p:nvGraphicFramePr>
        <p:xfrm>
          <a:off x="29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8" name="表格 97"/>
          <p:cNvGraphicFramePr>
            <a:graphicFrameLocks noGrp="1"/>
          </p:cNvGraphicFramePr>
          <p:nvPr>
            <p:extLst/>
          </p:nvPr>
        </p:nvGraphicFramePr>
        <p:xfrm>
          <a:off x="29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9" name="表格 98"/>
          <p:cNvGraphicFramePr>
            <a:graphicFrameLocks noGrp="1"/>
          </p:cNvGraphicFramePr>
          <p:nvPr>
            <p:extLst/>
          </p:nvPr>
        </p:nvGraphicFramePr>
        <p:xfrm>
          <a:off x="29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02" name="表格 101"/>
          <p:cNvGraphicFramePr>
            <a:graphicFrameLocks noGrp="1"/>
          </p:cNvGraphicFramePr>
          <p:nvPr>
            <p:extLst/>
          </p:nvPr>
        </p:nvGraphicFramePr>
        <p:xfrm>
          <a:off x="2952000" y="48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04" name="表格 103"/>
          <p:cNvGraphicFramePr>
            <a:graphicFrameLocks noGrp="1"/>
          </p:cNvGraphicFramePr>
          <p:nvPr>
            <p:extLst/>
          </p:nvPr>
        </p:nvGraphicFramePr>
        <p:xfrm>
          <a:off x="29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/>
          </p:nvPr>
        </p:nvGraphicFramePr>
        <p:xfrm>
          <a:off x="29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08" name="表格 107"/>
          <p:cNvGraphicFramePr>
            <a:graphicFrameLocks noGrp="1"/>
          </p:cNvGraphicFramePr>
          <p:nvPr>
            <p:extLst/>
          </p:nvPr>
        </p:nvGraphicFramePr>
        <p:xfrm>
          <a:off x="29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10" name="表格 109"/>
          <p:cNvGraphicFramePr>
            <a:graphicFrameLocks noGrp="1"/>
          </p:cNvGraphicFramePr>
          <p:nvPr>
            <p:extLst/>
          </p:nvPr>
        </p:nvGraphicFramePr>
        <p:xfrm>
          <a:off x="29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5" name="Group 5"/>
          <p:cNvGraphicFramePr>
            <a:graphicFrameLocks noGrp="1"/>
          </p:cNvGraphicFramePr>
          <p:nvPr>
            <p:extLst/>
          </p:nvPr>
        </p:nvGraphicFramePr>
        <p:xfrm>
          <a:off x="22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 flipV="1">
            <a:off x="2412000" y="12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>
            <a:off x="2412000" y="32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 flipV="1">
            <a:off x="2412000" y="28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2412000" y="234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V="1">
            <a:off x="2412000" y="18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2412000" y="360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2412000" y="396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5" name="Line 43"/>
          <p:cNvSpPr>
            <a:spLocks noChangeShapeType="1"/>
          </p:cNvSpPr>
          <p:nvPr/>
        </p:nvSpPr>
        <p:spPr bwMode="auto">
          <a:xfrm>
            <a:off x="2412000" y="432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6" name="流程圖: 程序 55"/>
          <p:cNvSpPr/>
          <p:nvPr/>
        </p:nvSpPr>
        <p:spPr>
          <a:xfrm>
            <a:off x="4752000" y="1449000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752000" y="3249000"/>
            <a:ext cx="1620000" cy="360046"/>
          </a:xfrm>
          <a:prstGeom prst="rect">
            <a:avLst/>
          </a:prstGeom>
          <a:noFill/>
        </p:spPr>
        <p:txBody>
          <a:bodyPr wrap="square" lIns="0" tIns="3600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deque1.myData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8" name="Group 5"/>
          <p:cNvGraphicFramePr>
            <a:graphicFrameLocks noGrp="1"/>
          </p:cNvGraphicFramePr>
          <p:nvPr>
            <p:extLst/>
          </p:nvPr>
        </p:nvGraphicFramePr>
        <p:xfrm>
          <a:off x="4752253" y="1628792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Line 43"/>
          <p:cNvSpPr>
            <a:spLocks noChangeShapeType="1"/>
          </p:cNvSpPr>
          <p:nvPr/>
        </p:nvSpPr>
        <p:spPr bwMode="auto">
          <a:xfrm flipV="1">
            <a:off x="6012000" y="729000"/>
            <a:ext cx="72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0" name="Group 5"/>
          <p:cNvGraphicFramePr>
            <a:graphicFrameLocks noGrp="1"/>
          </p:cNvGraphicFramePr>
          <p:nvPr>
            <p:extLst/>
          </p:nvPr>
        </p:nvGraphicFramePr>
        <p:xfrm>
          <a:off x="6732000" y="549000"/>
          <a:ext cx="360000" cy="57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1031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55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4381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36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050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1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000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848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" name="Line 43"/>
          <p:cNvSpPr>
            <a:spLocks noChangeShapeType="1"/>
          </p:cNvSpPr>
          <p:nvPr/>
        </p:nvSpPr>
        <p:spPr bwMode="auto">
          <a:xfrm>
            <a:off x="6912000" y="252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7452000" y="32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/>
          </p:nvPr>
        </p:nvGraphicFramePr>
        <p:xfrm>
          <a:off x="7452000" y="27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4" name="Line 43"/>
          <p:cNvSpPr>
            <a:spLocks noChangeShapeType="1"/>
          </p:cNvSpPr>
          <p:nvPr/>
        </p:nvSpPr>
        <p:spPr bwMode="auto">
          <a:xfrm>
            <a:off x="6912000" y="108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5" name="表格 64"/>
          <p:cNvGraphicFramePr>
            <a:graphicFrameLocks noGrp="1"/>
          </p:cNvGraphicFramePr>
          <p:nvPr>
            <p:extLst/>
          </p:nvPr>
        </p:nvGraphicFramePr>
        <p:xfrm>
          <a:off x="7452000" y="21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V="1">
            <a:off x="6912000" y="7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7452000" y="43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6912000" y="3249000"/>
            <a:ext cx="540000" cy="12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/>
          </p:nvPr>
        </p:nvGraphicFramePr>
        <p:xfrm>
          <a:off x="7452000" y="37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6912000" y="2889000"/>
            <a:ext cx="540000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6912000" y="144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/>
          </p:nvPr>
        </p:nvGraphicFramePr>
        <p:xfrm>
          <a:off x="7452000" y="54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/>
          </p:nvPr>
        </p:nvGraphicFramePr>
        <p:xfrm>
          <a:off x="7452000" y="108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8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/>
          </p:nvPr>
        </p:nvGraphicFramePr>
        <p:xfrm>
          <a:off x="745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75" name="Line 43"/>
          <p:cNvSpPr>
            <a:spLocks noChangeShapeType="1"/>
          </p:cNvSpPr>
          <p:nvPr/>
        </p:nvSpPr>
        <p:spPr bwMode="auto">
          <a:xfrm>
            <a:off x="6912000" y="180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6" name="Line 43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7" name="表格 76"/>
          <p:cNvGraphicFramePr>
            <a:graphicFrameLocks noGrp="1"/>
          </p:cNvGraphicFramePr>
          <p:nvPr>
            <p:extLst/>
          </p:nvPr>
        </p:nvGraphicFramePr>
        <p:xfrm>
          <a:off x="2952000" y="54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95" name="Line 43"/>
          <p:cNvSpPr>
            <a:spLocks noChangeShapeType="1"/>
          </p:cNvSpPr>
          <p:nvPr/>
        </p:nvSpPr>
        <p:spPr bwMode="auto">
          <a:xfrm>
            <a:off x="2412000" y="4689000"/>
            <a:ext cx="54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83697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Test Copy Constructor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19132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 &gt; 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+ 1;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+ 2;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+ 3;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+ 4;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block &lt;=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block++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i %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][ i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i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deque3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58624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 &gt; 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+ 1;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+ 2;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+ 3;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+ 4;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( 29 )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( 5 )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52000" y="30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212000" y="306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52000" y="36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12000" y="36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52000" y="41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212000" y="41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52000" y="46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212000" y="468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1332000" y="27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1512000" y="28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2000" y="37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76367"/>
              </p:ext>
            </p:extLst>
          </p:nvPr>
        </p:nvGraphicFramePr>
        <p:xfrm>
          <a:off x="1512000" y="30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1872000" y="50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03019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 &gt; 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+ 1;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+ 2;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+ 3;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+ 4;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( 29 )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( 5 )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52000" y="30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212000" y="306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52000" y="36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12000" y="36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52000" y="41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212000" y="41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52000" y="46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212000" y="468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1332000" y="27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1512000" y="28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2000" y="37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76367"/>
              </p:ext>
            </p:extLst>
          </p:nvPr>
        </p:nvGraphicFramePr>
        <p:xfrm>
          <a:off x="1512000" y="30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Line 43"/>
          <p:cNvSpPr>
            <a:spLocks noChangeShapeType="1"/>
          </p:cNvSpPr>
          <p:nvPr/>
        </p:nvSpPr>
        <p:spPr bwMode="auto">
          <a:xfrm flipH="1">
            <a:off x="3132000" y="324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H="1">
            <a:off x="3132000" y="378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flipH="1" flipV="1">
            <a:off x="3132000" y="43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 flipH="1" flipV="1">
            <a:off x="3132000" y="468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872000" y="50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47410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 &gt; 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+ 1;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+ 2;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+ 3;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+ 4;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( 29 )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( 5 )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52000" y="30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212000" y="306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52000" y="36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12000" y="36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52000" y="41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212000" y="41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52000" y="46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212000" y="468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1332000" y="27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1512000" y="28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2000" y="37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953806"/>
              </p:ext>
            </p:extLst>
          </p:nvPr>
        </p:nvGraphicFramePr>
        <p:xfrm>
          <a:off x="1512000" y="30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Line 43"/>
          <p:cNvSpPr>
            <a:spLocks noChangeShapeType="1"/>
          </p:cNvSpPr>
          <p:nvPr/>
        </p:nvSpPr>
        <p:spPr bwMode="auto">
          <a:xfrm flipH="1">
            <a:off x="3132000" y="324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H="1">
            <a:off x="3132000" y="378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flipH="1" flipV="1">
            <a:off x="3132000" y="43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 flipH="1" flipV="1">
            <a:off x="3132000" y="468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872000" y="50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58619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 &gt; 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+ 1;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+ 2;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+ 3;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+ 4;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( 29 )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5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</p:txBody>
      </p:sp>
      <p:sp>
        <p:nvSpPr>
          <p:cNvPr id="27" name="流程圖: 程序 26"/>
          <p:cNvSpPr/>
          <p:nvPr/>
        </p:nvSpPr>
        <p:spPr>
          <a:xfrm>
            <a:off x="1332000" y="27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1512000" y="28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2000" y="37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50971"/>
              </p:ext>
            </p:extLst>
          </p:nvPr>
        </p:nvGraphicFramePr>
        <p:xfrm>
          <a:off x="1512000" y="30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432563"/>
              </p:ext>
            </p:extLst>
          </p:nvPr>
        </p:nvGraphicFramePr>
        <p:xfrm>
          <a:off x="3852000" y="36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952000" y="360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52000" y="30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212000" y="306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3" name="Line 43"/>
          <p:cNvSpPr>
            <a:spLocks noChangeShapeType="1"/>
          </p:cNvSpPr>
          <p:nvPr/>
        </p:nvSpPr>
        <p:spPr bwMode="auto">
          <a:xfrm flipH="1">
            <a:off x="3132000" y="324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872000" y="50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54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369000"/>
            <a:ext cx="8281059" cy="2340361"/>
          </a:xfrm>
        </p:spPr>
        <p:txBody>
          <a:bodyPr/>
          <a:lstStyle/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; block &lt;=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block++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i %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][ i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i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1332000" y="27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1512000" y="28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2000" y="37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977290"/>
              </p:ext>
            </p:extLst>
          </p:nvPr>
        </p:nvGraphicFramePr>
        <p:xfrm>
          <a:off x="1512000" y="30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432563"/>
              </p:ext>
            </p:extLst>
          </p:nvPr>
        </p:nvGraphicFramePr>
        <p:xfrm>
          <a:off x="3852000" y="36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952000" y="360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52000" y="30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212000" y="306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H="1">
            <a:off x="3132000" y="324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872000" y="50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57411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369000"/>
            <a:ext cx="8281059" cy="2340361"/>
          </a:xfrm>
        </p:spPr>
        <p:txBody>
          <a:bodyPr/>
          <a:lstStyle/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; block &lt;=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block++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i %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][ i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i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1332000" y="27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1512000" y="28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2000" y="37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438814"/>
              </p:ext>
            </p:extLst>
          </p:nvPr>
        </p:nvGraphicFramePr>
        <p:xfrm>
          <a:off x="1512000" y="30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299174"/>
              </p:ext>
            </p:extLst>
          </p:nvPr>
        </p:nvGraphicFramePr>
        <p:xfrm>
          <a:off x="3852000" y="36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952000" y="360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4032000" y="63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145371"/>
              </p:ext>
            </p:extLst>
          </p:nvPr>
        </p:nvGraphicFramePr>
        <p:xfrm>
          <a:off x="4572000" y="61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3852000" y="30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212000" y="306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 flipH="1">
            <a:off x="3132000" y="324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7" name="Line 43"/>
          <p:cNvSpPr>
            <a:spLocks noChangeShapeType="1"/>
          </p:cNvSpPr>
          <p:nvPr/>
        </p:nvSpPr>
        <p:spPr bwMode="auto">
          <a:xfrm flipV="1">
            <a:off x="4032000" y="37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169147"/>
              </p:ext>
            </p:extLst>
          </p:nvPr>
        </p:nvGraphicFramePr>
        <p:xfrm>
          <a:off x="45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1872000" y="50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48099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369000"/>
            <a:ext cx="8281059" cy="2340361"/>
          </a:xfrm>
        </p:spPr>
        <p:txBody>
          <a:bodyPr/>
          <a:lstStyle/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; block &lt;=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block++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i %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][ i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i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1332000" y="27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1512000" y="28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2000" y="37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385191"/>
              </p:ext>
            </p:extLst>
          </p:nvPr>
        </p:nvGraphicFramePr>
        <p:xfrm>
          <a:off x="1512000" y="30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45723"/>
              </p:ext>
            </p:extLst>
          </p:nvPr>
        </p:nvGraphicFramePr>
        <p:xfrm>
          <a:off x="3852000" y="36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952000" y="3609000"/>
            <a:ext cx="90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4032000" y="63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873263"/>
              </p:ext>
            </p:extLst>
          </p:nvPr>
        </p:nvGraphicFramePr>
        <p:xfrm>
          <a:off x="4572000" y="61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3852000" y="30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212000" y="306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 flipH="1">
            <a:off x="3132000" y="324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V="1">
            <a:off x="4032000" y="37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72592"/>
              </p:ext>
            </p:extLst>
          </p:nvPr>
        </p:nvGraphicFramePr>
        <p:xfrm>
          <a:off x="4572000" y="36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1872000" y="50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71852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13043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*** &gt; 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+ 1;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+ 2;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+ 3;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 &gt;( &amp;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+ 4;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block &lt;=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block++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myOff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block = i %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map1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)[ block ][ i %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i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deque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deque3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deque1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309154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89000"/>
            <a:ext cx="8640000" cy="2880361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bool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74531F"/>
                </a:solidFill>
              </a:rPr>
              <a:t>equal</a:t>
            </a:r>
            <a:r>
              <a:rPr lang="en-US" altLang="zh-TW" dirty="0"/>
              <a:t>( </a:t>
            </a:r>
            <a:r>
              <a:rPr lang="en-US" altLang="zh-TW" dirty="0" err="1"/>
              <a:t>std</a:t>
            </a:r>
            <a:r>
              <a:rPr lang="en-US" altLang="zh-TW" dirty="0"/>
              <a:t>::</a:t>
            </a:r>
            <a:r>
              <a:rPr lang="en-US" altLang="zh-TW" dirty="0" err="1">
                <a:solidFill>
                  <a:srgbClr val="2B91AF"/>
                </a:solidFill>
              </a:rPr>
              <a:t>deque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0000FF"/>
                </a:solidFill>
              </a:rPr>
              <a:t>int</a:t>
            </a:r>
            <a:r>
              <a:rPr lang="en-US" altLang="zh-TW" dirty="0"/>
              <a:t> &gt; &amp;</a:t>
            </a:r>
            <a:r>
              <a:rPr lang="en-US" altLang="zh-TW" dirty="0" err="1">
                <a:solidFill>
                  <a:srgbClr val="808080"/>
                </a:solidFill>
              </a:rPr>
              <a:t>deque1</a:t>
            </a:r>
            <a:r>
              <a:rPr lang="en-US" altLang="zh-TW" dirty="0"/>
              <a:t>, </a:t>
            </a:r>
            <a:r>
              <a:rPr lang="en-US" altLang="zh-TW" dirty="0" err="1">
                <a:solidFill>
                  <a:srgbClr val="2B91AF"/>
                </a:solidFill>
              </a:rPr>
              <a:t>deque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0000FF"/>
                </a:solidFill>
              </a:rPr>
              <a:t>int</a:t>
            </a:r>
            <a:r>
              <a:rPr lang="en-US" altLang="zh-TW" dirty="0"/>
              <a:t> &gt; &amp;</a:t>
            </a:r>
            <a:r>
              <a:rPr lang="en-US" altLang="zh-TW" dirty="0" err="1">
                <a:solidFill>
                  <a:srgbClr val="808080"/>
                </a:solidFill>
              </a:rPr>
              <a:t>deque2</a:t>
            </a:r>
            <a:r>
              <a:rPr lang="en-US" altLang="zh-TW" dirty="0"/>
              <a:t> )</a:t>
            </a:r>
          </a:p>
          <a:p>
            <a:r>
              <a:rPr lang="en-US" altLang="zh-TW" dirty="0"/>
              <a:t>{</a:t>
            </a:r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0000FF"/>
                </a:solidFill>
              </a:rPr>
              <a:t>int</a:t>
            </a:r>
            <a:r>
              <a:rPr lang="en-US" altLang="zh-TW" dirty="0"/>
              <a:t> **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 = </a:t>
            </a:r>
            <a:r>
              <a:rPr lang="en-US" altLang="zh-TW" dirty="0" smtClean="0"/>
              <a:t>*( </a:t>
            </a:r>
            <a:r>
              <a:rPr lang="en-US" altLang="zh-TW" dirty="0" err="1" smtClean="0">
                <a:solidFill>
                  <a:srgbClr val="0000FF"/>
                </a:solidFill>
                <a:ea typeface="細明體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/>
              </a:rPr>
              <a:t>int</a:t>
            </a:r>
            <a:r>
              <a:rPr lang="en-US" altLang="zh-TW" dirty="0" smtClean="0"/>
              <a:t> </a:t>
            </a:r>
            <a:r>
              <a:rPr lang="en-US" altLang="zh-TW" dirty="0"/>
              <a:t>*** &gt; ( &amp;</a:t>
            </a:r>
            <a:r>
              <a:rPr lang="en-US" altLang="zh-TW" dirty="0" err="1">
                <a:solidFill>
                  <a:srgbClr val="808080"/>
                </a:solidFill>
              </a:rPr>
              <a:t>deque1</a:t>
            </a:r>
            <a:r>
              <a:rPr lang="en-US" altLang="zh-TW" dirty="0"/>
              <a:t> ) + 1 );</a:t>
            </a:r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1F377F"/>
                </a:solidFill>
              </a:rPr>
              <a:t>mapSize1</a:t>
            </a:r>
            <a:r>
              <a:rPr lang="en-US" altLang="zh-TW" dirty="0"/>
              <a:t> = *( </a:t>
            </a:r>
            <a:r>
              <a:rPr lang="en-US" altLang="zh-TW" dirty="0" err="1">
                <a:solidFill>
                  <a:srgbClr val="0000FF"/>
                </a:solidFill>
              </a:rPr>
              <a:t>reinterpret_cast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 &gt;( &amp;</a:t>
            </a:r>
            <a:r>
              <a:rPr lang="en-US" altLang="zh-TW" dirty="0" err="1">
                <a:solidFill>
                  <a:srgbClr val="808080"/>
                </a:solidFill>
              </a:rPr>
              <a:t>deque1</a:t>
            </a:r>
            <a:r>
              <a:rPr lang="en-US" altLang="zh-TW" dirty="0"/>
              <a:t> ) + 2 );</a:t>
            </a:r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/>
              <a:t> = *( </a:t>
            </a:r>
            <a:r>
              <a:rPr lang="en-US" altLang="zh-TW" dirty="0" err="1">
                <a:solidFill>
                  <a:srgbClr val="0000FF"/>
                </a:solidFill>
              </a:rPr>
              <a:t>reinterpret_cast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 &gt;( &amp;</a:t>
            </a:r>
            <a:r>
              <a:rPr lang="en-US" altLang="zh-TW" dirty="0" err="1">
                <a:solidFill>
                  <a:srgbClr val="808080"/>
                </a:solidFill>
              </a:rPr>
              <a:t>deque1</a:t>
            </a:r>
            <a:r>
              <a:rPr lang="en-US" altLang="zh-TW" dirty="0"/>
              <a:t> ) + 3 );</a:t>
            </a:r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1F377F"/>
                </a:solidFill>
              </a:rPr>
              <a:t>mySize1</a:t>
            </a:r>
            <a:r>
              <a:rPr lang="en-US" altLang="zh-TW" dirty="0"/>
              <a:t> = *( </a:t>
            </a:r>
            <a:r>
              <a:rPr lang="en-US" altLang="zh-TW" dirty="0" err="1">
                <a:solidFill>
                  <a:srgbClr val="0000FF"/>
                </a:solidFill>
              </a:rPr>
              <a:t>reinterpret_cast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 &gt;( &amp;</a:t>
            </a:r>
            <a:r>
              <a:rPr lang="en-US" altLang="zh-TW" dirty="0" err="1">
                <a:solidFill>
                  <a:srgbClr val="808080"/>
                </a:solidFill>
              </a:rPr>
              <a:t>deque1</a:t>
            </a:r>
            <a:r>
              <a:rPr lang="en-US" altLang="zh-TW" dirty="0"/>
              <a:t> ) + 4 );</a:t>
            </a:r>
          </a:p>
          <a:p>
            <a:endParaRPr lang="en-US" altLang="zh-TW" dirty="0"/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**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 = *( </a:t>
            </a:r>
            <a:r>
              <a:rPr lang="en-US" altLang="zh-TW" dirty="0" err="1">
                <a:solidFill>
                  <a:srgbClr val="0000FF"/>
                </a:solidFill>
              </a:rPr>
              <a:t>reinterpret_cast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*** &gt; ( &amp;</a:t>
            </a:r>
            <a:r>
              <a:rPr lang="en-US" altLang="zh-TW" dirty="0" err="1">
                <a:solidFill>
                  <a:srgbClr val="808080"/>
                </a:solidFill>
              </a:rPr>
              <a:t>deque2</a:t>
            </a:r>
            <a:r>
              <a:rPr lang="en-US" altLang="zh-TW" dirty="0"/>
              <a:t> ) );</a:t>
            </a:r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1F377F"/>
                </a:solidFill>
              </a:rPr>
              <a:t>mapSize2</a:t>
            </a:r>
            <a:r>
              <a:rPr lang="en-US" altLang="zh-TW" dirty="0"/>
              <a:t> = *( </a:t>
            </a:r>
            <a:r>
              <a:rPr lang="en-US" altLang="zh-TW" dirty="0" err="1">
                <a:solidFill>
                  <a:srgbClr val="0000FF"/>
                </a:solidFill>
              </a:rPr>
              <a:t>reinterpret_cast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 &gt;( &amp;</a:t>
            </a:r>
            <a:r>
              <a:rPr lang="en-US" altLang="zh-TW" dirty="0" err="1">
                <a:solidFill>
                  <a:srgbClr val="808080"/>
                </a:solidFill>
              </a:rPr>
              <a:t>deque2</a:t>
            </a:r>
            <a:r>
              <a:rPr lang="en-US" altLang="zh-TW" dirty="0"/>
              <a:t> ) + 1 );</a:t>
            </a:r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1F377F"/>
                </a:solidFill>
              </a:rPr>
              <a:t>myOff2</a:t>
            </a:r>
            <a:r>
              <a:rPr lang="en-US" altLang="zh-TW" dirty="0"/>
              <a:t> = *( </a:t>
            </a:r>
            <a:r>
              <a:rPr lang="en-US" altLang="zh-TW" dirty="0" err="1">
                <a:solidFill>
                  <a:srgbClr val="0000FF"/>
                </a:solidFill>
              </a:rPr>
              <a:t>reinterpret_cast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 &gt;( &amp;</a:t>
            </a:r>
            <a:r>
              <a:rPr lang="en-US" altLang="zh-TW" dirty="0" err="1">
                <a:solidFill>
                  <a:srgbClr val="808080"/>
                </a:solidFill>
              </a:rPr>
              <a:t>deque2</a:t>
            </a:r>
            <a:r>
              <a:rPr lang="en-US" altLang="zh-TW" dirty="0"/>
              <a:t> ) + 2 );</a:t>
            </a:r>
          </a:p>
          <a:p>
            <a:r>
              <a:rPr lang="en-US" altLang="zh-TW" dirty="0"/>
              <a:t>  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1F377F"/>
                </a:solidFill>
              </a:rPr>
              <a:t>mySize2</a:t>
            </a:r>
            <a:r>
              <a:rPr lang="en-US" altLang="zh-TW" dirty="0"/>
              <a:t> = *( </a:t>
            </a:r>
            <a:r>
              <a:rPr lang="en-US" altLang="zh-TW" dirty="0" err="1">
                <a:solidFill>
                  <a:srgbClr val="0000FF"/>
                </a:solidFill>
              </a:rPr>
              <a:t>reinterpret_cast</a:t>
            </a:r>
            <a:r>
              <a:rPr lang="en-US" altLang="zh-TW" dirty="0"/>
              <a:t>&lt;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* &gt;( &amp;</a:t>
            </a:r>
            <a:r>
              <a:rPr lang="en-US" altLang="zh-TW" dirty="0" err="1">
                <a:solidFill>
                  <a:srgbClr val="808080"/>
                </a:solidFill>
              </a:rPr>
              <a:t>deque2</a:t>
            </a:r>
            <a:r>
              <a:rPr lang="en-US" altLang="zh-TW" dirty="0"/>
              <a:t> ) + 3 </a:t>
            </a:r>
            <a:r>
              <a:rPr lang="en-US" altLang="zh-TW" dirty="0" smtClean="0"/>
              <a:t>);</a:t>
            </a:r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691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00" y="558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18" name="Group 5"/>
          <p:cNvGraphicFramePr>
            <a:graphicFrameLocks noGrp="1"/>
          </p:cNvGraphicFramePr>
          <p:nvPr>
            <p:extLst/>
          </p:nvPr>
        </p:nvGraphicFramePr>
        <p:xfrm>
          <a:off x="2772000" y="36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Line 43"/>
          <p:cNvSpPr>
            <a:spLocks noChangeShapeType="1"/>
          </p:cNvSpPr>
          <p:nvPr/>
        </p:nvSpPr>
        <p:spPr bwMode="auto">
          <a:xfrm flipV="1">
            <a:off x="2952000" y="63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/>
          </p:nvPr>
        </p:nvGraphicFramePr>
        <p:xfrm>
          <a:off x="3492000" y="576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1" name="流程圖: 程序 20"/>
          <p:cNvSpPr/>
          <p:nvPr/>
        </p:nvSpPr>
        <p:spPr>
          <a:xfrm>
            <a:off x="4392000" y="3069000"/>
            <a:ext cx="1980253" cy="234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2" name="流程圖: 程序 21"/>
          <p:cNvSpPr/>
          <p:nvPr/>
        </p:nvSpPr>
        <p:spPr>
          <a:xfrm>
            <a:off x="4571747" y="3249208"/>
            <a:ext cx="1619977" cy="180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751747" y="540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931747" y="5049208"/>
            <a:ext cx="899909" cy="360046"/>
          </a:xfrm>
          <a:prstGeom prst="rect">
            <a:avLst/>
          </a:prstGeom>
          <a:noFill/>
          <a:effectLst/>
        </p:spPr>
        <p:txBody>
          <a:bodyPr wrap="square" lIns="72000" tIns="18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5" name="Group 5"/>
          <p:cNvGraphicFramePr>
            <a:graphicFrameLocks noGrp="1"/>
          </p:cNvGraphicFramePr>
          <p:nvPr>
            <p:extLst/>
          </p:nvPr>
        </p:nvGraphicFramePr>
        <p:xfrm>
          <a:off x="4572000" y="34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Line 43"/>
          <p:cNvSpPr>
            <a:spLocks noChangeShapeType="1"/>
          </p:cNvSpPr>
          <p:nvPr/>
        </p:nvSpPr>
        <p:spPr bwMode="auto">
          <a:xfrm flipV="1">
            <a:off x="5832000" y="360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流程圖: 程序 26"/>
          <p:cNvSpPr/>
          <p:nvPr/>
        </p:nvSpPr>
        <p:spPr>
          <a:xfrm>
            <a:off x="252000" y="324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8" name="流程圖: 程序 27"/>
          <p:cNvSpPr/>
          <p:nvPr/>
        </p:nvSpPr>
        <p:spPr>
          <a:xfrm>
            <a:off x="432000" y="342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91747" y="5949208"/>
            <a:ext cx="126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1" name="Group 5"/>
          <p:cNvGraphicFramePr>
            <a:graphicFrameLocks noGrp="1"/>
          </p:cNvGraphicFramePr>
          <p:nvPr>
            <p:extLst/>
          </p:nvPr>
        </p:nvGraphicFramePr>
        <p:xfrm>
          <a:off x="432000" y="360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Line 43"/>
          <p:cNvSpPr>
            <a:spLocks noChangeShapeType="1"/>
          </p:cNvSpPr>
          <p:nvPr/>
        </p:nvSpPr>
        <p:spPr bwMode="auto">
          <a:xfrm flipV="1">
            <a:off x="1872000" y="3789000"/>
            <a:ext cx="90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92000" y="36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312000" y="3249000"/>
            <a:ext cx="720160" cy="360046"/>
          </a:xfrm>
          <a:prstGeom prst="rect">
            <a:avLst/>
          </a:prstGeom>
          <a:noFill/>
        </p:spPr>
        <p:txBody>
          <a:bodyPr wrap="square" lIns="72000" tIns="36000" rIns="7200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flipH="1" flipV="1">
            <a:off x="3132000" y="378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452000" y="34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812000" y="342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7" name="Line 43"/>
          <p:cNvSpPr>
            <a:spLocks noChangeShapeType="1"/>
          </p:cNvSpPr>
          <p:nvPr/>
        </p:nvSpPr>
        <p:spPr bwMode="auto">
          <a:xfrm flipH="1" flipV="1">
            <a:off x="709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45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812000" y="396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4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7812000" y="45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45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7812000" y="50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92000" y="558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19918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369000"/>
            <a:ext cx="7200000" cy="3059999"/>
          </a:xfrm>
        </p:spPr>
        <p:txBody>
          <a:bodyPr/>
          <a:lstStyle/>
          <a:p>
            <a:r>
              <a:rPr lang="en-US" altLang="zh-TW" dirty="0" smtClean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mapSize1</a:t>
            </a:r>
            <a:r>
              <a:rPr lang="en-US" altLang="zh-TW" dirty="0"/>
              <a:t> != </a:t>
            </a:r>
            <a:r>
              <a:rPr lang="en-US" altLang="zh-TW" dirty="0" err="1">
                <a:solidFill>
                  <a:srgbClr val="1F377F"/>
                </a:solidFill>
              </a:rPr>
              <a:t>mapSize2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mapSize2</a:t>
            </a:r>
            <a:r>
              <a:rPr lang="en-US" altLang="zh-TW" dirty="0"/>
              <a:t> == 0 )</a:t>
            </a:r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mySize2</a:t>
            </a:r>
            <a:r>
              <a:rPr lang="en-US" altLang="zh-TW" dirty="0"/>
              <a:t> == 0 &amp;&amp; </a:t>
            </a:r>
            <a:r>
              <a:rPr lang="en-US" altLang="zh-TW" dirty="0" err="1">
                <a:solidFill>
                  <a:srgbClr val="1F377F"/>
                </a:solidFill>
              </a:rPr>
              <a:t>myOff2</a:t>
            </a:r>
            <a:r>
              <a:rPr lang="en-US" altLang="zh-TW" dirty="0"/>
              <a:t> == 0 &amp;&amp;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 ==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true</a:t>
            </a:r>
            <a:r>
              <a:rPr lang="en-US" altLang="zh-TW" dirty="0"/>
              <a:t>;</a:t>
            </a:r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else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/>
              <a:t> != </a:t>
            </a:r>
            <a:r>
              <a:rPr lang="en-US" altLang="zh-TW" dirty="0" err="1">
                <a:solidFill>
                  <a:srgbClr val="1F377F"/>
                </a:solidFill>
              </a:rPr>
              <a:t>myOff2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mySize1</a:t>
            </a:r>
            <a:r>
              <a:rPr lang="en-US" altLang="zh-TW" dirty="0"/>
              <a:t> != </a:t>
            </a:r>
            <a:r>
              <a:rPr lang="en-US" altLang="zh-TW" dirty="0" err="1">
                <a:solidFill>
                  <a:srgbClr val="1F377F"/>
                </a:solidFill>
              </a:rPr>
              <a:t>mySize2</a:t>
            </a:r>
            <a:r>
              <a:rPr lang="en-US" altLang="zh-TW" dirty="0"/>
              <a:t> )</a:t>
            </a:r>
          </a:p>
          <a:p>
            <a:r>
              <a:rPr lang="en-US" altLang="zh-TW" dirty="0"/>
              <a:t>   </a:t>
            </a:r>
            <a:r>
              <a:rPr lang="en-US" altLang="zh-TW" dirty="0" smtClean="0">
                <a:solidFill>
                  <a:srgbClr val="800080"/>
                </a:solidFill>
              </a:rPr>
              <a:t>return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endParaRPr lang="zh-TW" altLang="en-US" dirty="0"/>
          </a:p>
        </p:txBody>
      </p:sp>
      <p:graphicFrame>
        <p:nvGraphicFramePr>
          <p:cNvPr id="3" name="Group 5"/>
          <p:cNvGraphicFramePr>
            <a:graphicFrameLocks noGrp="1"/>
          </p:cNvGraphicFramePr>
          <p:nvPr>
            <p:extLst/>
          </p:nvPr>
        </p:nvGraphicFramePr>
        <p:xfrm>
          <a:off x="3852000" y="342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Line 43"/>
          <p:cNvSpPr>
            <a:spLocks noChangeShapeType="1"/>
          </p:cNvSpPr>
          <p:nvPr/>
        </p:nvSpPr>
        <p:spPr bwMode="auto">
          <a:xfrm flipV="1">
            <a:off x="403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72000" y="558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9" name="Group 5"/>
          <p:cNvGraphicFramePr>
            <a:graphicFrameLocks noGrp="1"/>
          </p:cNvGraphicFramePr>
          <p:nvPr>
            <p:extLst/>
          </p:nvPr>
        </p:nvGraphicFramePr>
        <p:xfrm>
          <a:off x="6552000" y="342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673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7272000" y="558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272000" y="34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632000" y="342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 flipH="1" flipV="1">
            <a:off x="691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7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632000" y="396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27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632000" y="45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7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632000" y="50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0" y="34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932000" y="342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3" name="Line 43"/>
          <p:cNvSpPr>
            <a:spLocks noChangeShapeType="1"/>
          </p:cNvSpPr>
          <p:nvPr/>
        </p:nvSpPr>
        <p:spPr bwMode="auto">
          <a:xfrm flipH="1" flipV="1">
            <a:off x="421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57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932000" y="396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7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932000" y="45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57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932000" y="50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30" name="流程圖: 程序 29"/>
          <p:cNvSpPr/>
          <p:nvPr/>
        </p:nvSpPr>
        <p:spPr>
          <a:xfrm>
            <a:off x="1332000" y="3609000"/>
            <a:ext cx="2160253" cy="2700300"/>
          </a:xfrm>
          <a:prstGeom prst="flowChartProcess">
            <a:avLst/>
          </a:prstGeom>
          <a:solidFill>
            <a:srgbClr val="96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1" name="流程圖: 程序 30"/>
          <p:cNvSpPr/>
          <p:nvPr/>
        </p:nvSpPr>
        <p:spPr>
          <a:xfrm>
            <a:off x="1512000" y="378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32000" y="4689000"/>
            <a:ext cx="900000" cy="54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4" name="Group 5"/>
          <p:cNvGraphicFramePr>
            <a:graphicFrameLocks noGrp="1"/>
          </p:cNvGraphicFramePr>
          <p:nvPr>
            <p:extLst/>
          </p:nvPr>
        </p:nvGraphicFramePr>
        <p:xfrm>
          <a:off x="1512000" y="396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Line 43"/>
          <p:cNvSpPr>
            <a:spLocks noChangeShapeType="1"/>
          </p:cNvSpPr>
          <p:nvPr/>
        </p:nvSpPr>
        <p:spPr bwMode="auto">
          <a:xfrm flipV="1">
            <a:off x="2952000" y="3609000"/>
            <a:ext cx="90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872000" y="5949000"/>
            <a:ext cx="1080000" cy="360046"/>
          </a:xfrm>
          <a:prstGeom prst="rect">
            <a:avLst/>
          </a:prstGeom>
          <a:noFill/>
          <a:effectLst/>
        </p:spPr>
        <p:txBody>
          <a:bodyPr wrap="square" lIns="36000" tIns="36000" rIns="36000" bIns="0" rtlCol="0" anchor="t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prstClr val="black"/>
                </a:solidFill>
                <a:cs typeface="Times New Roman" panose="02020603050405020304" pitchFamily="18" charset="0"/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30432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972000" y="549000"/>
            <a:ext cx="7200530" cy="4320361"/>
          </a:xfrm>
        </p:spPr>
        <p:txBody>
          <a:bodyPr/>
          <a:lstStyle/>
          <a:p>
            <a:r>
              <a:rPr lang="en-US" altLang="zh-TW" dirty="0" err="1" smtClean="0">
                <a:solidFill>
                  <a:srgbClr val="2B91AF"/>
                </a:solidFill>
              </a:rPr>
              <a:t>size_t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;</a:t>
            </a:r>
          </a:p>
          <a:p>
            <a:r>
              <a:rPr lang="en-US" altLang="zh-TW" dirty="0" smtClean="0">
                <a:solidFill>
                  <a:srgbClr val="800080"/>
                </a:solidFill>
              </a:rPr>
              <a:t>for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/>
              <a:t> =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/>
              <a:t> &lt;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/>
              <a:t> + </a:t>
            </a:r>
            <a:r>
              <a:rPr lang="en-US" altLang="zh-TW" dirty="0" err="1">
                <a:solidFill>
                  <a:srgbClr val="1F377F"/>
                </a:solidFill>
              </a:rPr>
              <a:t>mySize1</a:t>
            </a:r>
            <a:r>
              <a:rPr lang="en-US" altLang="zh-TW" dirty="0"/>
              <a:t>; ++</a:t>
            </a:r>
            <a:r>
              <a:rPr lang="en-US" altLang="zh-TW" dirty="0" smtClean="0">
                <a:solidFill>
                  <a:srgbClr val="1F377F"/>
                </a:solidFill>
              </a:rPr>
              <a:t>i</a:t>
            </a:r>
            <a:r>
              <a:rPr lang="en-US" altLang="zh-TW" dirty="0" smtClean="0"/>
              <a:t> )</a:t>
            </a:r>
            <a:endParaRPr lang="en-US" altLang="zh-TW" dirty="0"/>
          </a:p>
          <a:p>
            <a:r>
              <a:rPr lang="en-US" altLang="zh-TW" dirty="0" smtClean="0"/>
              <a:t>{</a:t>
            </a:r>
            <a:endParaRPr lang="en-US" altLang="zh-TW" dirty="0"/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= (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/>
              <a:t> / 4 ) % </a:t>
            </a:r>
            <a:r>
              <a:rPr lang="en-US" altLang="zh-TW" dirty="0" err="1">
                <a:solidFill>
                  <a:srgbClr val="1F377F"/>
                </a:solidFill>
              </a:rPr>
              <a:t>mapSize1</a:t>
            </a:r>
            <a:r>
              <a:rPr lang="en-US" altLang="zh-TW" dirty="0"/>
              <a:t>;</a:t>
            </a:r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&amp;&amp;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==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endParaRPr lang="en-US" altLang="zh-TW" dirty="0"/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==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&amp;&amp;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endParaRPr lang="en-US" altLang="zh-TW" dirty="0"/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&amp;&amp;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</a:t>
            </a:r>
            <a:r>
              <a:rPr lang="en-US" altLang="zh-TW" dirty="0"/>
              <a:t>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/>
              <a:t> % 4;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][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 ] !=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][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 ] )</a:t>
            </a:r>
          </a:p>
          <a:p>
            <a:r>
              <a:rPr lang="en-US" altLang="zh-TW" dirty="0" smtClean="0"/>
              <a:t>   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r>
              <a:rPr lang="en-US" altLang="zh-TW" dirty="0" smtClean="0"/>
              <a:t>   </a:t>
            </a:r>
            <a:r>
              <a:rPr lang="en-US" altLang="zh-TW" dirty="0"/>
              <a:t>}</a:t>
            </a:r>
          </a:p>
          <a:p>
            <a:r>
              <a:rPr lang="en-US" altLang="zh-TW" dirty="0" smtClean="0"/>
              <a:t>}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252860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972000" y="549000"/>
            <a:ext cx="7200529" cy="2520361"/>
          </a:xfrm>
        </p:spPr>
        <p:txBody>
          <a:bodyPr/>
          <a:lstStyle/>
          <a:p>
            <a:r>
              <a:rPr lang="en-US" altLang="zh-TW" dirty="0" err="1" smtClean="0">
                <a:solidFill>
                  <a:srgbClr val="2B91AF"/>
                </a:solidFill>
              </a:rPr>
              <a:t>size_t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;</a:t>
            </a:r>
          </a:p>
          <a:p>
            <a:r>
              <a:rPr lang="en-US" altLang="zh-TW" dirty="0" smtClean="0">
                <a:solidFill>
                  <a:srgbClr val="800080"/>
                </a:solidFill>
              </a:rPr>
              <a:t>for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/>
              <a:t> =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/>
              <a:t> &lt;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/>
              <a:t> + </a:t>
            </a:r>
            <a:r>
              <a:rPr lang="en-US" altLang="zh-TW" dirty="0" err="1">
                <a:solidFill>
                  <a:srgbClr val="1F377F"/>
                </a:solidFill>
              </a:rPr>
              <a:t>mySize1</a:t>
            </a:r>
            <a:r>
              <a:rPr lang="en-US" altLang="zh-TW" dirty="0"/>
              <a:t>; ++</a:t>
            </a:r>
            <a:r>
              <a:rPr lang="en-US" altLang="zh-TW" dirty="0" smtClean="0">
                <a:solidFill>
                  <a:srgbClr val="1F377F"/>
                </a:solidFill>
              </a:rPr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)</a:t>
            </a:r>
          </a:p>
          <a:p>
            <a:r>
              <a:rPr lang="en-US" altLang="zh-TW" dirty="0" smtClean="0"/>
              <a:t>{</a:t>
            </a:r>
            <a:endParaRPr lang="en-US" altLang="zh-TW" dirty="0"/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= ( </a:t>
            </a:r>
            <a:r>
              <a:rPr lang="en-US" altLang="zh-TW" dirty="0" err="1">
                <a:solidFill>
                  <a:srgbClr val="1F377F"/>
                </a:solidFill>
              </a:rPr>
              <a:t>i</a:t>
            </a:r>
            <a:r>
              <a:rPr lang="en-US" altLang="zh-TW" dirty="0"/>
              <a:t> / 4 ) % </a:t>
            </a:r>
            <a:r>
              <a:rPr lang="en-US" altLang="zh-TW" dirty="0" err="1">
                <a:solidFill>
                  <a:srgbClr val="1F377F"/>
                </a:solidFill>
              </a:rPr>
              <a:t>mapSize1</a:t>
            </a:r>
            <a:r>
              <a:rPr lang="en-US" altLang="zh-TW" dirty="0"/>
              <a:t>;</a:t>
            </a:r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 err="1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&amp;&amp;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== </a:t>
            </a:r>
            <a:r>
              <a:rPr lang="en-US" altLang="zh-TW" dirty="0" err="1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== </a:t>
            </a:r>
            <a:r>
              <a:rPr lang="en-US" altLang="zh-TW" dirty="0" err="1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&amp;&amp;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 err="1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 smtClean="0"/>
              <a:t>;</a:t>
            </a:r>
            <a:endParaRPr lang="en-US" altLang="zh-TW" dirty="0"/>
          </a:p>
        </p:txBody>
      </p:sp>
      <p:sp>
        <p:nvSpPr>
          <p:cNvPr id="4" name="Line 43"/>
          <p:cNvSpPr>
            <a:spLocks noChangeShapeType="1"/>
          </p:cNvSpPr>
          <p:nvPr/>
        </p:nvSpPr>
        <p:spPr bwMode="auto">
          <a:xfrm flipV="1">
            <a:off x="187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2412000" y="558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7" name="Line 43"/>
          <p:cNvSpPr>
            <a:spLocks noChangeShapeType="1"/>
          </p:cNvSpPr>
          <p:nvPr/>
        </p:nvSpPr>
        <p:spPr bwMode="auto">
          <a:xfrm flipV="1">
            <a:off x="583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6372000" y="558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372000" y="34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732000" y="342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H="1" flipV="1">
            <a:off x="601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7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732000" y="396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7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32000" y="45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7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732000" y="50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12000" y="34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772000" y="342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205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1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772000" y="396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72000" y="45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4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772000" y="50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7" name="Group 5"/>
          <p:cNvGraphicFramePr>
            <a:graphicFrameLocks noGrp="1"/>
          </p:cNvGraphicFramePr>
          <p:nvPr>
            <p:extLst/>
          </p:nvPr>
        </p:nvGraphicFramePr>
        <p:xfrm>
          <a:off x="1332000" y="3429000"/>
          <a:ext cx="72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1493187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8" name="Group 5"/>
          <p:cNvGraphicFramePr>
            <a:graphicFrameLocks noGrp="1"/>
          </p:cNvGraphicFramePr>
          <p:nvPr>
            <p:extLst/>
          </p:nvPr>
        </p:nvGraphicFramePr>
        <p:xfrm>
          <a:off x="5292000" y="3429000"/>
          <a:ext cx="72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542661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87432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972000" y="549000"/>
            <a:ext cx="7200530" cy="2700000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srgbClr val="800080"/>
                </a:solidFill>
              </a:rPr>
              <a:t>for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dirty="0" err="1">
                <a:solidFill>
                  <a:srgbClr val="2B91AF"/>
                </a:solidFill>
              </a:rPr>
              <a:t>size_t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>
                <a:solidFill>
                  <a:prstClr val="black"/>
                </a:solidFill>
              </a:rPr>
              <a:t> =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>
                <a:solidFill>
                  <a:prstClr val="black"/>
                </a:solidFill>
              </a:rPr>
              <a:t>; 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>
                <a:solidFill>
                  <a:prstClr val="black"/>
                </a:solidFill>
              </a:rPr>
              <a:t> &lt; </a:t>
            </a:r>
            <a:r>
              <a:rPr lang="en-US" altLang="zh-TW" dirty="0" err="1">
                <a:solidFill>
                  <a:srgbClr val="1F377F"/>
                </a:solidFill>
              </a:rPr>
              <a:t>myOff1</a:t>
            </a:r>
            <a:r>
              <a:rPr lang="en-US" altLang="zh-TW" dirty="0">
                <a:solidFill>
                  <a:prstClr val="black"/>
                </a:solidFill>
              </a:rPr>
              <a:t> + </a:t>
            </a:r>
            <a:r>
              <a:rPr lang="en-US" altLang="zh-TW" dirty="0" err="1">
                <a:solidFill>
                  <a:srgbClr val="1F377F"/>
                </a:solidFill>
              </a:rPr>
              <a:t>mySize1</a:t>
            </a:r>
            <a:r>
              <a:rPr lang="en-US" altLang="zh-TW" dirty="0">
                <a:solidFill>
                  <a:prstClr val="black"/>
                </a:solidFill>
              </a:rPr>
              <a:t>; ++</a:t>
            </a:r>
            <a:r>
              <a:rPr lang="en-US" altLang="zh-TW" dirty="0">
                <a:solidFill>
                  <a:srgbClr val="1F377F"/>
                </a:solidFill>
              </a:rPr>
              <a:t>i</a:t>
            </a:r>
            <a:r>
              <a:rPr lang="en-US" altLang="zh-TW" dirty="0">
                <a:solidFill>
                  <a:prstClr val="black"/>
                </a:solidFill>
              </a:rPr>
              <a:t> 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{</a:t>
            </a:r>
          </a:p>
          <a:p>
            <a:r>
              <a:rPr lang="en-US" altLang="zh-TW" dirty="0" smtClean="0">
                <a:ea typeface="Cambria Math" panose="02040503050406030204" pitchFamily="18" charset="0"/>
              </a:rPr>
              <a:t>   </a:t>
            </a:r>
            <a:r>
              <a:rPr lang="en-US" altLang="zh-TW" dirty="0" smtClean="0">
                <a:latin typeface="Lucida Console" panose="020B0609040504020204" pitchFamily="49" charset="0"/>
                <a:ea typeface="Cambria Math" panose="02040503050406030204" pitchFamily="18" charset="0"/>
              </a:rPr>
              <a:t>······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Cambria Math" panose="02040503050406030204" pitchFamily="18" charset="0"/>
              </a:rPr>
              <a:t>···············································</a:t>
            </a:r>
            <a:r>
              <a:rPr lang="en-US" altLang="zh-TW" dirty="0" smtClean="0">
                <a:latin typeface="Lucida Console" panose="020B0609040504020204" pitchFamily="49" charset="0"/>
                <a:ea typeface="Cambria Math" panose="02040503050406030204" pitchFamily="18" charset="0"/>
              </a:rPr>
              <a:t>·</a:t>
            </a:r>
            <a:endParaRPr lang="en-US" altLang="zh-TW" dirty="0" smtClean="0"/>
          </a:p>
          <a:p>
            <a:pPr>
              <a:spcBef>
                <a:spcPts val="600"/>
              </a:spcBef>
            </a:pPr>
            <a:r>
              <a:rPr lang="en-US" altLang="zh-TW" dirty="0" smtClean="0"/>
              <a:t>   </a:t>
            </a:r>
            <a:r>
              <a:rPr lang="en-US" altLang="zh-TW" dirty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&amp;&amp;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 != </a:t>
            </a:r>
            <a:r>
              <a:rPr lang="en-US" altLang="zh-TW" dirty="0">
                <a:solidFill>
                  <a:srgbClr val="0000FF"/>
                </a:solidFill>
              </a:rPr>
              <a:t>nullptr</a:t>
            </a:r>
            <a:r>
              <a:rPr lang="en-US" altLang="zh-TW" dirty="0"/>
              <a:t> )</a:t>
            </a:r>
          </a:p>
          <a:p>
            <a:r>
              <a:rPr lang="en-US" altLang="zh-TW" dirty="0" smtClean="0"/>
              <a:t>   </a:t>
            </a:r>
            <a:r>
              <a:rPr lang="en-US" altLang="zh-TW" dirty="0"/>
              <a:t>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 = </a:t>
            </a:r>
            <a:r>
              <a:rPr lang="en-US" altLang="zh-TW" dirty="0" err="1">
                <a:solidFill>
                  <a:srgbClr val="1F377F"/>
                </a:solidFill>
              </a:rPr>
              <a:t>i</a:t>
            </a:r>
            <a:r>
              <a:rPr lang="en-US" altLang="zh-TW" dirty="0"/>
              <a:t> % 4;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smtClean="0">
                <a:solidFill>
                  <a:srgbClr val="800080"/>
                </a:solidFill>
              </a:rPr>
              <a:t>if</a:t>
            </a:r>
            <a:r>
              <a:rPr lang="en-US" altLang="zh-TW" dirty="0"/>
              <a:t>( </a:t>
            </a:r>
            <a:r>
              <a:rPr lang="en-US" altLang="zh-TW" dirty="0" err="1">
                <a:solidFill>
                  <a:srgbClr val="1F377F"/>
                </a:solidFill>
              </a:rPr>
              <a:t>map1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][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 ] != </a:t>
            </a:r>
            <a:r>
              <a:rPr lang="en-US" altLang="zh-TW" dirty="0" err="1">
                <a:solidFill>
                  <a:srgbClr val="1F377F"/>
                </a:solidFill>
              </a:rPr>
              <a:t>map2</a:t>
            </a:r>
            <a:r>
              <a:rPr lang="en-US" altLang="zh-TW" dirty="0"/>
              <a:t>[ </a:t>
            </a:r>
            <a:r>
              <a:rPr lang="en-US" altLang="zh-TW" dirty="0">
                <a:solidFill>
                  <a:srgbClr val="1F377F"/>
                </a:solidFill>
              </a:rPr>
              <a:t>row</a:t>
            </a:r>
            <a:r>
              <a:rPr lang="en-US" altLang="zh-TW" dirty="0"/>
              <a:t> ][ </a:t>
            </a:r>
            <a:r>
              <a:rPr lang="en-US" altLang="zh-TW" dirty="0">
                <a:solidFill>
                  <a:srgbClr val="1F377F"/>
                </a:solidFill>
              </a:rPr>
              <a:t>col</a:t>
            </a:r>
            <a:r>
              <a:rPr lang="en-US" altLang="zh-TW" dirty="0"/>
              <a:t> ] )</a:t>
            </a:r>
          </a:p>
          <a:p>
            <a:r>
              <a:rPr lang="en-US" altLang="zh-TW" dirty="0" smtClean="0"/>
              <a:t>         </a:t>
            </a:r>
            <a:r>
              <a:rPr lang="en-US" altLang="zh-TW" dirty="0">
                <a:solidFill>
                  <a:srgbClr val="800080"/>
                </a:solidFill>
              </a:rPr>
              <a:t>return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false</a:t>
            </a:r>
            <a:r>
              <a:rPr lang="en-US" altLang="zh-TW" dirty="0"/>
              <a:t>;</a:t>
            </a:r>
          </a:p>
          <a:p>
            <a:r>
              <a:rPr lang="en-US" altLang="zh-TW" dirty="0" smtClean="0"/>
              <a:t>   </a:t>
            </a:r>
            <a:r>
              <a:rPr lang="en-US" altLang="zh-TW" dirty="0"/>
              <a:t>}</a:t>
            </a:r>
          </a:p>
          <a:p>
            <a:r>
              <a:rPr lang="en-US" altLang="zh-TW" dirty="0" smtClean="0"/>
              <a:t>}</a:t>
            </a:r>
            <a:endParaRPr lang="en-US" altLang="zh-TW" dirty="0"/>
          </a:p>
        </p:txBody>
      </p:sp>
      <p:graphicFrame>
        <p:nvGraphicFramePr>
          <p:cNvPr id="3" name="Group 5"/>
          <p:cNvGraphicFramePr>
            <a:graphicFrameLocks noGrp="1"/>
          </p:cNvGraphicFramePr>
          <p:nvPr>
            <p:extLst/>
          </p:nvPr>
        </p:nvGraphicFramePr>
        <p:xfrm>
          <a:off x="1332000" y="3429000"/>
          <a:ext cx="72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1493187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Line 43"/>
          <p:cNvSpPr>
            <a:spLocks noChangeShapeType="1"/>
          </p:cNvSpPr>
          <p:nvPr/>
        </p:nvSpPr>
        <p:spPr bwMode="auto">
          <a:xfrm flipV="1">
            <a:off x="187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2412000" y="558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6" name="Group 5"/>
          <p:cNvGraphicFramePr>
            <a:graphicFrameLocks noGrp="1"/>
          </p:cNvGraphicFramePr>
          <p:nvPr>
            <p:extLst/>
          </p:nvPr>
        </p:nvGraphicFramePr>
        <p:xfrm>
          <a:off x="5292000" y="3429000"/>
          <a:ext cx="72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542661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Line 43"/>
          <p:cNvSpPr>
            <a:spLocks noChangeShapeType="1"/>
          </p:cNvSpPr>
          <p:nvPr/>
        </p:nvSpPr>
        <p:spPr bwMode="auto">
          <a:xfrm flipV="1">
            <a:off x="5832000" y="61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6372000" y="558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21198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372000" y="34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732000" y="342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H="1" flipV="1">
            <a:off x="601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7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732000" y="396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7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32000" y="45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7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732000" y="50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12000" y="34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772000" y="3429000"/>
            <a:ext cx="720160" cy="360046"/>
          </a:xfrm>
          <a:prstGeom prst="rect">
            <a:avLst/>
          </a:prstGeom>
          <a:noFill/>
        </p:spPr>
        <p:txBody>
          <a:bodyPr wrap="square" lIns="90000" tIns="54000" rIns="7200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2052000" y="36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1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8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772000" y="396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mapSize1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72000" y="450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myOff1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4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772000" y="5049000"/>
            <a:ext cx="1080000" cy="360046"/>
          </a:xfrm>
          <a:prstGeom prst="rect">
            <a:avLst/>
          </a:prstGeom>
          <a:noFill/>
        </p:spPr>
        <p:txBody>
          <a:bodyPr wrap="square" lIns="90000" tIns="54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mySize1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21099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std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sz="40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deque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sz="4000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char</a:t>
            </a:r>
            <a:r>
              <a:rPr lang="en-US" altLang="zh-TW" sz="40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</a:t>
            </a:r>
            <a:endParaRPr lang="zh-TW" altLang="en-US" sz="4000" dirty="0">
              <a:latin typeface="+mn-lt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259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619766"/>
              </p:ext>
            </p:extLst>
          </p:nvPr>
        </p:nvGraphicFramePr>
        <p:xfrm>
          <a:off x="3132000" y="21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98083"/>
              </p:ext>
            </p:extLst>
          </p:nvPr>
        </p:nvGraphicFramePr>
        <p:xfrm>
          <a:off x="241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 flipV="1">
            <a:off x="259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 flipV="1">
            <a:off x="259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>
            <a:off x="259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259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259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59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 flipV="1">
            <a:off x="259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49816"/>
              </p:ext>
            </p:extLst>
          </p:nvPr>
        </p:nvGraphicFramePr>
        <p:xfrm>
          <a:off x="3132000" y="378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639446"/>
              </p:ext>
            </p:extLst>
          </p:nvPr>
        </p:nvGraphicFramePr>
        <p:xfrm>
          <a:off x="3132000" y="32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195086"/>
              </p:ext>
            </p:extLst>
          </p:nvPr>
        </p:nvGraphicFramePr>
        <p:xfrm>
          <a:off x="3132000" y="27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293789"/>
              </p:ext>
            </p:extLst>
          </p:nvPr>
        </p:nvGraphicFramePr>
        <p:xfrm>
          <a:off x="3132000" y="432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107402"/>
              </p:ext>
            </p:extLst>
          </p:nvPr>
        </p:nvGraphicFramePr>
        <p:xfrm>
          <a:off x="3132000" y="59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014441"/>
              </p:ext>
            </p:extLst>
          </p:nvPr>
        </p:nvGraphicFramePr>
        <p:xfrm>
          <a:off x="3132000" y="54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528950"/>
              </p:ext>
            </p:extLst>
          </p:nvPr>
        </p:nvGraphicFramePr>
        <p:xfrm>
          <a:off x="3132000" y="48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797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81759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815262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22220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978420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8602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2996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341889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46" name="流程圖: 程序 45"/>
          <p:cNvSpPr/>
          <p:nvPr/>
        </p:nvSpPr>
        <p:spPr>
          <a:xfrm>
            <a:off x="252000" y="216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2000" y="4329000"/>
            <a:ext cx="2160000" cy="36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r>
              <a:rPr lang="en-US" altLang="zh-TW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._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252955"/>
              </p:ext>
            </p:extLst>
          </p:nvPr>
        </p:nvGraphicFramePr>
        <p:xfrm>
          <a:off x="252000" y="234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128</a:t>
                      </a:r>
                      <a:endParaRPr kumimoji="0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Line 43"/>
          <p:cNvSpPr>
            <a:spLocks noChangeShapeType="1"/>
          </p:cNvSpPr>
          <p:nvPr/>
        </p:nvSpPr>
        <p:spPr bwMode="auto">
          <a:xfrm flipV="1">
            <a:off x="1692000" y="288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472000" y="1449000"/>
            <a:ext cx="1080000" cy="360000"/>
          </a:xfrm>
          <a:prstGeom prst="rect">
            <a:avLst/>
          </a:prstGeom>
          <a:noFill/>
        </p:spPr>
        <p:txBody>
          <a:bodyPr wrap="square" lIns="36000" tIns="36000" rIns="36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16 bytes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32000" y="1809000"/>
            <a:ext cx="5760000" cy="360000"/>
          </a:xfrm>
          <a:prstGeom prst="rect">
            <a:avLst/>
          </a:prstGeom>
          <a:noFill/>
        </p:spPr>
        <p:txBody>
          <a:bodyPr wrap="square" lIns="72000" tIns="36000" rIns="72000" bIns="432000" rtlCol="0" anchor="ctr" anchorCtr="0">
            <a:noAutofit/>
          </a:bodyPr>
          <a:lstStyle/>
          <a:p>
            <a:pPr lvl="0" algn="ctr">
              <a:defRPr/>
            </a:pP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</a:t>
            </a:r>
            <a:r>
              <a:rPr lang="en-US" altLang="zh-TW" sz="4000" dirty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</a:t>
            </a: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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1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std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sz="40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deque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sz="4000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short</a:t>
            </a:r>
            <a:r>
              <a:rPr lang="en-US" altLang="zh-TW" sz="40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</a:t>
            </a:r>
            <a:endParaRPr lang="zh-TW" altLang="en-US" sz="4000" dirty="0">
              <a:latin typeface="+mn-lt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252000" y="216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2000" y="4329000"/>
            <a:ext cx="2160000" cy="36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r>
              <a:rPr lang="en-US" altLang="zh-TW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._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2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7590"/>
              </p:ext>
            </p:extLst>
          </p:nvPr>
        </p:nvGraphicFramePr>
        <p:xfrm>
          <a:off x="252000" y="234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1692000" y="288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259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158331"/>
              </p:ext>
            </p:extLst>
          </p:nvPr>
        </p:nvGraphicFramePr>
        <p:xfrm>
          <a:off x="241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 flipV="1">
            <a:off x="259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 flipV="1">
            <a:off x="259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>
            <a:off x="259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259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259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59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 flipV="1">
            <a:off x="259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56507"/>
              </p:ext>
            </p:extLst>
          </p:nvPr>
        </p:nvGraphicFramePr>
        <p:xfrm>
          <a:off x="3132000" y="21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18077"/>
              </p:ext>
            </p:extLst>
          </p:nvPr>
        </p:nvGraphicFramePr>
        <p:xfrm>
          <a:off x="3132000" y="378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228311"/>
              </p:ext>
            </p:extLst>
          </p:nvPr>
        </p:nvGraphicFramePr>
        <p:xfrm>
          <a:off x="3132000" y="32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0069"/>
              </p:ext>
            </p:extLst>
          </p:nvPr>
        </p:nvGraphicFramePr>
        <p:xfrm>
          <a:off x="3132000" y="27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815154"/>
              </p:ext>
            </p:extLst>
          </p:nvPr>
        </p:nvGraphicFramePr>
        <p:xfrm>
          <a:off x="3132000" y="432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33595"/>
              </p:ext>
            </p:extLst>
          </p:nvPr>
        </p:nvGraphicFramePr>
        <p:xfrm>
          <a:off x="3132000" y="59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919483"/>
              </p:ext>
            </p:extLst>
          </p:nvPr>
        </p:nvGraphicFramePr>
        <p:xfrm>
          <a:off x="3132000" y="54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307307"/>
              </p:ext>
            </p:extLst>
          </p:nvPr>
        </p:nvGraphicFramePr>
        <p:xfrm>
          <a:off x="3132000" y="48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747763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242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0606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85959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5472000" y="1449000"/>
            <a:ext cx="1080000" cy="360000"/>
          </a:xfrm>
          <a:prstGeom prst="rect">
            <a:avLst/>
          </a:prstGeom>
          <a:noFill/>
        </p:spPr>
        <p:txBody>
          <a:bodyPr wrap="square" lIns="36000" tIns="36000" rIns="36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16 bytes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32000" y="1809000"/>
            <a:ext cx="5760000" cy="360000"/>
          </a:xfrm>
          <a:prstGeom prst="rect">
            <a:avLst/>
          </a:prstGeom>
          <a:noFill/>
        </p:spPr>
        <p:txBody>
          <a:bodyPr wrap="square" lIns="72000" tIns="36000" rIns="72000" bIns="432000" rtlCol="0" anchor="ctr" anchorCtr="0">
            <a:noAutofit/>
          </a:bodyPr>
          <a:lstStyle/>
          <a:p>
            <a:pPr lvl="0" algn="ctr">
              <a:defRPr/>
            </a:pP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</a:t>
            </a:r>
            <a:r>
              <a:rPr lang="en-US" altLang="zh-TW" sz="4000" dirty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</a:t>
            </a: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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46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252000" y="189000"/>
            <a:ext cx="8641080" cy="1260000"/>
          </a:xfrm>
        </p:spPr>
        <p:txBody>
          <a:bodyPr/>
          <a:lstStyle/>
          <a:p>
            <a:r>
              <a:rPr lang="en-US" altLang="zh-TW" sz="4000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sz="40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sz="4000" dirty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deque</a:t>
            </a:r>
            <a:r>
              <a:rPr lang="en-US" altLang="zh-TW" sz="40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sz="4000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long</a:t>
            </a:r>
            <a:r>
              <a:rPr lang="en-US" altLang="zh-TW" sz="40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40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&gt;</a:t>
            </a:r>
            <a:endParaRPr lang="zh-TW" altLang="en-US" sz="4000" dirty="0">
              <a:latin typeface="+mn-lt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259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844680"/>
              </p:ext>
            </p:extLst>
          </p:nvPr>
        </p:nvGraphicFramePr>
        <p:xfrm>
          <a:off x="3132000" y="21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70312"/>
              </p:ext>
            </p:extLst>
          </p:nvPr>
        </p:nvGraphicFramePr>
        <p:xfrm>
          <a:off x="241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 flipV="1">
            <a:off x="259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 flipV="1">
            <a:off x="259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>
            <a:off x="259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259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259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59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 flipV="1">
            <a:off x="259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9" name="流程圖: 程序 38"/>
          <p:cNvSpPr/>
          <p:nvPr/>
        </p:nvSpPr>
        <p:spPr>
          <a:xfrm>
            <a:off x="252000" y="216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2000" y="4329000"/>
            <a:ext cx="2160000" cy="36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r>
              <a:rPr lang="en-US" altLang="zh-TW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._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099544"/>
              </p:ext>
            </p:extLst>
          </p:nvPr>
        </p:nvGraphicFramePr>
        <p:xfrm>
          <a:off x="252000" y="234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1692000" y="288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50916"/>
              </p:ext>
            </p:extLst>
          </p:nvPr>
        </p:nvGraphicFramePr>
        <p:xfrm>
          <a:off x="3132000" y="378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111025"/>
              </p:ext>
            </p:extLst>
          </p:nvPr>
        </p:nvGraphicFramePr>
        <p:xfrm>
          <a:off x="3132000" y="32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33059"/>
              </p:ext>
            </p:extLst>
          </p:nvPr>
        </p:nvGraphicFramePr>
        <p:xfrm>
          <a:off x="3132000" y="27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19283"/>
              </p:ext>
            </p:extLst>
          </p:nvPr>
        </p:nvGraphicFramePr>
        <p:xfrm>
          <a:off x="3132000" y="432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24117"/>
              </p:ext>
            </p:extLst>
          </p:nvPr>
        </p:nvGraphicFramePr>
        <p:xfrm>
          <a:off x="3132000" y="59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855444"/>
              </p:ext>
            </p:extLst>
          </p:nvPr>
        </p:nvGraphicFramePr>
        <p:xfrm>
          <a:off x="3132000" y="54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555644"/>
              </p:ext>
            </p:extLst>
          </p:nvPr>
        </p:nvGraphicFramePr>
        <p:xfrm>
          <a:off x="3132000" y="48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7046072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9091379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5472000" y="1449000"/>
            <a:ext cx="1080000" cy="360000"/>
          </a:xfrm>
          <a:prstGeom prst="rect">
            <a:avLst/>
          </a:prstGeom>
          <a:noFill/>
        </p:spPr>
        <p:txBody>
          <a:bodyPr wrap="square" lIns="36000" tIns="36000" rIns="36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16 bytes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32000" y="1809000"/>
            <a:ext cx="5760000" cy="360000"/>
          </a:xfrm>
          <a:prstGeom prst="rect">
            <a:avLst/>
          </a:prstGeom>
          <a:noFill/>
        </p:spPr>
        <p:txBody>
          <a:bodyPr wrap="square" lIns="72000" tIns="36000" rIns="72000" bIns="432000" rtlCol="0" anchor="ctr" anchorCtr="0">
            <a:noAutofit/>
          </a:bodyPr>
          <a:lstStyle/>
          <a:p>
            <a:pPr lvl="0" algn="ctr">
              <a:defRPr/>
            </a:pP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</a:t>
            </a:r>
            <a:r>
              <a:rPr lang="en-US" altLang="zh-TW" sz="4000" dirty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</a:t>
            </a: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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9511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std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sz="40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deque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sz="4000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long long</a:t>
            </a:r>
            <a:r>
              <a:rPr lang="en-US" altLang="zh-TW" sz="40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40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</a:t>
            </a:r>
            <a:endParaRPr lang="zh-TW" altLang="en-US" sz="4000" dirty="0">
              <a:latin typeface="+mn-lt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V="1">
            <a:off x="2592000" y="23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70774"/>
              </p:ext>
            </p:extLst>
          </p:nvPr>
        </p:nvGraphicFramePr>
        <p:xfrm>
          <a:off x="3132000" y="21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2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846813"/>
              </p:ext>
            </p:extLst>
          </p:nvPr>
        </p:nvGraphicFramePr>
        <p:xfrm>
          <a:off x="2412000" y="2709000"/>
          <a:ext cx="360000" cy="28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Line 43"/>
          <p:cNvSpPr>
            <a:spLocks noChangeShapeType="1"/>
          </p:cNvSpPr>
          <p:nvPr/>
        </p:nvSpPr>
        <p:spPr bwMode="auto">
          <a:xfrm flipV="1">
            <a:off x="2592000" y="28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 flipV="1">
            <a:off x="2592000" y="34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>
            <a:off x="2592000" y="5409000"/>
            <a:ext cx="54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2592000" y="5049000"/>
            <a:ext cx="54000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2592000" y="4689000"/>
            <a:ext cx="540000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2592000" y="4329000"/>
            <a:ext cx="54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 flipV="1">
            <a:off x="2592000" y="396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6" name="流程圖: 程序 45"/>
          <p:cNvSpPr/>
          <p:nvPr/>
        </p:nvSpPr>
        <p:spPr>
          <a:xfrm>
            <a:off x="252000" y="2169000"/>
            <a:ext cx="1799725" cy="2160208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Console"/>
              <a:ea typeface="微軟正黑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2000" y="4329000"/>
            <a:ext cx="2160000" cy="360000"/>
          </a:xfrm>
          <a:prstGeom prst="rect">
            <a:avLst/>
          </a:prstGeom>
          <a:noFill/>
        </p:spPr>
        <p:txBody>
          <a:bodyPr wrap="square" lIns="72000" tIns="36000" rIns="72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deque1</a:t>
            </a:r>
            <a:r>
              <a:rPr lang="en-US" altLang="zh-TW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._</a:t>
            </a:r>
            <a:r>
              <a:rPr lang="en-US" altLang="zh-TW" sz="1600" dirty="0" err="1">
                <a:solidFill>
                  <a:prstClr val="black"/>
                </a:solidFill>
                <a:cs typeface="Times New Roman" panose="02020603050405020304" pitchFamily="18" charset="0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098672"/>
              </p:ext>
            </p:extLst>
          </p:nvPr>
        </p:nvGraphicFramePr>
        <p:xfrm>
          <a:off x="252000" y="2349000"/>
          <a:ext cx="1620000" cy="18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93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apSize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yOff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Line 43"/>
          <p:cNvSpPr>
            <a:spLocks noChangeShapeType="1"/>
          </p:cNvSpPr>
          <p:nvPr/>
        </p:nvSpPr>
        <p:spPr bwMode="auto">
          <a:xfrm flipV="1">
            <a:off x="1692000" y="2889000"/>
            <a:ext cx="7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377885"/>
              </p:ext>
            </p:extLst>
          </p:nvPr>
        </p:nvGraphicFramePr>
        <p:xfrm>
          <a:off x="3132000" y="378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58259145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5494798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03971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615969"/>
              </p:ext>
            </p:extLst>
          </p:nvPr>
        </p:nvGraphicFramePr>
        <p:xfrm>
          <a:off x="3132000" y="32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37569"/>
              </p:ext>
            </p:extLst>
          </p:nvPr>
        </p:nvGraphicFramePr>
        <p:xfrm>
          <a:off x="3132000" y="27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261799"/>
              </p:ext>
            </p:extLst>
          </p:nvPr>
        </p:nvGraphicFramePr>
        <p:xfrm>
          <a:off x="3132000" y="432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234041"/>
              </p:ext>
            </p:extLst>
          </p:nvPr>
        </p:nvGraphicFramePr>
        <p:xfrm>
          <a:off x="3132000" y="594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58259145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5494798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039711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84318"/>
              </p:ext>
            </p:extLst>
          </p:nvPr>
        </p:nvGraphicFramePr>
        <p:xfrm>
          <a:off x="3132000" y="540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831278"/>
              </p:ext>
            </p:extLst>
          </p:nvPr>
        </p:nvGraphicFramePr>
        <p:xfrm>
          <a:off x="3132000" y="4869000"/>
          <a:ext cx="57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84295251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540671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754044"/>
                  </a:ext>
                </a:extLst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5472000" y="1449000"/>
            <a:ext cx="1080000" cy="360000"/>
          </a:xfrm>
          <a:prstGeom prst="rect">
            <a:avLst/>
          </a:prstGeom>
          <a:noFill/>
        </p:spPr>
        <p:txBody>
          <a:bodyPr wrap="square" lIns="36000" tIns="36000" rIns="36000" bIns="0" rtlCol="0" anchor="ctr" anchorCtr="0">
            <a:noAutofit/>
          </a:bodyPr>
          <a:lstStyle/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Times New Roman" panose="02020603050405020304" pitchFamily="18" charset="0"/>
              </a:rPr>
              <a:t>16 bytes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132000" y="1809000"/>
            <a:ext cx="5760000" cy="360000"/>
          </a:xfrm>
          <a:prstGeom prst="rect">
            <a:avLst/>
          </a:prstGeom>
          <a:noFill/>
        </p:spPr>
        <p:txBody>
          <a:bodyPr wrap="square" lIns="72000" tIns="36000" rIns="72000" bIns="432000" rtlCol="0" anchor="ctr" anchorCtr="0">
            <a:noAutofit/>
          </a:bodyPr>
          <a:lstStyle/>
          <a:p>
            <a:pPr lvl="0" algn="ctr">
              <a:defRPr/>
            </a:pP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</a:t>
            </a:r>
            <a:r>
              <a:rPr lang="en-US" altLang="zh-TW" sz="4000" dirty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</a:t>
            </a:r>
            <a:r>
              <a:rPr lang="en-US" altLang="zh-TW" sz="4000" dirty="0" smtClean="0">
                <a:solidFill>
                  <a:prstClr val="black"/>
                </a:solidFill>
                <a:cs typeface="Times New Roman" panose="02020603050405020304" pitchFamily="18" charset="0"/>
                <a:sym typeface="MT Extra" panose="05050102010205020202" pitchFamily="18" charset="2"/>
              </a:rPr>
              <a:t>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16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Calibri"/>
        <a:ea typeface="新細明體"/>
        <a:cs typeface=""/>
      </a:majorFont>
      <a:minorFont>
        <a:latin typeface="Lucida Console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18497</TotalTime>
  <Words>10621</Words>
  <Application>Microsoft Office PowerPoint</Application>
  <PresentationFormat>如螢幕大小 (4:3)</PresentationFormat>
  <Paragraphs>5322</Paragraphs>
  <Slides>140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140</vt:i4>
      </vt:variant>
    </vt:vector>
  </HeadingPairs>
  <TitlesOfParts>
    <vt:vector size="152" baseType="lpstr">
      <vt:lpstr>細明體</vt:lpstr>
      <vt:lpstr>微軟正黑體</vt:lpstr>
      <vt:lpstr>新細明體</vt:lpstr>
      <vt:lpstr>標楷體</vt:lpstr>
      <vt:lpstr>Arial</vt:lpstr>
      <vt:lpstr>Calibri</vt:lpstr>
      <vt:lpstr>Cambria Math</vt:lpstr>
      <vt:lpstr>Courier New</vt:lpstr>
      <vt:lpstr>Lucida Console</vt:lpstr>
      <vt:lpstr>MT Extra</vt:lpstr>
      <vt:lpstr>Times New Roman</vt:lpstr>
      <vt:lpstr>Office 佈景主題</vt:lpstr>
      <vt:lpstr>Assignment 1</vt:lpstr>
      <vt:lpstr>PowerPoint 簡報</vt:lpstr>
      <vt:lpstr>PowerPoint 簡報</vt:lpstr>
      <vt:lpstr>PowerPoint 簡報</vt:lpstr>
      <vt:lpstr>PowerPoint 簡報</vt:lpstr>
      <vt:lpstr>Fill Constructor</vt:lpstr>
      <vt:lpstr>PowerPoint 簡報</vt:lpstr>
      <vt:lpstr>PowerPoint 簡報</vt:lpstr>
      <vt:lpstr>PowerPoint 簡報</vt:lpstr>
      <vt:lpstr>PowerPoint 簡報</vt:lpstr>
      <vt:lpstr>PowerPoint 簡報</vt:lpstr>
      <vt:lpstr>Copy Constructor</vt:lpstr>
      <vt:lpstr>PowerPoint 簡報</vt:lpstr>
      <vt:lpstr>PowerPoint 簡報</vt:lpstr>
      <vt:lpstr>PowerPoint 簡報</vt:lpstr>
      <vt:lpstr>Insert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Erase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Assignment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Test Copy Constructor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std::deque&lt; char &gt;</vt:lpstr>
      <vt:lpstr>std::deque&lt; short &gt;</vt:lpstr>
      <vt:lpstr>std::deque&lt; long &gt;</vt:lpstr>
      <vt:lpstr>std::deque&lt; long long 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jclin</dc:creator>
  <cp:lastModifiedBy>james</cp:lastModifiedBy>
  <cp:revision>982</cp:revision>
  <dcterms:created xsi:type="dcterms:W3CDTF">2013-03-13T12:22:18Z</dcterms:created>
  <dcterms:modified xsi:type="dcterms:W3CDTF">2024-09-09T02:18:35Z</dcterms:modified>
</cp:coreProperties>
</file>