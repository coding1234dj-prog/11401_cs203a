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7"/>
  </p:notesMasterIdLst>
  <p:sldIdLst>
    <p:sldId id="498" r:id="rId2"/>
    <p:sldId id="904" r:id="rId3"/>
    <p:sldId id="905" r:id="rId4"/>
    <p:sldId id="811" r:id="rId5"/>
    <p:sldId id="812" r:id="rId6"/>
    <p:sldId id="813" r:id="rId7"/>
    <p:sldId id="814" r:id="rId8"/>
    <p:sldId id="815" r:id="rId9"/>
    <p:sldId id="816" r:id="rId10"/>
    <p:sldId id="810" r:id="rId11"/>
    <p:sldId id="817" r:id="rId12"/>
    <p:sldId id="818" r:id="rId13"/>
    <p:sldId id="819" r:id="rId14"/>
    <p:sldId id="820" r:id="rId15"/>
    <p:sldId id="821" r:id="rId16"/>
    <p:sldId id="822" r:id="rId17"/>
    <p:sldId id="823" r:id="rId18"/>
    <p:sldId id="536" r:id="rId19"/>
    <p:sldId id="1006" r:id="rId20"/>
    <p:sldId id="1007" r:id="rId21"/>
    <p:sldId id="1008" r:id="rId22"/>
    <p:sldId id="1010" r:id="rId23"/>
    <p:sldId id="1011" r:id="rId24"/>
    <p:sldId id="1012" r:id="rId25"/>
    <p:sldId id="1013" r:id="rId26"/>
    <p:sldId id="1014" r:id="rId27"/>
    <p:sldId id="1015" r:id="rId28"/>
    <p:sldId id="993" r:id="rId29"/>
    <p:sldId id="906" r:id="rId30"/>
    <p:sldId id="907" r:id="rId31"/>
    <p:sldId id="908" r:id="rId32"/>
    <p:sldId id="984" r:id="rId33"/>
    <p:sldId id="985" r:id="rId34"/>
    <p:sldId id="987" r:id="rId35"/>
    <p:sldId id="988" r:id="rId36"/>
    <p:sldId id="989" r:id="rId37"/>
    <p:sldId id="994" r:id="rId38"/>
    <p:sldId id="995" r:id="rId39"/>
    <p:sldId id="996" r:id="rId40"/>
    <p:sldId id="997" r:id="rId41"/>
    <p:sldId id="999" r:id="rId42"/>
    <p:sldId id="1000" r:id="rId43"/>
    <p:sldId id="1001" r:id="rId44"/>
    <p:sldId id="1002" r:id="rId45"/>
    <p:sldId id="1003" r:id="rId46"/>
    <p:sldId id="1004" r:id="rId47"/>
    <p:sldId id="1005" r:id="rId48"/>
    <p:sldId id="986" r:id="rId49"/>
    <p:sldId id="891" r:id="rId50"/>
    <p:sldId id="892" r:id="rId51"/>
    <p:sldId id="893" r:id="rId52"/>
    <p:sldId id="894" r:id="rId53"/>
    <p:sldId id="1019" r:id="rId54"/>
    <p:sldId id="895" r:id="rId55"/>
    <p:sldId id="896" r:id="rId56"/>
    <p:sldId id="1016" r:id="rId57"/>
    <p:sldId id="897" r:id="rId58"/>
    <p:sldId id="898" r:id="rId59"/>
    <p:sldId id="899" r:id="rId60"/>
    <p:sldId id="900" r:id="rId61"/>
    <p:sldId id="1017" r:id="rId62"/>
    <p:sldId id="901" r:id="rId63"/>
    <p:sldId id="902" r:id="rId64"/>
    <p:sldId id="1018" r:id="rId65"/>
    <p:sldId id="903" r:id="rId6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>
          <p15:clr>
            <a:srgbClr val="A4A3A4"/>
          </p15:clr>
        </p15:guide>
        <p15:guide id="2" pos="51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6600"/>
    <a:srgbClr val="0000FF"/>
    <a:srgbClr val="0000CC"/>
    <a:srgbClr val="CC3300"/>
    <a:srgbClr val="F8F8F8"/>
    <a:srgbClr val="6600FF"/>
    <a:srgbClr val="99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00" autoAdjust="0"/>
    <p:restoredTop sz="93729" autoAdjust="0"/>
  </p:normalViewPr>
  <p:slideViewPr>
    <p:cSldViewPr showGuides="1">
      <p:cViewPr varScale="1">
        <p:scale>
          <a:sx n="93" d="100"/>
          <a:sy n="93" d="100"/>
        </p:scale>
        <p:origin x="106" y="72"/>
      </p:cViewPr>
      <p:guideLst>
        <p:guide orient="horz" pos="2523"/>
        <p:guide pos="514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26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4E28D85-F595-4181-B239-933BCF0ABF38}" type="datetimeFigureOut">
              <a:rPr lang="zh-TW" altLang="en-US"/>
              <a:pPr>
                <a:defRPr/>
              </a:pPr>
              <a:t>2024/9/22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0E0B4EB-5176-41EE-AACE-E0D1EDE3D13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08629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973" y="2708995"/>
            <a:ext cx="7776000" cy="144000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80007" y="2708995"/>
            <a:ext cx="3309993" cy="23040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309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999" y="369000"/>
            <a:ext cx="8280001" cy="61200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999" y="549000"/>
            <a:ext cx="8280001" cy="5220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1" y="189000"/>
            <a:ext cx="7200000" cy="4500000"/>
          </a:xfrm>
        </p:spPr>
        <p:txBody>
          <a:bodyPr lIns="162000" rIns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910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369000"/>
            <a:ext cx="7739999" cy="3960000"/>
          </a:xfrm>
        </p:spPr>
        <p:txBody>
          <a:bodyPr lIns="90000" rIns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9486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369000"/>
            <a:ext cx="7739999" cy="3600000"/>
          </a:xfrm>
        </p:spPr>
        <p:txBody>
          <a:bodyPr lIns="90000" rIns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704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0"/>
            <a:ext cx="7920000" cy="3240000"/>
          </a:xfrm>
        </p:spPr>
        <p:txBody>
          <a:bodyPr lIns="162000" rIns="9000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924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369000"/>
            <a:ext cx="8640000" cy="3960000"/>
          </a:xfrm>
        </p:spPr>
        <p:txBody>
          <a:bodyPr lIns="162000" rIns="9000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6408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369000"/>
            <a:ext cx="7560000" cy="3060000"/>
          </a:xfrm>
        </p:spPr>
        <p:txBody>
          <a:bodyPr lIns="162000" rIns="9000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2442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250825" y="260350"/>
            <a:ext cx="86391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250825" y="1268413"/>
            <a:ext cx="8639175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701" r:id="rId4"/>
    <p:sldLayoutId id="2147483679" r:id="rId5"/>
    <p:sldLayoutId id="2147483680" r:id="rId6"/>
    <p:sldLayoutId id="2147483702" r:id="rId7"/>
    <p:sldLayoutId id="2147483704" r:id="rId8"/>
    <p:sldLayoutId id="2147483705" r:id="rId9"/>
    <p:sldLayoutId id="2147483703" r:id="rId10"/>
    <p:sldLayoutId id="2147483707" r:id="rId11"/>
    <p:sldLayoutId id="2147483706" r:id="rId12"/>
    <p:sldLayoutId id="2147483684" r:id="rId13"/>
    <p:sldLayoutId id="2147483685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pitchFamily="18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pitchFamily="18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pitchFamily="18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2060"/>
          </a:solidFill>
          <a:latin typeface="Times New Roman" pitchFamily="18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itchFamily="18" charset="0"/>
          <a:ea typeface="標楷體" pitchFamily="65" charset="-120"/>
        </a:defRPr>
      </a:lvl9pPr>
    </p:titleStyle>
    <p:bodyStyle>
      <a:lvl1pPr marL="358775" indent="-3587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587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79500" indent="-3587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39863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9863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3"/>
          <p:cNvSpPr>
            <a:spLocks noGrp="1"/>
          </p:cNvSpPr>
          <p:nvPr>
            <p:ph type="ctrTitle"/>
          </p:nvPr>
        </p:nvSpPr>
        <p:spPr>
          <a:xfrm>
            <a:off x="684213" y="2132013"/>
            <a:ext cx="7775575" cy="1441450"/>
          </a:xfrm>
        </p:spPr>
        <p:txBody>
          <a:bodyPr/>
          <a:lstStyle/>
          <a:p>
            <a:r>
              <a:rPr lang="en-US" altLang="zh-TW" dirty="0" err="1"/>
              <a:t>priority_queue</a:t>
            </a:r>
            <a:endParaRPr lang="zh-TW" altLang="en-US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Container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&gt;,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less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Container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&gt;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priority_queue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Container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const_reference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Container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const_reference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using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Container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priority_queue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default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priority_queue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: c(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),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comp()</a:t>
            </a: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empty()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8414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size()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const_reference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top()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c.front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push(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pop()</a:t>
            </a: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1200"/>
              </a:spcBef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protected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Container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c{};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comp{};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338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內容版面配置區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push(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count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count, 0,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478298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zh-TW" altLang="en-US" dirty="0"/>
          </a:p>
        </p:txBody>
      </p:sp>
      <p:cxnSp>
        <p:nvCxnSpPr>
          <p:cNvPr id="32" name="直線接點 31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4" name="直線接點 33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5" name="橢圓 34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6" name="直線接點 35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7" name="橢圓 36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count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880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接點 30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19" name="內容版面配置區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push(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count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count, 0,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841299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 flipV="1">
            <a:off x="313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zh-TW" altLang="en-US" dirty="0"/>
          </a:p>
        </p:txBody>
      </p:sp>
      <p:cxnSp>
        <p:nvCxnSpPr>
          <p:cNvPr id="32" name="直線接點 31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4" name="直線接點 33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5" name="橢圓 34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6" name="直線接點 35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7" name="橢圓 36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count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7849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接點 30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19" name="內容版面配置區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push(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count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count, 0,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588173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 flipV="1">
            <a:off x="313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zh-TW" altLang="en-US" dirty="0"/>
          </a:p>
        </p:txBody>
      </p:sp>
      <p:cxnSp>
        <p:nvCxnSpPr>
          <p:cNvPr id="32" name="直線接點 31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4" name="直線接點 33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5" name="橢圓 34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6" name="直線接點 35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7" name="橢圓 36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count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8461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接點 30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19" name="內容版面配置區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push(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count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count, 0,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193404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zh-TW" altLang="en-US" dirty="0"/>
          </a:p>
        </p:txBody>
      </p:sp>
      <p:cxnSp>
        <p:nvCxnSpPr>
          <p:cNvPr id="32" name="直線接點 31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4" name="直線接點 33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5" name="橢圓 34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6" name="直線接點 35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7" name="橢圓 36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count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3214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接點 30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19" name="內容版面配置區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push(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count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count, 0,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488105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21</a:t>
            </a:r>
            <a:endParaRPr lang="zh-TW" altLang="en-US" dirty="0"/>
          </a:p>
        </p:txBody>
      </p:sp>
      <p:cxnSp>
        <p:nvCxnSpPr>
          <p:cNvPr id="32" name="直線接點 31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4" name="直線接點 33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5" name="橢圓 34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6" name="直線接點 35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7" name="橢圓 36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count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3870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接點 30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40" name="橢圓 39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19" name="內容版面配置區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push(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count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count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--count;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count, 0,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250747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3" name="直線單箭頭接點 22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7" name="直線單箭頭接點 26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21</a:t>
            </a:r>
            <a:endParaRPr lang="zh-TW" altLang="en-US" dirty="0"/>
          </a:p>
        </p:txBody>
      </p:sp>
      <p:cxnSp>
        <p:nvCxnSpPr>
          <p:cNvPr id="32" name="直線接點 31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直線接點 32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4" name="直線接點 33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5" name="橢圓 34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6" name="直線接點 35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7" name="橢圓 36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>
                <a:solidFill>
                  <a:prstClr val="black"/>
                </a:solidFill>
                <a:latin typeface="Lucida Console" panose="020B0609040504020204" pitchFamily="49" charset="0"/>
              </a:rPr>
              <a:t>count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257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91062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21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21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529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9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7272000" y="4869000"/>
            <a:ext cx="36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lvl="0" algn="ctr"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992000" y="594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012000" y="3069000"/>
            <a:ext cx="2700000" cy="720000"/>
          </a:xfrm>
          <a:prstGeom prst="rect">
            <a:avLst/>
          </a:prstGeom>
          <a:noFill/>
        </p:spPr>
        <p:txBody>
          <a:bodyPr wrap="none" lIns="90000" tIns="46800" rIns="90000" bIns="46800" anchor="t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en-US" altLang="zh-TW" sz="16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r>
              <a:rPr kumimoji="0" lang="en-US" altLang="zh-TW" kern="100" dirty="0">
                <a:solidFill>
                  <a:srgbClr val="008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2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589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005691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21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rgbClr val="FFFF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21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529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9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7272000" y="4869000"/>
            <a:ext cx="36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lvl="0" algn="ctr"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45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algn="r">
              <a:defRPr/>
            </a:pPr>
            <a:r>
              <a:rPr lang="en-US" altLang="zh-TW" sz="16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7992000" y="594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012000" y="3069000"/>
            <a:ext cx="2700000" cy="720000"/>
          </a:xfrm>
          <a:prstGeom prst="rect">
            <a:avLst/>
          </a:prstGeom>
          <a:noFill/>
        </p:spPr>
        <p:txBody>
          <a:bodyPr wrap="none" lIns="90000" tIns="46800" rIns="90000" bIns="46800" anchor="t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en-US" altLang="zh-TW" sz="16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r>
              <a:rPr kumimoji="0" lang="en-US" altLang="zh-TW" kern="100" dirty="0">
                <a:solidFill>
                  <a:srgbClr val="008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2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0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118673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21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rgbClr val="FFFF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21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529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9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7272000" y="4869000"/>
            <a:ext cx="36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lvl="0" algn="ctr"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45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algn="r">
              <a:defRPr/>
            </a:pPr>
            <a:r>
              <a:rPr lang="en-US" altLang="zh-TW" sz="16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7992000" y="594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012000" y="3069000"/>
            <a:ext cx="2700000" cy="720000"/>
          </a:xfrm>
          <a:prstGeom prst="rect">
            <a:avLst/>
          </a:prstGeom>
          <a:noFill/>
        </p:spPr>
        <p:txBody>
          <a:bodyPr wrap="none" lIns="90000" tIns="46800" rIns="90000" bIns="46800" anchor="t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en-US" altLang="zh-TW" sz="16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r>
              <a:rPr kumimoji="0" lang="en-US" altLang="zh-TW" kern="100" dirty="0">
                <a:solidFill>
                  <a:srgbClr val="008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2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192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668038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21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21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529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9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7272000" y="4869000"/>
            <a:ext cx="36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lvl="0" algn="ctr"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45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algn="r">
              <a:defRPr/>
            </a:pPr>
            <a:r>
              <a:rPr lang="en-US" altLang="zh-TW" sz="16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338582" y="522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012000" y="3069000"/>
            <a:ext cx="2700000" cy="720000"/>
          </a:xfrm>
          <a:prstGeom prst="rect">
            <a:avLst/>
          </a:prstGeom>
          <a:noFill/>
        </p:spPr>
        <p:txBody>
          <a:bodyPr wrap="none" lIns="90000" tIns="46800" rIns="90000" bIns="46800" anchor="t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en-US" altLang="zh-TW" sz="16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r>
              <a:rPr kumimoji="0" lang="en-US" altLang="zh-TW" kern="100" dirty="0">
                <a:solidFill>
                  <a:srgbClr val="008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2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565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003407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21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FFFF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21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529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9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7272000" y="4869000"/>
            <a:ext cx="36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lvl="0" algn="ctr"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732000" y="450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algn="r">
              <a:defRPr/>
            </a:pPr>
            <a:r>
              <a:rPr lang="en-US" altLang="zh-TW" sz="16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338582" y="522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012000" y="3069000"/>
            <a:ext cx="2700000" cy="720000"/>
          </a:xfrm>
          <a:prstGeom prst="rect">
            <a:avLst/>
          </a:prstGeom>
          <a:noFill/>
        </p:spPr>
        <p:txBody>
          <a:bodyPr wrap="none" lIns="90000" tIns="46800" rIns="90000" bIns="46800" anchor="t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en-US" altLang="zh-TW" sz="16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r>
              <a:rPr kumimoji="0" lang="en-US" altLang="zh-TW" kern="100" dirty="0">
                <a:solidFill>
                  <a:srgbClr val="008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2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409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110427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21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FFFF0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21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529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9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7272000" y="4869000"/>
            <a:ext cx="36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lvl="0" algn="ctr"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732000" y="450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algn="r">
              <a:defRPr/>
            </a:pPr>
            <a:r>
              <a:rPr lang="en-US" altLang="zh-TW" sz="16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338582" y="522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012000" y="3069000"/>
            <a:ext cx="2700000" cy="720000"/>
          </a:xfrm>
          <a:prstGeom prst="rect">
            <a:avLst/>
          </a:prstGeom>
          <a:noFill/>
        </p:spPr>
        <p:txBody>
          <a:bodyPr wrap="none" lIns="90000" tIns="46800" rIns="90000" bIns="46800" anchor="t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en-US" altLang="zh-TW" sz="16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r>
              <a:rPr kumimoji="0" lang="en-US" altLang="zh-TW" kern="100" dirty="0">
                <a:solidFill>
                  <a:srgbClr val="008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2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999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024696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21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21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529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9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7272000" y="4869000"/>
            <a:ext cx="36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lvl="0" algn="ctr"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732000" y="450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algn="r">
              <a:defRPr/>
            </a:pPr>
            <a:r>
              <a:rPr lang="en-US" altLang="zh-TW" sz="16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012000" y="3069000"/>
            <a:ext cx="2700000" cy="720000"/>
          </a:xfrm>
          <a:prstGeom prst="rect">
            <a:avLst/>
          </a:prstGeom>
          <a:noFill/>
        </p:spPr>
        <p:txBody>
          <a:bodyPr wrap="none" lIns="90000" tIns="46800" rIns="90000" bIns="46800" anchor="t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en-US" altLang="zh-TW" sz="16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r>
              <a:rPr kumimoji="0" lang="en-US" altLang="zh-TW" kern="100" dirty="0">
                <a:solidFill>
                  <a:srgbClr val="008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2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60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pushHeapByIndex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top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049519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40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val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04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21</a:t>
            </a:r>
            <a:endParaRPr lang="zh-TW" altLang="en-US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032000" y="540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12000" y="504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21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5292000" y="432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>
              <a:defRPr/>
            </a:pPr>
            <a:r>
              <a:rPr lang="en-US" altLang="zh-TW" sz="1600" dirty="0" err="1" smtClean="0">
                <a:solidFill>
                  <a:prstClr val="black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292000" y="396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7272000" y="4869000"/>
            <a:ext cx="36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lvl="0" algn="ctr"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top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732000" y="450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algn="r">
              <a:defRPr/>
            </a:pPr>
            <a:r>
              <a:rPr lang="en-US" altLang="zh-TW" sz="16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012000" y="3069000"/>
            <a:ext cx="2700000" cy="720000"/>
          </a:xfrm>
          <a:prstGeom prst="rect">
            <a:avLst/>
          </a:prstGeom>
          <a:noFill/>
        </p:spPr>
        <p:txBody>
          <a:bodyPr wrap="none" lIns="90000" tIns="46800" rIns="90000" bIns="46800" anchor="t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en-US" altLang="zh-TW" sz="16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r>
              <a:rPr kumimoji="0" lang="en-US" altLang="zh-TW" kern="100" dirty="0">
                <a:solidFill>
                  <a:srgbClr val="008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kumimoji="0" lang="en-US" altLang="zh-TW" sz="2000" kern="100" dirty="0">
                <a:solidFill>
                  <a:srgbClr val="008000"/>
                </a:solidFill>
                <a:latin typeface="Times New Roman" panose="02020603050405020304" pitchFamily="18" charset="0"/>
              </a:rPr>
              <a:t> 2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051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2"/>
          <p:cNvSpPr>
            <a:spLocks noGrp="1"/>
          </p:cNvSpPr>
          <p:nvPr>
            <p:ph type="ctrTitle"/>
          </p:nvPr>
        </p:nvSpPr>
        <p:spPr>
          <a:xfrm>
            <a:off x="395971" y="2132013"/>
            <a:ext cx="8352058" cy="1441450"/>
          </a:xfrm>
        </p:spPr>
        <p:txBody>
          <a:bodyPr/>
          <a:lstStyle/>
          <a:p>
            <a:r>
              <a:rPr lang="en-US" altLang="zh-TW" sz="4800" dirty="0" smtClean="0"/>
              <a:t>pop</a:t>
            </a:r>
            <a:endParaRPr lang="zh-TW" altLang="en-US" sz="4800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pop()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225726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V="1">
            <a:off x="313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511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pop()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461465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669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線接點 29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31" name="橢圓 30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pop()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71700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184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937848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20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937848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01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152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937848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45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076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374215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45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558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374215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8352000" y="522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745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7496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684952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8352000" y="522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745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193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388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pop()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661797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16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V="1">
            <a:off x="313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837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pop()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365123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  <a:endParaRPr lang="zh-TW" altLang="en-US" sz="1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968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接點 30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34" name="文字方塊 3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pop()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463213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  <a:endParaRPr lang="zh-TW" altLang="en-US" sz="1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467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058062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 smtClean="0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smtClean="0">
                <a:solidFill>
                  <a:srgbClr val="008000"/>
                </a:solidFill>
                <a:latin typeface="Times New Roman" panose="02020603050405020304" pitchFamily="18" charset="0"/>
              </a:rPr>
              <a:t>child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425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058062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 smtClean="0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smtClean="0">
                <a:solidFill>
                  <a:srgbClr val="008000"/>
                </a:solidFill>
                <a:latin typeface="Times New Roman" panose="02020603050405020304" pitchFamily="18" charset="0"/>
              </a:rPr>
              <a:t>child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1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3241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172917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 smtClean="0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smtClean="0">
                <a:solidFill>
                  <a:srgbClr val="008000"/>
                </a:solidFill>
                <a:latin typeface="Times New Roman" panose="02020603050405020304" pitchFamily="18" charset="0"/>
              </a:rPr>
              <a:t>child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1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255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023428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912000" y="522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 smtClean="0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smtClean="0">
                <a:solidFill>
                  <a:srgbClr val="008000"/>
                </a:solidFill>
                <a:latin typeface="Times New Roman" panose="02020603050405020304" pitchFamily="18" charset="0"/>
              </a:rPr>
              <a:t>child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1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2572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434154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16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18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912000" y="522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16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18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>
              <a:defRPr/>
            </a:pP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hole == </a:t>
            </a:r>
            <a:r>
              <a:rPr kumimoji="0" lang="en-US" altLang="zh-TW" sz="2000" i="1" kern="100" dirty="0" err="1" smtClean="0">
                <a:solidFill>
                  <a:srgbClr val="008000"/>
                </a:solidFill>
                <a:latin typeface="Times New Roman" panose="02020603050405020304" pitchFamily="18" charset="0"/>
              </a:rPr>
              <a:t>currentNode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>
              <a:defRPr/>
            </a:pPr>
            <a:r>
              <a:rPr lang="en-US" altLang="zh-TW" sz="1600" dirty="0" err="1" smtClean="0">
                <a:solidFill>
                  <a:srgbClr val="008000"/>
                </a:solidFill>
                <a:latin typeface="Lucida Console" panose="020B0609040504020204" pitchFamily="49" charset="0"/>
              </a:rPr>
              <a:t>idx</a:t>
            </a:r>
            <a:r>
              <a:rPr lang="en-US" altLang="zh-TW" sz="16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== </a:t>
            </a:r>
            <a:r>
              <a:rPr kumimoji="0" lang="en-US" altLang="zh-TW" sz="2000" i="1" kern="100" dirty="0" smtClean="0">
                <a:solidFill>
                  <a:srgbClr val="008000"/>
                </a:solidFill>
                <a:latin typeface="Times New Roman" panose="02020603050405020304" pitchFamily="18" charset="0"/>
              </a:rPr>
              <a:t>child</a:t>
            </a:r>
            <a:endParaRPr lang="zh-TW" altLang="en-US" sz="1600" dirty="0">
              <a:solidFill>
                <a:srgbClr val="008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1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476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714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pop()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V="1">
            <a:off x="313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797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pop()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4" name="直線接點 3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5" name="橢圓 4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912868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860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線接點 31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33" name="橢圓 32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pop()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</a:pPr>
            <a:endParaRPr lang="en-US" altLang="zh-TW" dirty="0" smtClean="0">
              <a:solidFill>
                <a:prstClr val="black"/>
              </a:solidFill>
            </a:endParaRP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&gt;= 2 )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--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0,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/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  <a:p>
            <a:pPr lvl="0">
              <a:spcBef>
                <a:spcPts val="0"/>
              </a:spcBef>
            </a:pPr>
            <a:endParaRPr lang="zh-TW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573711"/>
              </p:ext>
            </p:extLst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sz="1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77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H="1" flipV="1">
            <a:off x="2952000" y="5409000"/>
            <a:ext cx="18000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7" name="直線接點 16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8" name="直線接點 17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9" name="橢圓 18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1" name="橢圓 20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939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717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21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21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01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406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632000" y="45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01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95875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912000" y="522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1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1912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rgbClr val="00B0F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912000" y="522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1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3595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1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5283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lIns="90000"/>
          <a:lstStyle/>
          <a:p>
            <a:pPr lvl="0"/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hole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   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bottom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prstClr val="black"/>
              </a:solidFill>
            </a:endParaRPr>
          </a:p>
        </p:txBody>
      </p:sp>
      <p:cxnSp>
        <p:nvCxnSpPr>
          <p:cNvPr id="3" name="直線接點 2"/>
          <p:cNvCxnSpPr/>
          <p:nvPr/>
        </p:nvCxnSpPr>
        <p:spPr>
          <a:xfrm flipH="1">
            <a:off x="781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</p:cxnSp>
      <p:sp>
        <p:nvSpPr>
          <p:cNvPr id="4" name="文字方塊 3"/>
          <p:cNvSpPr txBox="1"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63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972000" y="468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18000" anchor="ctr" anchorCtr="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792000" y="612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2000" y="576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152000" y="540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529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9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732002" y="5409000"/>
            <a:ext cx="359998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線接點 13"/>
          <p:cNvCxnSpPr/>
          <p:nvPr/>
        </p:nvCxnSpPr>
        <p:spPr>
          <a:xfrm flipH="1">
            <a:off x="6372000" y="5409000"/>
            <a:ext cx="360001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線接點 14"/>
          <p:cNvCxnSpPr/>
          <p:nvPr/>
        </p:nvCxnSpPr>
        <p:spPr>
          <a:xfrm>
            <a:off x="745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橢圓 15"/>
          <p:cNvSpPr/>
          <p:nvPr/>
        </p:nvSpPr>
        <p:spPr>
          <a:xfrm>
            <a:off x="6912000" y="5949000"/>
            <a:ext cx="360000" cy="360000"/>
          </a:xfrm>
          <a:prstGeom prst="ellipse">
            <a:avLst/>
          </a:prstGeom>
          <a:solidFill>
            <a:sysClr val="window" lastClr="FFFFFF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17" name="直線接點 16"/>
          <p:cNvCxnSpPr/>
          <p:nvPr/>
        </p:nvCxnSpPr>
        <p:spPr>
          <a:xfrm flipH="1">
            <a:off x="6732000" y="4689000"/>
            <a:ext cx="720000" cy="7200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8" name="橢圓 17"/>
          <p:cNvSpPr/>
          <p:nvPr/>
        </p:nvSpPr>
        <p:spPr>
          <a:xfrm>
            <a:off x="727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20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92000" y="5949000"/>
            <a:ext cx="360000" cy="360000"/>
          </a:xfrm>
          <a:prstGeom prst="ellipse">
            <a:avLst/>
          </a:prstGeom>
          <a:solidFill>
            <a:srgbClr val="92D050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272000" y="414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55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9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9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912000" y="5589000"/>
            <a:ext cx="360000" cy="360000"/>
          </a:xfrm>
          <a:prstGeom prst="rect">
            <a:avLst/>
          </a:prstGeom>
          <a:noFill/>
        </p:spPr>
        <p:txBody>
          <a:bodyPr wrap="none" lIns="0" tIns="0" rIns="0" bIns="18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新細明體" pitchFamily="18" charset="-120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032000" y="486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21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292000" y="4869000"/>
            <a:ext cx="36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92000" y="450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85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21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655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14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anchor="b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15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6192000" y="2889000"/>
            <a:ext cx="2520000" cy="360000"/>
          </a:xfrm>
          <a:prstGeom prst="rect">
            <a:avLst/>
          </a:prstGeom>
          <a:noFill/>
        </p:spPr>
        <p:txBody>
          <a:bodyPr wrap="none" lIns="90000" tIns="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 == </a:t>
            </a:r>
            <a:r>
              <a:rPr kumimoji="0" lang="en-US" altLang="zh-TW" sz="2000" b="0" i="1" u="none" strike="noStrike" kern="1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currentNode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7092000" y="3249000"/>
            <a:ext cx="1620000" cy="540000"/>
          </a:xfrm>
          <a:prstGeom prst="rect">
            <a:avLst/>
          </a:prstGeom>
          <a:noFill/>
        </p:spPr>
        <p:txBody>
          <a:bodyPr wrap="none" lIns="90000" tIns="46800" rIns="90000" bIns="468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 == </a:t>
            </a:r>
            <a:r>
              <a:rPr kumimoji="0" lang="en-US" altLang="zh-TW" sz="2000" b="0" i="1" u="none" strike="noStrike" kern="100" cap="none" spc="0" normalizeH="0" baseline="0" noProof="0" dirty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+mn-cs"/>
              </a:rPr>
              <a:t>child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1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1385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3394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priority_queue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Init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: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),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comp()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MyNamespace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c.begin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c.end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(), comp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13210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1747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1862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1999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1753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1815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474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1815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1999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1978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1839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1724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1954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44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63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1816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181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1908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000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1724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1839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1954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44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63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1816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1816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1908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230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951816" y="558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ct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91110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7404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691816" y="522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91110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6974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691816" y="522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91110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19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6005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691816" y="522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91110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19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187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7229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691816" y="522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488900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19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4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187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32904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52000" y="522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488900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3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860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52000" y="522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488900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115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0297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52000" y="522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600059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3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1152000" y="630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0117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772000" y="450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600059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77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2952000" y="558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5999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772000" y="450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600059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77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3672000" y="5589000"/>
            <a:ext cx="72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54784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72000" y="450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600059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3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1810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72000" y="450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600059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1872000" y="522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80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72000" y="450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52111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5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36985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72000" y="360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52111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26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1152000" y="450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9464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72000" y="360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52111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26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2952000" y="4509000"/>
            <a:ext cx="540000" cy="360000"/>
          </a:xfrm>
          <a:prstGeom prst="rect">
            <a:avLst/>
          </a:prstGeom>
          <a:noFill/>
        </p:spPr>
        <p:txBody>
          <a:bodyPr wrap="none" lIns="90000" tIns="0" rIns="90000" bIns="0" anchor="ctr" anchorCtr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idx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4563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template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inline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make_heap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Pr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bottom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last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ptrdiff_t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hole = bottom / 2;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hole &gt; 0 )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--hole;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typename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RanIt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::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value_type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*(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hole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popHeapHoleByIndex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first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hole, bottom,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val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 err="1">
                <a:solidFill>
                  <a:srgbClr val="808080"/>
                </a:solidFill>
                <a:ea typeface="細明體" panose="02020509000000000000" pitchFamily="49" charset="-120"/>
              </a:rPr>
              <a:t>pred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H="1">
            <a:off x="1872023" y="3788793"/>
            <a:ext cx="900109" cy="900119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H="1" flipV="1">
            <a:off x="2772138" y="3788793"/>
            <a:ext cx="900116" cy="900116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1152275" y="4688913"/>
            <a:ext cx="719753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872029" y="4688913"/>
            <a:ext cx="720247" cy="7200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792091" y="5409033"/>
            <a:ext cx="359657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1151750" y="5409033"/>
            <a:ext cx="360342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2232091" y="5409033"/>
            <a:ext cx="359849" cy="71996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3312275" y="4688909"/>
            <a:ext cx="359977" cy="720092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3672254" y="4688907"/>
            <a:ext cx="360022" cy="720093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2592115" y="360877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77</a:t>
            </a:r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169200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61</a:t>
            </a:r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492230" y="4508885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59</a:t>
            </a: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971724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48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411908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19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132000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11</a:t>
            </a: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3852092" y="522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12092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15</a:t>
            </a: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1332184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052276" y="5949000"/>
            <a:ext cx="360000" cy="36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lIns="0" tIns="0" rIns="0" bIns="0" anchor="b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69200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1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592115" y="324872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0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492230" y="4148839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2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971724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3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411908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4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132000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5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3852092" y="486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6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612092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7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1332184" y="5588954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8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2052506" y="5588885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18000" anchor="b" anchorCtr="1"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+mn-lt"/>
              </a:rPr>
              <a:t>9</a:t>
            </a:r>
            <a:endParaRPr lang="en-US" altLang="zh-TW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72000" y="3609000"/>
            <a:ext cx="720000" cy="360000"/>
          </a:xfrm>
          <a:prstGeom prst="rect">
            <a:avLst/>
          </a:prstGeom>
        </p:spPr>
        <p:txBody>
          <a:bodyPr wrap="none" tIns="0" bIns="0" anchor="ctr" anchorCtr="0">
            <a:noAutofit/>
          </a:bodyPr>
          <a:lstStyle/>
          <a:p>
            <a:pPr algn="r"/>
            <a:r>
              <a:rPr lang="en-US" altLang="zh-TW" sz="1600" kern="0" dirty="0" smtClean="0">
                <a:solidFill>
                  <a:srgbClr val="FF0000"/>
                </a:solidFill>
                <a:latin typeface="Lucida Console" panose="020B0609040504020204" pitchFamily="49" charset="0"/>
                <a:ea typeface="新細明體"/>
                <a:cs typeface="Times New Roman" panose="02020603050405020304" pitchFamily="18" charset="0"/>
              </a:rPr>
              <a:t>hole</a:t>
            </a:r>
            <a:endParaRPr lang="zh-TW" altLang="en-US" sz="1600" dirty="0">
              <a:solidFill>
                <a:srgbClr val="FF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588210"/>
              </p:ext>
            </p:extLst>
          </p:nvPr>
        </p:nvGraphicFramePr>
        <p:xfrm>
          <a:off x="4752000" y="342900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0268982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472724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792968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4424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26493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0768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564240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64024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814384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16330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447135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2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3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4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5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6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7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8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9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+mn-lt"/>
                        </a:rPr>
                        <a:t>10</a:t>
                      </a:r>
                      <a:endParaRPr lang="zh-TW" altLang="en-US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5438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77</a:t>
                      </a:r>
                    </a:p>
                  </a:txBody>
                  <a:tcPr marL="0" marR="0" marT="18000" marB="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61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48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26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0" marR="0" marT="18000" marB="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41889"/>
                  </a:ext>
                </a:extLst>
              </a:tr>
            </a:tbl>
          </a:graphicData>
        </a:graphic>
      </p:graphicFrame>
      <p:sp>
        <p:nvSpPr>
          <p:cNvPr id="35" name="文字方塊 34"/>
          <p:cNvSpPr txBox="1"/>
          <p:nvPr/>
        </p:nvSpPr>
        <p:spPr>
          <a:xfrm>
            <a:off x="45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first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49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8172000" y="4869000"/>
            <a:ext cx="72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last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352000" y="450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cxnSp>
        <p:nvCxnSpPr>
          <p:cNvPr id="40" name="直線單箭頭接點 39"/>
          <p:cNvCxnSpPr/>
          <p:nvPr/>
        </p:nvCxnSpPr>
        <p:spPr>
          <a:xfrm flipV="1">
            <a:off x="8532000" y="414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272000" y="5949000"/>
            <a:ext cx="1080000" cy="36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bottom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63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10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6552000" y="5949000"/>
            <a:ext cx="360000" cy="360000"/>
          </a:xfrm>
          <a:prstGeom prst="rect">
            <a:avLst/>
          </a:prstGeom>
          <a:noFill/>
        </p:spPr>
        <p:txBody>
          <a:bodyPr wrap="none" lIns="36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val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52000" y="5589000"/>
            <a:ext cx="360000" cy="36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26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292000" y="5949000"/>
            <a:ext cx="720000" cy="360000"/>
          </a:xfrm>
          <a:prstGeom prst="rect">
            <a:avLst/>
          </a:prstGeom>
          <a:noFill/>
        </p:spPr>
        <p:txBody>
          <a:bodyPr wrap="none" lIns="1800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hole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72000" y="5589000"/>
            <a:ext cx="360000" cy="36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0</a:t>
            </a: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917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17613</TotalTime>
  <Words>5952</Words>
  <Application>Microsoft Office PowerPoint</Application>
  <PresentationFormat>如螢幕大小 (4:3)</PresentationFormat>
  <Paragraphs>3139</Paragraphs>
  <Slides>65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65</vt:i4>
      </vt:variant>
    </vt:vector>
  </HeadingPairs>
  <TitlesOfParts>
    <vt:vector size="75" baseType="lpstr">
      <vt:lpstr>細明體</vt:lpstr>
      <vt:lpstr>新細明體</vt:lpstr>
      <vt:lpstr>標楷體</vt:lpstr>
      <vt:lpstr>Arial</vt:lpstr>
      <vt:lpstr>Calibri</vt:lpstr>
      <vt:lpstr>Cambria Math</vt:lpstr>
      <vt:lpstr>Courier New</vt:lpstr>
      <vt:lpstr>Lucida Console</vt:lpstr>
      <vt:lpstr>Times New Roman</vt:lpstr>
      <vt:lpstr>Office 佈景主題</vt:lpstr>
      <vt:lpstr>priority_queue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pop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CS235102  Data Structures</dc:title>
  <dc:creator>Gary</dc:creator>
  <cp:lastModifiedBy>james</cp:lastModifiedBy>
  <cp:revision>3428</cp:revision>
  <dcterms:created xsi:type="dcterms:W3CDTF">2005-03-20T09:13:01Z</dcterms:created>
  <dcterms:modified xsi:type="dcterms:W3CDTF">2024-09-22T12:56:33Z</dcterms:modified>
</cp:coreProperties>
</file>