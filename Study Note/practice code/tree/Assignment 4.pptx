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9"/>
  </p:notesMasterIdLst>
  <p:sldIdLst>
    <p:sldId id="256" r:id="rId2"/>
    <p:sldId id="528" r:id="rId3"/>
    <p:sldId id="531" r:id="rId4"/>
    <p:sldId id="530" r:id="rId5"/>
    <p:sldId id="529" r:id="rId6"/>
    <p:sldId id="568" r:id="rId7"/>
    <p:sldId id="566" r:id="rId8"/>
    <p:sldId id="567" r:id="rId9"/>
    <p:sldId id="537" r:id="rId10"/>
    <p:sldId id="553" r:id="rId11"/>
    <p:sldId id="554" r:id="rId12"/>
    <p:sldId id="532" r:id="rId13"/>
    <p:sldId id="538" r:id="rId14"/>
    <p:sldId id="565" r:id="rId15"/>
    <p:sldId id="491" r:id="rId16"/>
    <p:sldId id="496" r:id="rId17"/>
    <p:sldId id="497" r:id="rId18"/>
    <p:sldId id="498" r:id="rId19"/>
    <p:sldId id="575" r:id="rId20"/>
    <p:sldId id="574" r:id="rId21"/>
    <p:sldId id="569" r:id="rId22"/>
    <p:sldId id="589" r:id="rId23"/>
    <p:sldId id="590" r:id="rId24"/>
    <p:sldId id="591" r:id="rId25"/>
    <p:sldId id="562" r:id="rId26"/>
    <p:sldId id="588" r:id="rId27"/>
    <p:sldId id="586" r:id="rId28"/>
    <p:sldId id="549" r:id="rId29"/>
    <p:sldId id="552" r:id="rId30"/>
    <p:sldId id="587" r:id="rId31"/>
    <p:sldId id="536" r:id="rId32"/>
    <p:sldId id="501" r:id="rId33"/>
    <p:sldId id="523" r:id="rId34"/>
    <p:sldId id="540" r:id="rId35"/>
    <p:sldId id="541" r:id="rId36"/>
    <p:sldId id="539" r:id="rId37"/>
    <p:sldId id="542" r:id="rId38"/>
    <p:sldId id="545" r:id="rId39"/>
    <p:sldId id="544" r:id="rId40"/>
    <p:sldId id="527" r:id="rId41"/>
    <p:sldId id="543" r:id="rId42"/>
    <p:sldId id="551" r:id="rId43"/>
    <p:sldId id="512" r:id="rId44"/>
    <p:sldId id="513" r:id="rId45"/>
    <p:sldId id="550" r:id="rId46"/>
    <p:sldId id="514" r:id="rId47"/>
    <p:sldId id="515" r:id="rId48"/>
    <p:sldId id="516" r:id="rId49"/>
    <p:sldId id="518" r:id="rId50"/>
    <p:sldId id="517" r:id="rId51"/>
    <p:sldId id="519" r:id="rId52"/>
    <p:sldId id="520" r:id="rId53"/>
    <p:sldId id="521" r:id="rId54"/>
    <p:sldId id="522" r:id="rId55"/>
    <p:sldId id="563" r:id="rId56"/>
    <p:sldId id="579" r:id="rId57"/>
    <p:sldId id="580" r:id="rId58"/>
    <p:sldId id="581" r:id="rId59"/>
    <p:sldId id="582" r:id="rId60"/>
    <p:sldId id="583" r:id="rId61"/>
    <p:sldId id="584" r:id="rId62"/>
    <p:sldId id="585" r:id="rId63"/>
    <p:sldId id="570" r:id="rId64"/>
    <p:sldId id="571" r:id="rId65"/>
    <p:sldId id="572" r:id="rId66"/>
    <p:sldId id="573" r:id="rId67"/>
    <p:sldId id="564" r:id="rId68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>
          <p15:clr>
            <a:srgbClr val="A4A3A4"/>
          </p15:clr>
        </p15:guide>
        <p15:guide id="2" pos="16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000"/>
    <a:srgbClr val="0000FF"/>
    <a:srgbClr val="FF99FF"/>
    <a:srgbClr val="006600"/>
    <a:srgbClr val="960000"/>
    <a:srgbClr val="F8F8F8"/>
    <a:srgbClr val="6600FF"/>
    <a:srgbClr val="99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00" autoAdjust="0"/>
    <p:restoredTop sz="98558" autoAdjust="0"/>
  </p:normalViewPr>
  <p:slideViewPr>
    <p:cSldViewPr>
      <p:cViewPr varScale="1">
        <p:scale>
          <a:sx n="93" d="100"/>
          <a:sy n="93" d="100"/>
        </p:scale>
        <p:origin x="163" y="72"/>
      </p:cViewPr>
      <p:guideLst>
        <p:guide orient="horz" pos="2795"/>
        <p:guide pos="161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2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9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29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9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9FB4328B-1A96-43A5-9185-2783A89ED2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40614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14584E2-497E-40A3-8704-6D55C13B1AA5}" type="slidenum">
              <a:rPr lang="en-US" altLang="zh-TW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TW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>
              <a:ea typeface="新細明體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2000" y="2709000"/>
            <a:ext cx="8280000" cy="144018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806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971" y="404978"/>
            <a:ext cx="8352058" cy="604804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9771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7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600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57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03090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8280000" cy="612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4473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15344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39971" y="404979"/>
            <a:ext cx="8064057" cy="60480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5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95997" y="548980"/>
            <a:ext cx="4608032" cy="720005"/>
          </a:xfrm>
        </p:spPr>
        <p:txBody>
          <a:bodyPr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97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3780000" cy="342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4932000" y="1449389"/>
            <a:ext cx="3780200" cy="341961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872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2169000"/>
            <a:ext cx="5760000" cy="414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8013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140000" cy="1260000"/>
          </a:xfrm>
        </p:spPr>
        <p:txBody>
          <a:bodyPr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2169000"/>
            <a:ext cx="4680000" cy="414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564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970" y="260978"/>
            <a:ext cx="8352059" cy="720005"/>
          </a:xfrm>
        </p:spPr>
        <p:txBody>
          <a:bodyPr>
            <a:no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251970" y="3140998"/>
            <a:ext cx="8640060" cy="3312024"/>
          </a:xfrm>
        </p:spPr>
        <p:txBody>
          <a:bodyPr wrap="none"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66489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970" y="260978"/>
            <a:ext cx="8640060" cy="1008022"/>
          </a:xfrm>
        </p:spPr>
        <p:txBody>
          <a:bodyPr>
            <a:no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4896035"/>
          </a:xfrm>
        </p:spPr>
        <p:txBody>
          <a:bodyPr>
            <a:noAutofit/>
          </a:bodyPr>
          <a:lstStyle>
            <a:lvl1pPr marL="457200" indent="-457200">
              <a:buFont typeface="+mj-lt"/>
              <a:buAutoNum type="arabicPeriod"/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 smtClean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24662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967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140000" cy="1260000"/>
          </a:xfrm>
        </p:spPr>
        <p:txBody>
          <a:bodyPr>
            <a:noAutofit/>
          </a:bodyPr>
          <a:lstStyle>
            <a:lvl1pPr>
              <a:defRPr sz="4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5517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549000"/>
            <a:ext cx="3780000" cy="1080000"/>
          </a:xfrm>
        </p:spPr>
        <p:txBody>
          <a:bodyPr>
            <a:no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9594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971" y="548980"/>
            <a:ext cx="2880020" cy="1727992"/>
          </a:xfrm>
        </p:spPr>
        <p:txBody>
          <a:bodyPr>
            <a:no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5695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6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32000" y="189000"/>
            <a:ext cx="828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32000" y="1449000"/>
            <a:ext cx="8280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TW" altLang="en-US" dirty="0" smtClean="0"/>
              <a:t>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868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00" r:id="rId3"/>
    <p:sldLayoutId id="2147483707" r:id="rId4"/>
    <p:sldLayoutId id="2147483706" r:id="rId5"/>
    <p:sldLayoutId id="2147483696" r:id="rId6"/>
    <p:sldLayoutId id="2147483710" r:id="rId7"/>
    <p:sldLayoutId id="2147483704" r:id="rId8"/>
    <p:sldLayoutId id="2147483701" r:id="rId9"/>
    <p:sldLayoutId id="2147483709" r:id="rId10"/>
    <p:sldLayoutId id="2147483703" r:id="rId11"/>
    <p:sldLayoutId id="2147483699" r:id="rId12"/>
    <p:sldLayoutId id="2147483698" r:id="rId13"/>
    <p:sldLayoutId id="2147483702" r:id="rId14"/>
    <p:sldLayoutId id="2147483708" r:id="rId15"/>
    <p:sldLayoutId id="2147483705" r:id="rId16"/>
    <p:sldLayoutId id="2147483697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00FF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800" dirty="0" smtClean="0"/>
              <a:t>Homework </a:t>
            </a:r>
            <a:r>
              <a:rPr lang="en-US" altLang="zh-TW" sz="4800" dirty="0"/>
              <a:t>Assignment </a:t>
            </a:r>
            <a:r>
              <a:rPr lang="en-US" altLang="zh-TW" sz="4800" dirty="0" smtClean="0"/>
              <a:t>#4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04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key/value type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comparator predicate type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traits required to make Tree behave like a set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less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: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ordered red-black tree of key values, unique keys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set()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5707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58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ordered red-black tree for map/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multimap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/set/multiset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Tree(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~Tree()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insert(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erase(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711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58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~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clear(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reBalance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LLRotation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LRRotation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RLRotation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RRRotation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eraseDegreeOne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fixUp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myHead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pointer to head 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number of elements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990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3312003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left;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left subtree, or smallest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parent;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parent, or root of tree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right;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right subtree, or largest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color;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0: Red, 1: Black, Black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only if head (also nil) 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stored value, unused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463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testSet1&lt;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&gt;, std::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testSet2&lt;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&gt;, std::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12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testSet1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1000;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key;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std::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set2;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equal(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3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0; i &lt; numKeys;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switch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rand() % 3 )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0: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key = 1 + rand() % ( 5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1: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&gt;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key = 1 + rand() % ( 5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equal(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--;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"There are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errors.\n"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5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872000" y="1989000"/>
            <a:ext cx="1980000" cy="234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n-lt"/>
              </a:rPr>
              <a:t>Tree on </a:t>
            </a:r>
            <a:r>
              <a:rPr lang="en-US" altLang="zh-TW" dirty="0" err="1" smtClean="0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16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60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6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270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6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34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2000" y="2709000"/>
            <a:ext cx="1620000" cy="126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90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set1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34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26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scaryVal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12000" y="21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872000" y="2169000"/>
            <a:ext cx="144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keyCompare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238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692000" y="1989000"/>
            <a:ext cx="2160000" cy="234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_</a:t>
            </a:r>
            <a:r>
              <a:rPr lang="en-US" altLang="zh-TW" dirty="0" smtClean="0">
                <a:latin typeface="+mn-lt"/>
              </a:rPr>
              <a:t>Tree on </a:t>
            </a:r>
            <a:r>
              <a:rPr lang="en-US" altLang="zh-TW" dirty="0" err="1" smtClean="0">
                <a:latin typeface="+mn-lt"/>
              </a:rPr>
              <a:t>x86</a:t>
            </a:r>
            <a:r>
              <a:rPr lang="en-US" altLang="zh-TW" dirty="0" smtClean="0">
                <a:latin typeface="+mn-lt"/>
              </a:rPr>
              <a:t> Debug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16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60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6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270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6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34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72000" y="2169000"/>
            <a:ext cx="1800000" cy="180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72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set2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34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_Scary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872000" y="2349000"/>
            <a:ext cx="126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Myproxy</a:t>
            </a:r>
            <a:endParaRPr lang="en-US" altLang="zh-TW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824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872000" y="2529000"/>
            <a:ext cx="1980000" cy="180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_</a:t>
            </a:r>
            <a:r>
              <a:rPr lang="en-US" altLang="zh-TW" dirty="0" smtClean="0">
                <a:latin typeface="+mn-lt"/>
              </a:rPr>
              <a:t>Tree on </a:t>
            </a:r>
            <a:r>
              <a:rPr lang="en-US" altLang="zh-TW" dirty="0" err="1" smtClean="0">
                <a:latin typeface="+mn-lt"/>
              </a:rPr>
              <a:t>x86</a:t>
            </a:r>
            <a:r>
              <a:rPr lang="en-US" altLang="zh-TW" dirty="0" smtClean="0">
                <a:latin typeface="+mn-lt"/>
              </a:rPr>
              <a:t> Release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52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70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2000" y="2709000"/>
            <a:ext cx="1620000" cy="126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90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set2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70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 smtClean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26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_Scary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209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3060000" cy="252000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2863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/>
          <p:cNvSpPr/>
          <p:nvPr/>
        </p:nvSpPr>
        <p:spPr>
          <a:xfrm>
            <a:off x="3995996" y="4869010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45" name="矩形 144"/>
          <p:cNvSpPr/>
          <p:nvPr/>
        </p:nvSpPr>
        <p:spPr>
          <a:xfrm>
            <a:off x="5148004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3995996" y="5301013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6012010" y="5733016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8" name="文字方塊 147"/>
          <p:cNvSpPr txBox="1"/>
          <p:nvPr/>
        </p:nvSpPr>
        <p:spPr>
          <a:xfrm>
            <a:off x="4139997" y="6021018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283998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4860002" y="5301013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724008" y="6021018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4860002" y="6021018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283998" y="5733016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54" name="文字方塊 153"/>
          <p:cNvSpPr txBox="1"/>
          <p:nvPr/>
        </p:nvSpPr>
        <p:spPr>
          <a:xfrm>
            <a:off x="5724008" y="5301013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5148004" y="5733016"/>
            <a:ext cx="288000" cy="28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bg1"/>
                </a:solidFill>
              </a:rPr>
              <a:t>1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6012010" y="5013011"/>
            <a:ext cx="288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 smtClean="0"/>
              <a:t>1</a:t>
            </a:r>
            <a:endParaRPr lang="zh-TW" altLang="en-US" sz="1400" dirty="0"/>
          </a:p>
        </p:txBody>
      </p:sp>
      <p:sp>
        <p:nvSpPr>
          <p:cNvPr id="127" name="矩形 126"/>
          <p:cNvSpPr/>
          <p:nvPr/>
        </p:nvSpPr>
        <p:spPr>
          <a:xfrm>
            <a:off x="3995996" y="836982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29" name="矩形 128"/>
          <p:cNvSpPr/>
          <p:nvPr/>
        </p:nvSpPr>
        <p:spPr>
          <a:xfrm>
            <a:off x="5148004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3995996" y="1268985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6012010" y="1700988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4139997" y="1988990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283998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2</a:t>
            </a:r>
            <a:endParaRPr lang="zh-TW" altLang="en-US" sz="14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4860002" y="1268985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724008" y="1988990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4860002" y="1988990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283998" y="1700988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5724008" y="1268985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5148004" y="1700988"/>
            <a:ext cx="288000" cy="28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bg1"/>
                </a:solidFill>
              </a:rPr>
              <a:t>1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012010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 smtClean="0"/>
              <a:t>0</a:t>
            </a:r>
            <a:endParaRPr lang="zh-TW" altLang="en-US" sz="1400" dirty="0"/>
          </a:p>
        </p:txBody>
      </p:sp>
      <p:sp>
        <p:nvSpPr>
          <p:cNvPr id="89" name="矩形 88"/>
          <p:cNvSpPr/>
          <p:nvPr/>
        </p:nvSpPr>
        <p:spPr>
          <a:xfrm>
            <a:off x="5868009" y="2852996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08" name="矩形 107"/>
          <p:cNvSpPr/>
          <p:nvPr/>
        </p:nvSpPr>
        <p:spPr>
          <a:xfrm>
            <a:off x="7020017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0" name="文字方塊 109"/>
          <p:cNvSpPr txBox="1"/>
          <p:nvPr/>
        </p:nvSpPr>
        <p:spPr>
          <a:xfrm>
            <a:off x="5868009" y="3284999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884023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6012010" y="4005004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156011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3</a:t>
            </a:r>
            <a:endParaRPr lang="zh-TW" altLang="en-US" sz="1400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6732015" y="3284999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596021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6732015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156011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4" name="文字方塊 123"/>
          <p:cNvSpPr txBox="1"/>
          <p:nvPr/>
        </p:nvSpPr>
        <p:spPr>
          <a:xfrm>
            <a:off x="7596021" y="3284999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7020017" y="3717002"/>
            <a:ext cx="288000" cy="28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bg1"/>
                </a:solidFill>
              </a:rPr>
              <a:t>0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884023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 smtClean="0"/>
              <a:t>0</a:t>
            </a:r>
            <a:endParaRPr lang="zh-TW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2123983" y="2852996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57" name="矩形 56"/>
          <p:cNvSpPr/>
          <p:nvPr/>
        </p:nvSpPr>
        <p:spPr>
          <a:xfrm>
            <a:off x="3275991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123983" y="3284999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</a:t>
            </a: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139997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267984" y="4005004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11985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1</a:t>
            </a:r>
            <a:endParaRPr lang="zh-TW" altLang="en-US" sz="14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2987989" y="3284999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851995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987989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smtClean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411985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851995" y="3284999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547979" y="4869010"/>
            <a:ext cx="1296000" cy="10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96" name="文字方塊 95"/>
          <p:cNvSpPr txBox="1"/>
          <p:nvPr/>
        </p:nvSpPr>
        <p:spPr>
          <a:xfrm>
            <a:off x="1403978" y="5877017"/>
            <a:ext cx="1584000" cy="288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>
              <a:defRPr/>
            </a:pPr>
            <a:r>
              <a:rPr lang="en-US" altLang="zh-TW" sz="1400" dirty="0" err="1" smtClean="0">
                <a:latin typeface="Lucida Console" panose="020B0609040504020204" pitchFamily="49" charset="0"/>
                <a:ea typeface="新細明體" pitchFamily="18" charset="-120"/>
              </a:rPr>
              <a:t>set1.scaryVal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411985" y="5445014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矩形 97"/>
          <p:cNvSpPr/>
          <p:nvPr/>
        </p:nvSpPr>
        <p:spPr>
          <a:xfrm>
            <a:off x="2411985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3</a:t>
            </a:r>
            <a:endParaRPr lang="zh-TW" altLang="en-US" sz="1400" dirty="0"/>
          </a:p>
        </p:txBody>
      </p:sp>
      <p:sp>
        <p:nvSpPr>
          <p:cNvPr id="99" name="文字方塊 98"/>
          <p:cNvSpPr txBox="1"/>
          <p:nvPr/>
        </p:nvSpPr>
        <p:spPr>
          <a:xfrm>
            <a:off x="1547979" y="5445014"/>
            <a:ext cx="864000" cy="288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1547979" y="5013011"/>
            <a:ext cx="864000" cy="288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101" name="直線單箭頭接點 100"/>
          <p:cNvCxnSpPr>
            <a:endCxn id="144" idx="1"/>
          </p:cNvCxnSpPr>
          <p:nvPr/>
        </p:nvCxnSpPr>
        <p:spPr>
          <a:xfrm flipV="1">
            <a:off x="2555986" y="5589010"/>
            <a:ext cx="1440010" cy="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H="1" flipV="1">
            <a:off x="2699987" y="4293007"/>
            <a:ext cx="1728012" cy="158401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 flipH="1" flipV="1">
            <a:off x="5292005" y="2276992"/>
            <a:ext cx="3" cy="2880022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V="1">
            <a:off x="6156011" y="4293007"/>
            <a:ext cx="1728012" cy="158401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3419992" y="2276993"/>
            <a:ext cx="1728012" cy="86400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H="1" flipV="1">
            <a:off x="5436007" y="2276993"/>
            <a:ext cx="1728011" cy="86400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endCxn id="56" idx="0"/>
          </p:cNvCxnSpPr>
          <p:nvPr/>
        </p:nvCxnSpPr>
        <p:spPr>
          <a:xfrm flipH="1">
            <a:off x="3419983" y="1844989"/>
            <a:ext cx="1008016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endCxn id="89" idx="0"/>
          </p:cNvCxnSpPr>
          <p:nvPr/>
        </p:nvCxnSpPr>
        <p:spPr>
          <a:xfrm>
            <a:off x="6156011" y="1844989"/>
            <a:ext cx="1007998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2555986" y="3861003"/>
            <a:ext cx="1440010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4283998" y="3861003"/>
            <a:ext cx="86400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 flipH="1">
            <a:off x="5436006" y="3861003"/>
            <a:ext cx="864006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H="1">
            <a:off x="6588014" y="3861003"/>
            <a:ext cx="1440010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>
            <a:off x="5292005" y="1124984"/>
            <a:ext cx="3456024" cy="144001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8748029" y="2564994"/>
            <a:ext cx="0" cy="3024021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3275991" y="3717002"/>
            <a:ext cx="288000" cy="28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bg1"/>
                </a:solidFill>
              </a:rPr>
              <a:t>0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39997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 smtClean="0"/>
              <a:t>0</a:t>
            </a:r>
            <a:endParaRPr lang="zh-TW" altLang="en-US" sz="1400" dirty="0"/>
          </a:p>
        </p:txBody>
      </p:sp>
      <p:cxnSp>
        <p:nvCxnSpPr>
          <p:cNvPr id="106" name="直線單箭頭接點 105"/>
          <p:cNvCxnSpPr>
            <a:endCxn id="144" idx="3"/>
          </p:cNvCxnSpPr>
          <p:nvPr/>
        </p:nvCxnSpPr>
        <p:spPr>
          <a:xfrm flipH="1" flipV="1">
            <a:off x="6587996" y="5589010"/>
            <a:ext cx="2160034" cy="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字方塊 157"/>
          <p:cNvSpPr txBox="1"/>
          <p:nvPr/>
        </p:nvSpPr>
        <p:spPr>
          <a:xfrm>
            <a:off x="4860002" y="548980"/>
            <a:ext cx="864006" cy="288000"/>
          </a:xfrm>
          <a:prstGeom prst="rect">
            <a:avLst/>
          </a:prstGeom>
          <a:noFill/>
        </p:spPr>
        <p:txBody>
          <a:bodyPr tIns="0" bIns="72000" anchor="ctr"/>
          <a:lstStyle/>
          <a:p>
            <a:pPr algn="ctr">
              <a:defRPr/>
            </a:pP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新細明體" pitchFamily="18" charset="-120"/>
              </a:rPr>
              <a:t>root</a:t>
            </a:r>
            <a:endParaRPr lang="zh-TW" altLang="en-US" dirty="0">
              <a:solidFill>
                <a:srgbClr val="0000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標題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3 </a:t>
            </a:r>
            <a:r>
              <a:rPr lang="en-US" altLang="zh-TW" dirty="0"/>
              <a:t>Nodes</a:t>
            </a:r>
            <a:endParaRPr lang="zh-TW" altLang="en-US" dirty="0"/>
          </a:p>
        </p:txBody>
      </p:sp>
      <p:cxnSp>
        <p:nvCxnSpPr>
          <p:cNvPr id="105" name="直線接點 104"/>
          <p:cNvCxnSpPr/>
          <p:nvPr/>
        </p:nvCxnSpPr>
        <p:spPr>
          <a:xfrm flipH="1">
            <a:off x="683973" y="328546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7" name="直線接點 136"/>
          <p:cNvCxnSpPr/>
          <p:nvPr/>
        </p:nvCxnSpPr>
        <p:spPr>
          <a:xfrm>
            <a:off x="972437" y="328546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9" name="橢圓 138"/>
          <p:cNvSpPr/>
          <p:nvPr/>
        </p:nvSpPr>
        <p:spPr>
          <a:xfrm>
            <a:off x="827974" y="3140998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9" name="橢圓 158"/>
          <p:cNvSpPr/>
          <p:nvPr/>
        </p:nvSpPr>
        <p:spPr>
          <a:xfrm>
            <a:off x="539972" y="371700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0" name="橢圓 159"/>
          <p:cNvSpPr/>
          <p:nvPr/>
        </p:nvSpPr>
        <p:spPr>
          <a:xfrm>
            <a:off x="1115976" y="371700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17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44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44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132000" y="41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57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41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5652000" y="5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0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492000" y="432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62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7812000" y="43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652000" y="549000"/>
            <a:ext cx="30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54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22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04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132000" y="5049000"/>
            <a:ext cx="198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414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49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414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414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012000" y="540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3852000" y="414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832000" y="414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4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21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/>
          </p:nvPr>
        </p:nvGraphicFramePr>
        <p:xfrm>
          <a:off x="5112000" y="9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/>
          </p:nvPr>
        </p:nvGraphicFramePr>
        <p:xfrm>
          <a:off x="367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/>
          </p:nvPr>
        </p:nvGraphicFramePr>
        <p:xfrm>
          <a:off x="655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/>
          </p:nvPr>
        </p:nvGraphicFramePr>
        <p:xfrm>
          <a:off x="295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/>
          </p:nvPr>
        </p:nvGraphicFramePr>
        <p:xfrm>
          <a:off x="439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583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/>
          </p:nvPr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727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192000" y="414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45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492000" y="5409000"/>
            <a:ext cx="180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/>
          </p:nvPr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88" name="直線接點 87"/>
          <p:cNvCxnSpPr/>
          <p:nvPr/>
        </p:nvCxnSpPr>
        <p:spPr>
          <a:xfrm>
            <a:off x="2412000" y="540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0" name="橢圓 89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1" name="直線接點 90"/>
          <p:cNvCxnSpPr/>
          <p:nvPr/>
        </p:nvCxnSpPr>
        <p:spPr>
          <a:xfrm flipH="1">
            <a:off x="683973" y="5409446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2" name="直線接點 91"/>
          <p:cNvCxnSpPr/>
          <p:nvPr/>
        </p:nvCxnSpPr>
        <p:spPr>
          <a:xfrm>
            <a:off x="972437" y="5409446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3" name="橢圓 92"/>
          <p:cNvSpPr/>
          <p:nvPr/>
        </p:nvSpPr>
        <p:spPr>
          <a:xfrm>
            <a:off x="43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115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/>
          <p:nvPr/>
        </p:nvCxnSpPr>
        <p:spPr>
          <a:xfrm flipH="1">
            <a:off x="2052001" y="5409000"/>
            <a:ext cx="359999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6" name="橢圓 95"/>
          <p:cNvSpPr/>
          <p:nvPr/>
        </p:nvSpPr>
        <p:spPr>
          <a:xfrm>
            <a:off x="187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7" name="直線接點 96"/>
          <p:cNvCxnSpPr/>
          <p:nvPr/>
        </p:nvCxnSpPr>
        <p:spPr>
          <a:xfrm flipH="1">
            <a:off x="97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直線接點 97"/>
          <p:cNvCxnSpPr/>
          <p:nvPr/>
        </p:nvCxnSpPr>
        <p:spPr>
          <a:xfrm>
            <a:off x="169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9" name="橢圓 98"/>
          <p:cNvSpPr/>
          <p:nvPr/>
        </p:nvSpPr>
        <p:spPr>
          <a:xfrm>
            <a:off x="151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79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223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Red-black Tree </a:t>
            </a:r>
            <a:r>
              <a:rPr lang="en-US" altLang="zh-TW" dirty="0"/>
              <a:t>with </a:t>
            </a:r>
            <a:r>
              <a:rPr lang="en-US" altLang="zh-TW" dirty="0" smtClean="0"/>
              <a:t>7 Nodes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623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Empty Red-black Tree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60" name="直線單箭頭接點 59"/>
          <p:cNvCxnSpPr/>
          <p:nvPr/>
        </p:nvCxnSpPr>
        <p:spPr>
          <a:xfrm>
            <a:off x="6192000" y="3069000"/>
            <a:ext cx="3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6552000" y="306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6372000" y="46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2000" y="46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單箭頭接點 33"/>
          <p:cNvCxnSpPr>
            <a:endCxn id="18" idx="2"/>
          </p:cNvCxnSpPr>
          <p:nvPr/>
        </p:nvCxnSpPr>
        <p:spPr>
          <a:xfrm flipV="1">
            <a:off x="6192000" y="414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6192000" y="306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7092000" y="3609000"/>
            <a:ext cx="0" cy="3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6732000" y="360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6552000" y="396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5292000" y="3609000"/>
            <a:ext cx="0" cy="3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292000" y="360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5292000" y="3969000"/>
            <a:ext cx="54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0125"/>
              </p:ext>
            </p:extLst>
          </p:nvPr>
        </p:nvGraphicFramePr>
        <p:xfrm>
          <a:off x="5652000" y="34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9529"/>
              </p:ext>
            </p:extLst>
          </p:nvPr>
        </p:nvGraphicFramePr>
        <p:xfrm>
          <a:off x="4932000" y="180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29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1 Node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sp>
        <p:nvSpPr>
          <p:cNvPr id="33" name="矩形 32"/>
          <p:cNvSpPr/>
          <p:nvPr/>
        </p:nvSpPr>
        <p:spPr>
          <a:xfrm>
            <a:off x="745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57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39" name="直線單箭頭接點 38"/>
          <p:cNvCxnSpPr>
            <a:endCxn id="47" idx="2"/>
          </p:cNvCxnSpPr>
          <p:nvPr/>
        </p:nvCxnSpPr>
        <p:spPr>
          <a:xfrm flipV="1">
            <a:off x="7632000" y="522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6732000" y="324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46" idx="2"/>
          </p:cNvCxnSpPr>
          <p:nvPr/>
        </p:nvCxnSpPr>
        <p:spPr>
          <a:xfrm flipV="1">
            <a:off x="7632000" y="3609000"/>
            <a:ext cx="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8172000" y="324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7632000" y="234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7272000" y="3429000"/>
            <a:ext cx="18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7992000" y="504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06471"/>
              </p:ext>
            </p:extLst>
          </p:nvPr>
        </p:nvGraphicFramePr>
        <p:xfrm>
          <a:off x="7092000" y="28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331614"/>
              </p:ext>
            </p:extLst>
          </p:nvPr>
        </p:nvGraphicFramePr>
        <p:xfrm>
          <a:off x="709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48" name="直線單箭頭接點 47"/>
          <p:cNvCxnSpPr/>
          <p:nvPr/>
        </p:nvCxnSpPr>
        <p:spPr>
          <a:xfrm flipH="1">
            <a:off x="7812000" y="3429000"/>
            <a:ext cx="18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6732000" y="5049000"/>
            <a:ext cx="54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99245"/>
              </p:ext>
            </p:extLst>
          </p:nvPr>
        </p:nvGraphicFramePr>
        <p:xfrm>
          <a:off x="7092000" y="16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sp>
        <p:nvSpPr>
          <p:cNvPr id="52" name="矩形 51"/>
          <p:cNvSpPr/>
          <p:nvPr/>
        </p:nvSpPr>
        <p:spPr>
          <a:xfrm>
            <a:off x="7452000" y="7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6372000" y="7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54" name="直線單箭頭接點 53"/>
          <p:cNvCxnSpPr>
            <a:endCxn id="51" idx="0"/>
          </p:cNvCxnSpPr>
          <p:nvPr/>
        </p:nvCxnSpPr>
        <p:spPr>
          <a:xfrm>
            <a:off x="7632000" y="9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797585"/>
              </p:ext>
            </p:extLst>
          </p:nvPr>
        </p:nvGraphicFramePr>
        <p:xfrm>
          <a:off x="3672000" y="37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24" name="直線單箭頭接點 23"/>
          <p:cNvCxnSpPr/>
          <p:nvPr/>
        </p:nvCxnSpPr>
        <p:spPr>
          <a:xfrm flipV="1">
            <a:off x="8532000" y="3249000"/>
            <a:ext cx="0" cy="18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6732000" y="3249000"/>
            <a:ext cx="0" cy="18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93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4" name="直線接點 33"/>
          <p:cNvCxnSpPr>
            <a:endCxn id="32" idx="0"/>
          </p:cNvCxnSpPr>
          <p:nvPr/>
        </p:nvCxnSpPr>
        <p:spPr>
          <a:xfrm>
            <a:off x="529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" name="直線接點 34"/>
          <p:cNvCxnSpPr>
            <a:endCxn id="31" idx="0"/>
          </p:cNvCxnSpPr>
          <p:nvPr/>
        </p:nvCxnSpPr>
        <p:spPr>
          <a:xfrm flipH="1">
            <a:off x="502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6" name="橢圓 35"/>
          <p:cNvSpPr/>
          <p:nvPr/>
        </p:nvSpPr>
        <p:spPr>
          <a:xfrm>
            <a:off x="5112000" y="198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79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2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31" name="直線單箭頭接點 30"/>
          <p:cNvCxnSpPr>
            <a:endCxn id="44" idx="0"/>
          </p:cNvCxnSpPr>
          <p:nvPr/>
        </p:nvCxnSpPr>
        <p:spPr>
          <a:xfrm flipH="1">
            <a:off x="6552000" y="2349000"/>
            <a:ext cx="72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655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45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637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35" name="直線單箭頭接點 34"/>
          <p:cNvCxnSpPr>
            <a:endCxn id="45" idx="2"/>
          </p:cNvCxnSpPr>
          <p:nvPr/>
        </p:nvCxnSpPr>
        <p:spPr>
          <a:xfrm flipV="1">
            <a:off x="7632000" y="54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44" idx="2"/>
          </p:cNvCxnSpPr>
          <p:nvPr/>
        </p:nvCxnSpPr>
        <p:spPr>
          <a:xfrm flipV="1">
            <a:off x="6552000" y="3969000"/>
            <a:ext cx="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43" idx="2"/>
          </p:cNvCxnSpPr>
          <p:nvPr/>
        </p:nvCxnSpPr>
        <p:spPr>
          <a:xfrm flipV="1">
            <a:off x="7632000" y="2529000"/>
            <a:ext cx="0" cy="23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43" idx="3"/>
          </p:cNvCxnSpPr>
          <p:nvPr/>
        </p:nvCxnSpPr>
        <p:spPr>
          <a:xfrm flipH="1">
            <a:off x="8172000" y="216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7632000" y="126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691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6192000" y="4869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7992000" y="522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84896"/>
              </p:ext>
            </p:extLst>
          </p:nvPr>
        </p:nvGraphicFramePr>
        <p:xfrm>
          <a:off x="7092000" y="18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23657"/>
              </p:ext>
            </p:extLst>
          </p:nvPr>
        </p:nvGraphicFramePr>
        <p:xfrm>
          <a:off x="601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708633"/>
              </p:ext>
            </p:extLst>
          </p:nvPr>
        </p:nvGraphicFramePr>
        <p:xfrm>
          <a:off x="7092000" y="46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46" name="直線單箭頭接點 45"/>
          <p:cNvCxnSpPr/>
          <p:nvPr/>
        </p:nvCxnSpPr>
        <p:spPr>
          <a:xfrm flipH="1">
            <a:off x="7812000" y="2349000"/>
            <a:ext cx="18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6552000" y="522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6192000" y="378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8532000" y="2169000"/>
            <a:ext cx="0" cy="30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615219"/>
              </p:ext>
            </p:extLst>
          </p:nvPr>
        </p:nvGraphicFramePr>
        <p:xfrm>
          <a:off x="709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sp>
        <p:nvSpPr>
          <p:cNvPr id="51" name="矩形 50"/>
          <p:cNvSpPr/>
          <p:nvPr/>
        </p:nvSpPr>
        <p:spPr>
          <a:xfrm>
            <a:off x="6192000" y="7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5112000" y="7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53" name="直線單箭頭接點 52"/>
          <p:cNvCxnSpPr>
            <a:endCxn id="50" idx="1"/>
          </p:cNvCxnSpPr>
          <p:nvPr/>
        </p:nvCxnSpPr>
        <p:spPr>
          <a:xfrm>
            <a:off x="6372000" y="90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982328"/>
              </p:ext>
            </p:extLst>
          </p:nvPr>
        </p:nvGraphicFramePr>
        <p:xfrm>
          <a:off x="3312000" y="432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475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21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8" name="直線接點 57"/>
          <p:cNvCxnSpPr/>
          <p:nvPr/>
        </p:nvCxnSpPr>
        <p:spPr>
          <a:xfrm flipH="1">
            <a:off x="4572000" y="198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9" name="直線接點 58"/>
          <p:cNvCxnSpPr>
            <a:endCxn id="57" idx="0"/>
          </p:cNvCxnSpPr>
          <p:nvPr/>
        </p:nvCxnSpPr>
        <p:spPr>
          <a:xfrm flipH="1">
            <a:off x="430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直線接點 59"/>
          <p:cNvCxnSpPr>
            <a:endCxn id="54" idx="0"/>
          </p:cNvCxnSpPr>
          <p:nvPr/>
        </p:nvCxnSpPr>
        <p:spPr>
          <a:xfrm>
            <a:off x="457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1" name="直線接點 60"/>
          <p:cNvCxnSpPr>
            <a:endCxn id="64" idx="0"/>
          </p:cNvCxnSpPr>
          <p:nvPr/>
        </p:nvCxnSpPr>
        <p:spPr>
          <a:xfrm>
            <a:off x="4932000" y="19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2" name="橢圓 61"/>
          <p:cNvSpPr/>
          <p:nvPr/>
        </p:nvSpPr>
        <p:spPr>
          <a:xfrm>
            <a:off x="4752000" y="18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4392000" y="27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112000" y="27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68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3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43" name="直線單箭頭接點 42"/>
          <p:cNvCxnSpPr>
            <a:endCxn id="78" idx="0"/>
          </p:cNvCxnSpPr>
          <p:nvPr/>
        </p:nvCxnSpPr>
        <p:spPr>
          <a:xfrm flipH="1">
            <a:off x="6012000" y="2349000"/>
            <a:ext cx="72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7452000" y="234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 flipV="1">
            <a:off x="727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01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91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583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49" name="直線單箭頭接點 48"/>
          <p:cNvCxnSpPr>
            <a:endCxn id="80" idx="2"/>
          </p:cNvCxnSpPr>
          <p:nvPr/>
        </p:nvCxnSpPr>
        <p:spPr>
          <a:xfrm flipV="1">
            <a:off x="7092000" y="54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endCxn id="78" idx="2"/>
          </p:cNvCxnSpPr>
          <p:nvPr/>
        </p:nvCxnSpPr>
        <p:spPr>
          <a:xfrm flipV="1">
            <a:off x="6012000" y="3969000"/>
            <a:ext cx="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77" idx="2"/>
          </p:cNvCxnSpPr>
          <p:nvPr/>
        </p:nvCxnSpPr>
        <p:spPr>
          <a:xfrm flipV="1">
            <a:off x="7092000" y="2529000"/>
            <a:ext cx="0" cy="23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8172000" y="396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V="1">
            <a:off x="7092000" y="126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7272000" y="378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637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652000" y="4869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7452000" y="5229000"/>
            <a:ext cx="72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43998"/>
              </p:ext>
            </p:extLst>
          </p:nvPr>
        </p:nvGraphicFramePr>
        <p:xfrm>
          <a:off x="6552000" y="18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31121"/>
              </p:ext>
            </p:extLst>
          </p:nvPr>
        </p:nvGraphicFramePr>
        <p:xfrm>
          <a:off x="547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63926"/>
              </p:ext>
            </p:extLst>
          </p:nvPr>
        </p:nvGraphicFramePr>
        <p:xfrm>
          <a:off x="76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86930"/>
              </p:ext>
            </p:extLst>
          </p:nvPr>
        </p:nvGraphicFramePr>
        <p:xfrm>
          <a:off x="6552000" y="46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81" name="直線單箭頭接點 80"/>
          <p:cNvCxnSpPr/>
          <p:nvPr/>
        </p:nvCxnSpPr>
        <p:spPr>
          <a:xfrm flipH="1">
            <a:off x="7632000" y="4869000"/>
            <a:ext cx="9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>
            <a:off x="6012000" y="522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>
            <a:off x="5652000" y="378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>
            <a:off x="8532000" y="378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17708"/>
              </p:ext>
            </p:extLst>
          </p:nvPr>
        </p:nvGraphicFramePr>
        <p:xfrm>
          <a:off x="655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65552"/>
              </p:ext>
            </p:extLst>
          </p:nvPr>
        </p:nvGraphicFramePr>
        <p:xfrm>
          <a:off x="3672000" y="19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34" name="直線接點 33"/>
          <p:cNvCxnSpPr/>
          <p:nvPr/>
        </p:nvCxnSpPr>
        <p:spPr>
          <a:xfrm>
            <a:off x="4212000" y="342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5" name="直線接點 34"/>
          <p:cNvCxnSpPr/>
          <p:nvPr/>
        </p:nvCxnSpPr>
        <p:spPr>
          <a:xfrm flipH="1">
            <a:off x="3672000" y="342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36" name="矩形 35"/>
          <p:cNvSpPr/>
          <p:nvPr/>
        </p:nvSpPr>
        <p:spPr>
          <a:xfrm>
            <a:off x="331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5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8" name="直線接點 37"/>
          <p:cNvCxnSpPr>
            <a:endCxn id="37" idx="0"/>
          </p:cNvCxnSpPr>
          <p:nvPr/>
        </p:nvCxnSpPr>
        <p:spPr>
          <a:xfrm>
            <a:off x="367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>
            <a:endCxn id="36" idx="0"/>
          </p:cNvCxnSpPr>
          <p:nvPr/>
        </p:nvCxnSpPr>
        <p:spPr>
          <a:xfrm flipH="1">
            <a:off x="340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349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4032000" y="324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39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93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8" name="直線接點 57"/>
          <p:cNvCxnSpPr>
            <a:endCxn id="57" idx="0"/>
          </p:cNvCxnSpPr>
          <p:nvPr/>
        </p:nvCxnSpPr>
        <p:spPr>
          <a:xfrm>
            <a:off x="475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9" name="直線接點 58"/>
          <p:cNvCxnSpPr>
            <a:endCxn id="42" idx="0"/>
          </p:cNvCxnSpPr>
          <p:nvPr/>
        </p:nvCxnSpPr>
        <p:spPr>
          <a:xfrm flipH="1">
            <a:off x="448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0" name="橢圓 59"/>
          <p:cNvSpPr/>
          <p:nvPr/>
        </p:nvSpPr>
        <p:spPr>
          <a:xfrm>
            <a:off x="457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33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5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372000" y="108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96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012000" y="729000"/>
            <a:ext cx="2700000" cy="14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6192000" y="126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5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75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>
            <a:endCxn id="49" idx="2"/>
          </p:cNvCxnSpPr>
          <p:nvPr/>
        </p:nvCxnSpPr>
        <p:spPr>
          <a:xfrm flipV="1">
            <a:off x="6012000" y="558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1" idx="2"/>
          </p:cNvCxnSpPr>
          <p:nvPr/>
        </p:nvCxnSpPr>
        <p:spPr>
          <a:xfrm flipV="1">
            <a:off x="4932000" y="2709000"/>
            <a:ext cx="0" cy="27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6012000" y="126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7" idx="2"/>
          </p:cNvCxnSpPr>
          <p:nvPr/>
        </p:nvCxnSpPr>
        <p:spPr>
          <a:xfrm flipV="1">
            <a:off x="7812000" y="414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21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552000" y="5589000"/>
            <a:ext cx="216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552000" y="5229000"/>
            <a:ext cx="162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6192000" y="2529000"/>
            <a:ext cx="54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2529000"/>
            <a:ext cx="54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2529000"/>
            <a:ext cx="108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6372000" y="5409000"/>
            <a:ext cx="14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372000" y="396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0061"/>
              </p:ext>
            </p:extLst>
          </p:nvPr>
        </p:nvGraphicFramePr>
        <p:xfrm>
          <a:off x="54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58053"/>
              </p:ext>
            </p:extLst>
          </p:nvPr>
        </p:nvGraphicFramePr>
        <p:xfrm>
          <a:off x="439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254401"/>
              </p:ext>
            </p:extLst>
          </p:nvPr>
        </p:nvGraphicFramePr>
        <p:xfrm>
          <a:off x="655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34032"/>
              </p:ext>
            </p:extLst>
          </p:nvPr>
        </p:nvGraphicFramePr>
        <p:xfrm>
          <a:off x="7272000" y="34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315581"/>
              </p:ext>
            </p:extLst>
          </p:nvPr>
        </p:nvGraphicFramePr>
        <p:xfrm>
          <a:off x="547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47" idx="0"/>
          </p:cNvCxnSpPr>
          <p:nvPr/>
        </p:nvCxnSpPr>
        <p:spPr>
          <a:xfrm>
            <a:off x="7452000" y="252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2709000"/>
            <a:ext cx="72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4932000" y="540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21035"/>
              </p:ext>
            </p:extLst>
          </p:nvPr>
        </p:nvGraphicFramePr>
        <p:xfrm>
          <a:off x="1332000" y="55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4 </a:t>
            </a:r>
            <a:r>
              <a:rPr lang="en-US" altLang="zh-TW" dirty="0"/>
              <a:t>Nodes</a:t>
            </a:r>
            <a:endParaRPr lang="zh-TW" altLang="en-US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2412000" y="252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4" name="直線接點 43"/>
          <p:cNvCxnSpPr/>
          <p:nvPr/>
        </p:nvCxnSpPr>
        <p:spPr>
          <a:xfrm flipH="1">
            <a:off x="1872000" y="252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矩形 44"/>
          <p:cNvSpPr/>
          <p:nvPr/>
        </p:nvSpPr>
        <p:spPr>
          <a:xfrm>
            <a:off x="295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9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8" name="直線接點 47"/>
          <p:cNvCxnSpPr/>
          <p:nvPr/>
        </p:nvCxnSpPr>
        <p:spPr>
          <a:xfrm>
            <a:off x="2952000" y="324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0" name="直線接點 49"/>
          <p:cNvCxnSpPr>
            <a:endCxn id="46" idx="0"/>
          </p:cNvCxnSpPr>
          <p:nvPr/>
        </p:nvCxnSpPr>
        <p:spPr>
          <a:xfrm>
            <a:off x="331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>
            <a:endCxn id="59" idx="0"/>
          </p:cNvCxnSpPr>
          <p:nvPr/>
        </p:nvCxnSpPr>
        <p:spPr>
          <a:xfrm flipH="1">
            <a:off x="268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>
            <a:endCxn id="45" idx="0"/>
          </p:cNvCxnSpPr>
          <p:nvPr/>
        </p:nvCxnSpPr>
        <p:spPr>
          <a:xfrm flipH="1">
            <a:off x="304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5" name="橢圓 54"/>
          <p:cNvSpPr/>
          <p:nvPr/>
        </p:nvSpPr>
        <p:spPr>
          <a:xfrm>
            <a:off x="2772000" y="306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313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59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51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05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6" name="直線接點 75"/>
          <p:cNvCxnSpPr>
            <a:endCxn id="71" idx="0"/>
          </p:cNvCxnSpPr>
          <p:nvPr/>
        </p:nvCxnSpPr>
        <p:spPr>
          <a:xfrm>
            <a:off x="187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9" name="直線接點 78"/>
          <p:cNvCxnSpPr>
            <a:endCxn id="60" idx="0"/>
          </p:cNvCxnSpPr>
          <p:nvPr/>
        </p:nvCxnSpPr>
        <p:spPr>
          <a:xfrm flipH="1">
            <a:off x="160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1" name="橢圓 80"/>
          <p:cNvSpPr/>
          <p:nvPr/>
        </p:nvSpPr>
        <p:spPr>
          <a:xfrm>
            <a:off x="1692000" y="306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2232000" y="234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95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789000"/>
            <a:ext cx="0" cy="14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5652000" y="729000"/>
            <a:ext cx="3060000" cy="14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39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1534" y="5589000"/>
            <a:ext cx="466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1" idx="2"/>
          </p:cNvCxnSpPr>
          <p:nvPr/>
        </p:nvCxnSpPr>
        <p:spPr>
          <a:xfrm flipV="1">
            <a:off x="4212000" y="2709000"/>
            <a:ext cx="0" cy="27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26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7" idx="2"/>
          </p:cNvCxnSpPr>
          <p:nvPr/>
        </p:nvCxnSpPr>
        <p:spPr>
          <a:xfrm flipV="1">
            <a:off x="7812000" y="3969000"/>
            <a:ext cx="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21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58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22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5832000" y="3789000"/>
            <a:ext cx="18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572000" y="2529000"/>
            <a:ext cx="90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3789000"/>
            <a:ext cx="72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852000" y="2529000"/>
            <a:ext cx="144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6012000" y="5409000"/>
            <a:ext cx="180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192000" y="3789000"/>
            <a:ext cx="12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41180"/>
              </p:ext>
            </p:extLst>
          </p:nvPr>
        </p:nvGraphicFramePr>
        <p:xfrm>
          <a:off x="511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27342"/>
              </p:ext>
            </p:extLst>
          </p:nvPr>
        </p:nvGraphicFramePr>
        <p:xfrm>
          <a:off x="367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12857"/>
              </p:ext>
            </p:extLst>
          </p:nvPr>
        </p:nvGraphicFramePr>
        <p:xfrm>
          <a:off x="655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236207"/>
              </p:ext>
            </p:extLst>
          </p:nvPr>
        </p:nvGraphicFramePr>
        <p:xfrm>
          <a:off x="727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760724"/>
              </p:ext>
            </p:extLst>
          </p:nvPr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45073"/>
              </p:ext>
            </p:extLst>
          </p:nvPr>
        </p:nvGraphicFramePr>
        <p:xfrm>
          <a:off x="58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/>
          <p:nvPr/>
        </p:nvCxnSpPr>
        <p:spPr>
          <a:xfrm>
            <a:off x="745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4212000" y="5409000"/>
            <a:ext cx="108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6243"/>
              </p:ext>
            </p:extLst>
          </p:nvPr>
        </p:nvGraphicFramePr>
        <p:xfrm>
          <a:off x="61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5 </a:t>
            </a:r>
            <a:r>
              <a:rPr lang="en-US" altLang="zh-TW" dirty="0"/>
              <a:t>Nodes</a:t>
            </a:r>
            <a:endParaRPr lang="zh-TW" altLang="en-US" dirty="0"/>
          </a:p>
        </p:txBody>
      </p:sp>
      <p:cxnSp>
        <p:nvCxnSpPr>
          <p:cNvPr id="48" name="直線接點 47"/>
          <p:cNvCxnSpPr/>
          <p:nvPr/>
        </p:nvCxnSpPr>
        <p:spPr>
          <a:xfrm flipH="1">
            <a:off x="1152000" y="3969000"/>
            <a:ext cx="72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0" name="直線接點 49"/>
          <p:cNvCxnSpPr/>
          <p:nvPr/>
        </p:nvCxnSpPr>
        <p:spPr>
          <a:xfrm>
            <a:off x="1872000" y="396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橢圓 50"/>
          <p:cNvSpPr/>
          <p:nvPr/>
        </p:nvSpPr>
        <p:spPr>
          <a:xfrm>
            <a:off x="1692000" y="37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4" name="直線接點 53"/>
          <p:cNvCxnSpPr/>
          <p:nvPr/>
        </p:nvCxnSpPr>
        <p:spPr>
          <a:xfrm>
            <a:off x="259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05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412000" y="45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77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31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9" name="直線接點 78"/>
          <p:cNvCxnSpPr>
            <a:endCxn id="71" idx="0"/>
          </p:cNvCxnSpPr>
          <p:nvPr/>
        </p:nvCxnSpPr>
        <p:spPr>
          <a:xfrm>
            <a:off x="313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1" name="直線接點 80"/>
          <p:cNvCxnSpPr>
            <a:endCxn id="59" idx="0"/>
          </p:cNvCxnSpPr>
          <p:nvPr/>
        </p:nvCxnSpPr>
        <p:spPr>
          <a:xfrm flipH="1">
            <a:off x="286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2" name="橢圓 81"/>
          <p:cNvSpPr/>
          <p:nvPr/>
        </p:nvSpPr>
        <p:spPr>
          <a:xfrm>
            <a:off x="295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6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2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>
            <a:endCxn id="88" idx="0"/>
          </p:cNvCxnSpPr>
          <p:nvPr/>
        </p:nvCxnSpPr>
        <p:spPr>
          <a:xfrm>
            <a:off x="205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1" name="直線接點 90"/>
          <p:cNvCxnSpPr>
            <a:endCxn id="86" idx="0"/>
          </p:cNvCxnSpPr>
          <p:nvPr/>
        </p:nvCxnSpPr>
        <p:spPr>
          <a:xfrm flipH="1">
            <a:off x="178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2" name="橢圓 91"/>
          <p:cNvSpPr/>
          <p:nvPr/>
        </p:nvSpPr>
        <p:spPr>
          <a:xfrm>
            <a:off x="187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92000" y="54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332000" y="54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>
            <a:endCxn id="94" idx="0"/>
          </p:cNvCxnSpPr>
          <p:nvPr/>
        </p:nvCxnSpPr>
        <p:spPr>
          <a:xfrm>
            <a:off x="1152000" y="46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>
            <a:endCxn id="93" idx="0"/>
          </p:cNvCxnSpPr>
          <p:nvPr/>
        </p:nvCxnSpPr>
        <p:spPr>
          <a:xfrm flipH="1">
            <a:off x="882000" y="46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7" name="橢圓 96"/>
          <p:cNvSpPr/>
          <p:nvPr/>
        </p:nvSpPr>
        <p:spPr>
          <a:xfrm>
            <a:off x="972000" y="45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25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36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547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7632000" y="37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583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352000" y="504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5112000" y="729000"/>
            <a:ext cx="3780000" cy="19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29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36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7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169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>
            <a:endCxn id="49" idx="1"/>
          </p:cNvCxnSpPr>
          <p:nvPr/>
        </p:nvCxnSpPr>
        <p:spPr>
          <a:xfrm>
            <a:off x="2952000" y="6129000"/>
            <a:ext cx="16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672000" y="2709000"/>
            <a:ext cx="0" cy="36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112000" y="126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7992000" y="52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892000" y="270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5652000" y="6489000"/>
            <a:ext cx="324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5652000" y="6129000"/>
            <a:ext cx="27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5292000" y="3789000"/>
            <a:ext cx="18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032000" y="2529000"/>
            <a:ext cx="900000" cy="32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5472000" y="3789000"/>
            <a:ext cx="72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312000" y="2529000"/>
            <a:ext cx="1440000" cy="32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5472000" y="6309000"/>
            <a:ext cx="252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652000" y="378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7272000" y="39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583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787394"/>
              </p:ext>
            </p:extLst>
          </p:nvPr>
        </p:nvGraphicFramePr>
        <p:xfrm>
          <a:off x="45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0047"/>
              </p:ext>
            </p:extLst>
          </p:nvPr>
        </p:nvGraphicFramePr>
        <p:xfrm>
          <a:off x="313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179289"/>
              </p:ext>
            </p:extLst>
          </p:nvPr>
        </p:nvGraphicFramePr>
        <p:xfrm>
          <a:off x="67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09172"/>
              </p:ext>
            </p:extLst>
          </p:nvPr>
        </p:nvGraphicFramePr>
        <p:xfrm>
          <a:off x="745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31270"/>
              </p:ext>
            </p:extLst>
          </p:nvPr>
        </p:nvGraphicFramePr>
        <p:xfrm>
          <a:off x="529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9197"/>
              </p:ext>
            </p:extLst>
          </p:nvPr>
        </p:nvGraphicFramePr>
        <p:xfrm>
          <a:off x="4572000" y="57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22037"/>
              </p:ext>
            </p:extLst>
          </p:nvPr>
        </p:nvGraphicFramePr>
        <p:xfrm>
          <a:off x="601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5652000" y="5049000"/>
            <a:ext cx="19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691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65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672000" y="6309000"/>
            <a:ext cx="108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864131"/>
              </p:ext>
            </p:extLst>
          </p:nvPr>
        </p:nvGraphicFramePr>
        <p:xfrm>
          <a:off x="6552000" y="5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6 </a:t>
            </a:r>
            <a:r>
              <a:rPr lang="en-US" altLang="zh-TW" dirty="0"/>
              <a:t>Nodes</a:t>
            </a:r>
            <a:endParaRPr lang="zh-TW" altLang="en-US" dirty="0"/>
          </a:p>
        </p:txBody>
      </p:sp>
      <p:cxnSp>
        <p:nvCxnSpPr>
          <p:cNvPr id="113" name="直線接點 112"/>
          <p:cNvCxnSpPr/>
          <p:nvPr/>
        </p:nvCxnSpPr>
        <p:spPr>
          <a:xfrm flipH="1">
            <a:off x="612000" y="2169000"/>
            <a:ext cx="72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1332000" y="216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5" name="橢圓 114"/>
          <p:cNvSpPr/>
          <p:nvPr/>
        </p:nvSpPr>
        <p:spPr>
          <a:xfrm>
            <a:off x="1152000" y="19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6" name="直線接點 115"/>
          <p:cNvCxnSpPr/>
          <p:nvPr/>
        </p:nvCxnSpPr>
        <p:spPr>
          <a:xfrm>
            <a:off x="2052000" y="28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 flipH="1">
            <a:off x="1512000" y="28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1872000" y="27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592000" y="52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3132000" y="52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21" name="直線接點 120"/>
          <p:cNvCxnSpPr/>
          <p:nvPr/>
        </p:nvCxnSpPr>
        <p:spPr>
          <a:xfrm>
            <a:off x="2592000" y="360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2" name="直線接點 121"/>
          <p:cNvCxnSpPr>
            <a:endCxn id="120" idx="0"/>
          </p:cNvCxnSpPr>
          <p:nvPr/>
        </p:nvCxnSpPr>
        <p:spPr>
          <a:xfrm>
            <a:off x="2952000" y="45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3" name="直線接點 122"/>
          <p:cNvCxnSpPr>
            <a:endCxn id="127" idx="0"/>
          </p:cNvCxnSpPr>
          <p:nvPr/>
        </p:nvCxnSpPr>
        <p:spPr>
          <a:xfrm flipH="1">
            <a:off x="232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4" name="直線接點 123"/>
          <p:cNvCxnSpPr>
            <a:endCxn id="119" idx="0"/>
          </p:cNvCxnSpPr>
          <p:nvPr/>
        </p:nvCxnSpPr>
        <p:spPr>
          <a:xfrm flipH="1">
            <a:off x="2682000" y="45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25" name="橢圓 124"/>
          <p:cNvSpPr/>
          <p:nvPr/>
        </p:nvSpPr>
        <p:spPr>
          <a:xfrm>
            <a:off x="2412000" y="342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6" name="橢圓 125"/>
          <p:cNvSpPr/>
          <p:nvPr/>
        </p:nvSpPr>
        <p:spPr>
          <a:xfrm>
            <a:off x="2772000" y="43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23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15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169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0" name="直線接點 129"/>
          <p:cNvCxnSpPr>
            <a:endCxn id="129" idx="0"/>
          </p:cNvCxnSpPr>
          <p:nvPr/>
        </p:nvCxnSpPr>
        <p:spPr>
          <a:xfrm>
            <a:off x="151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1" name="直線接點 130"/>
          <p:cNvCxnSpPr>
            <a:endCxn id="128" idx="0"/>
          </p:cNvCxnSpPr>
          <p:nvPr/>
        </p:nvCxnSpPr>
        <p:spPr>
          <a:xfrm flipH="1">
            <a:off x="124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2" name="橢圓 131"/>
          <p:cNvSpPr/>
          <p:nvPr/>
        </p:nvSpPr>
        <p:spPr>
          <a:xfrm>
            <a:off x="1332000" y="342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5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9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5" name="直線接點 134"/>
          <p:cNvCxnSpPr>
            <a:endCxn id="134" idx="0"/>
          </p:cNvCxnSpPr>
          <p:nvPr/>
        </p:nvCxnSpPr>
        <p:spPr>
          <a:xfrm>
            <a:off x="61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6" name="直線接點 135"/>
          <p:cNvCxnSpPr>
            <a:endCxn id="133" idx="0"/>
          </p:cNvCxnSpPr>
          <p:nvPr/>
        </p:nvCxnSpPr>
        <p:spPr>
          <a:xfrm flipH="1">
            <a:off x="34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7" name="橢圓 136"/>
          <p:cNvSpPr/>
          <p:nvPr/>
        </p:nvSpPr>
        <p:spPr>
          <a:xfrm>
            <a:off x="43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72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3" name="直線接點 2"/>
          <p:cNvCxnSpPr>
            <a:endCxn id="7" idx="0"/>
          </p:cNvCxnSpPr>
          <p:nvPr/>
        </p:nvCxnSpPr>
        <p:spPr>
          <a:xfrm>
            <a:off x="2591986" y="3069004"/>
            <a:ext cx="359995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" name="直線接點 3"/>
          <p:cNvCxnSpPr>
            <a:endCxn id="6" idx="0"/>
          </p:cNvCxnSpPr>
          <p:nvPr/>
        </p:nvCxnSpPr>
        <p:spPr>
          <a:xfrm flipH="1">
            <a:off x="2231981" y="3069004"/>
            <a:ext cx="360005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141981" y="378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61981" y="378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81981" y="450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1981" y="450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>
            <a:endCxn id="9" idx="0"/>
          </p:cNvCxnSpPr>
          <p:nvPr/>
        </p:nvCxnSpPr>
        <p:spPr>
          <a:xfrm>
            <a:off x="4932004" y="3789004"/>
            <a:ext cx="359977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>
            <a:endCxn id="8" idx="0"/>
          </p:cNvCxnSpPr>
          <p:nvPr/>
        </p:nvCxnSpPr>
        <p:spPr>
          <a:xfrm flipH="1">
            <a:off x="4571981" y="3789004"/>
            <a:ext cx="360023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2" name="矩形 11"/>
          <p:cNvSpPr/>
          <p:nvPr/>
        </p:nvSpPr>
        <p:spPr>
          <a:xfrm>
            <a:off x="7002011" y="540902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22011" y="540902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>
            <a:endCxn id="13" idx="0"/>
          </p:cNvCxnSpPr>
          <p:nvPr/>
        </p:nvCxnSpPr>
        <p:spPr>
          <a:xfrm>
            <a:off x="7452000" y="468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>
            <a:endCxn id="12" idx="0"/>
          </p:cNvCxnSpPr>
          <p:nvPr/>
        </p:nvCxnSpPr>
        <p:spPr>
          <a:xfrm flipH="1">
            <a:off x="7092000" y="468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2412000" y="28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4212000" y="2169000"/>
            <a:ext cx="16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3" name="直線接點 22"/>
          <p:cNvCxnSpPr/>
          <p:nvPr/>
        </p:nvCxnSpPr>
        <p:spPr>
          <a:xfrm flipH="1">
            <a:off x="2592000" y="2169000"/>
            <a:ext cx="16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" name="橢圓 23"/>
          <p:cNvSpPr/>
          <p:nvPr/>
        </p:nvSpPr>
        <p:spPr>
          <a:xfrm>
            <a:off x="4032000" y="19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5" name="直線接點 24"/>
          <p:cNvCxnSpPr/>
          <p:nvPr/>
        </p:nvCxnSpPr>
        <p:spPr>
          <a:xfrm>
            <a:off x="5832000" y="3069000"/>
            <a:ext cx="90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直線接點 25"/>
          <p:cNvCxnSpPr/>
          <p:nvPr/>
        </p:nvCxnSpPr>
        <p:spPr>
          <a:xfrm flipH="1">
            <a:off x="4932000" y="3069000"/>
            <a:ext cx="90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" name="橢圓 26"/>
          <p:cNvSpPr/>
          <p:nvPr/>
        </p:nvSpPr>
        <p:spPr>
          <a:xfrm>
            <a:off x="5652000" y="288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7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0" name="直線接點 29"/>
          <p:cNvCxnSpPr/>
          <p:nvPr/>
        </p:nvCxnSpPr>
        <p:spPr>
          <a:xfrm>
            <a:off x="6732000" y="3789000"/>
            <a:ext cx="7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2" name="橢圓 31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725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直線接點 125"/>
          <p:cNvCxnSpPr/>
          <p:nvPr/>
        </p:nvCxnSpPr>
        <p:spPr>
          <a:xfrm>
            <a:off x="115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7" name="直線接點 126"/>
          <p:cNvCxnSpPr/>
          <p:nvPr/>
        </p:nvCxnSpPr>
        <p:spPr>
          <a:xfrm flipH="1">
            <a:off x="61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47" name="矩形 146"/>
          <p:cNvSpPr/>
          <p:nvPr/>
        </p:nvSpPr>
        <p:spPr>
          <a:xfrm>
            <a:off x="25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9" name="直線接點 148"/>
          <p:cNvCxnSpPr>
            <a:endCxn id="148" idx="0"/>
          </p:cNvCxnSpPr>
          <p:nvPr/>
        </p:nvCxnSpPr>
        <p:spPr>
          <a:xfrm>
            <a:off x="61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0" name="直線接點 149"/>
          <p:cNvCxnSpPr>
            <a:endCxn id="147" idx="0"/>
          </p:cNvCxnSpPr>
          <p:nvPr/>
        </p:nvCxnSpPr>
        <p:spPr>
          <a:xfrm flipH="1">
            <a:off x="34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1" name="橢圓 150"/>
          <p:cNvSpPr/>
          <p:nvPr/>
        </p:nvSpPr>
        <p:spPr>
          <a:xfrm>
            <a:off x="43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3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187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5" name="直線接點 154"/>
          <p:cNvCxnSpPr>
            <a:endCxn id="154" idx="0"/>
          </p:cNvCxnSpPr>
          <p:nvPr/>
        </p:nvCxnSpPr>
        <p:spPr>
          <a:xfrm>
            <a:off x="169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6" name="直線接點 155"/>
          <p:cNvCxnSpPr>
            <a:endCxn id="153" idx="0"/>
          </p:cNvCxnSpPr>
          <p:nvPr/>
        </p:nvCxnSpPr>
        <p:spPr>
          <a:xfrm flipH="1">
            <a:off x="142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7" name="橢圓 156"/>
          <p:cNvSpPr/>
          <p:nvPr/>
        </p:nvSpPr>
        <p:spPr>
          <a:xfrm>
            <a:off x="151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7812000" y="25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727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0" name="直線接點 159"/>
          <p:cNvCxnSpPr/>
          <p:nvPr/>
        </p:nvCxnSpPr>
        <p:spPr>
          <a:xfrm flipH="1">
            <a:off x="7632000" y="90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61" name="直線接點 160"/>
          <p:cNvCxnSpPr>
            <a:endCxn id="159" idx="0"/>
          </p:cNvCxnSpPr>
          <p:nvPr/>
        </p:nvCxnSpPr>
        <p:spPr>
          <a:xfrm flipH="1">
            <a:off x="736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2" name="直線接點 161"/>
          <p:cNvCxnSpPr>
            <a:endCxn id="158" idx="0"/>
          </p:cNvCxnSpPr>
          <p:nvPr/>
        </p:nvCxnSpPr>
        <p:spPr>
          <a:xfrm>
            <a:off x="7632000" y="18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3" name="直線接點 162"/>
          <p:cNvCxnSpPr>
            <a:endCxn id="166" idx="0"/>
          </p:cNvCxnSpPr>
          <p:nvPr/>
        </p:nvCxnSpPr>
        <p:spPr>
          <a:xfrm>
            <a:off x="7992000" y="9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4" name="橢圓 163"/>
          <p:cNvSpPr/>
          <p:nvPr/>
        </p:nvSpPr>
        <p:spPr>
          <a:xfrm>
            <a:off x="7812000" y="72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5" name="橢圓 164"/>
          <p:cNvSpPr/>
          <p:nvPr/>
        </p:nvSpPr>
        <p:spPr>
          <a:xfrm>
            <a:off x="7452000" y="16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172000" y="16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7" name="直線接點 166"/>
          <p:cNvCxnSpPr/>
          <p:nvPr/>
        </p:nvCxnSpPr>
        <p:spPr>
          <a:xfrm>
            <a:off x="331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68" name="直線接點 167"/>
          <p:cNvCxnSpPr/>
          <p:nvPr/>
        </p:nvCxnSpPr>
        <p:spPr>
          <a:xfrm flipH="1">
            <a:off x="277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69" name="矩形 168"/>
          <p:cNvSpPr/>
          <p:nvPr/>
        </p:nvSpPr>
        <p:spPr>
          <a:xfrm>
            <a:off x="241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295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1" name="直線接點 170"/>
          <p:cNvCxnSpPr>
            <a:endCxn id="170" idx="0"/>
          </p:cNvCxnSpPr>
          <p:nvPr/>
        </p:nvCxnSpPr>
        <p:spPr>
          <a:xfrm>
            <a:off x="277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2" name="直線接點 171"/>
          <p:cNvCxnSpPr>
            <a:endCxn id="169" idx="0"/>
          </p:cNvCxnSpPr>
          <p:nvPr/>
        </p:nvCxnSpPr>
        <p:spPr>
          <a:xfrm flipH="1">
            <a:off x="250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3" name="橢圓 172"/>
          <p:cNvSpPr/>
          <p:nvPr/>
        </p:nvSpPr>
        <p:spPr>
          <a:xfrm>
            <a:off x="259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34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0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7" name="直線接點 176"/>
          <p:cNvCxnSpPr>
            <a:endCxn id="176" idx="0"/>
          </p:cNvCxnSpPr>
          <p:nvPr/>
        </p:nvCxnSpPr>
        <p:spPr>
          <a:xfrm>
            <a:off x="385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8" name="直線接點 177"/>
          <p:cNvCxnSpPr>
            <a:endCxn id="175" idx="0"/>
          </p:cNvCxnSpPr>
          <p:nvPr/>
        </p:nvCxnSpPr>
        <p:spPr>
          <a:xfrm flipH="1">
            <a:off x="358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9" name="橢圓 178"/>
          <p:cNvSpPr/>
          <p:nvPr/>
        </p:nvSpPr>
        <p:spPr>
          <a:xfrm>
            <a:off x="367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83" name="直線接點 182"/>
          <p:cNvCxnSpPr/>
          <p:nvPr/>
        </p:nvCxnSpPr>
        <p:spPr>
          <a:xfrm>
            <a:off x="2232000" y="378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4" name="直線接點 183"/>
          <p:cNvCxnSpPr/>
          <p:nvPr/>
        </p:nvCxnSpPr>
        <p:spPr>
          <a:xfrm flipH="1">
            <a:off x="1152000" y="378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85" name="橢圓 184"/>
          <p:cNvSpPr/>
          <p:nvPr/>
        </p:nvSpPr>
        <p:spPr>
          <a:xfrm>
            <a:off x="20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4" name="橢圓 173"/>
          <p:cNvSpPr/>
          <p:nvPr/>
        </p:nvSpPr>
        <p:spPr>
          <a:xfrm>
            <a:off x="313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2" name="橢圓 151"/>
          <p:cNvSpPr/>
          <p:nvPr/>
        </p:nvSpPr>
        <p:spPr>
          <a:xfrm>
            <a:off x="97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58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5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37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492000" y="3789000"/>
            <a:ext cx="0" cy="54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93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73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532000" y="378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6012000" y="36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619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5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55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6372000" y="55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6012000" y="522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852000" y="3969000"/>
            <a:ext cx="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6012000" y="12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8172000" y="396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6012000" y="369000"/>
            <a:ext cx="288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892000" y="369000"/>
            <a:ext cx="0" cy="450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552000" y="4869000"/>
            <a:ext cx="234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552000" y="468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492000" y="4329000"/>
            <a:ext cx="1980000" cy="3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652000" y="378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85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372000" y="378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932000" y="378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372000" y="504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4212000" y="378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192000" y="378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8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57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73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45167"/>
              </p:ext>
            </p:extLst>
          </p:nvPr>
        </p:nvGraphicFramePr>
        <p:xfrm>
          <a:off x="54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57413"/>
              </p:ext>
            </p:extLst>
          </p:nvPr>
        </p:nvGraphicFramePr>
        <p:xfrm>
          <a:off x="403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0093"/>
              </p:ext>
            </p:extLst>
          </p:nvPr>
        </p:nvGraphicFramePr>
        <p:xfrm>
          <a:off x="691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09113"/>
              </p:ext>
            </p:extLst>
          </p:nvPr>
        </p:nvGraphicFramePr>
        <p:xfrm>
          <a:off x="331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639804"/>
              </p:ext>
            </p:extLst>
          </p:nvPr>
        </p:nvGraphicFramePr>
        <p:xfrm>
          <a:off x="475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778923"/>
              </p:ext>
            </p:extLst>
          </p:nvPr>
        </p:nvGraphicFramePr>
        <p:xfrm>
          <a:off x="619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27978"/>
              </p:ext>
            </p:extLst>
          </p:nvPr>
        </p:nvGraphicFramePr>
        <p:xfrm>
          <a:off x="547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014980"/>
              </p:ext>
            </p:extLst>
          </p:nvPr>
        </p:nvGraphicFramePr>
        <p:xfrm>
          <a:off x="76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552000" y="378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81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4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 flipV="1">
            <a:off x="3852000" y="4689000"/>
            <a:ext cx="1800000" cy="3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59030"/>
              </p:ext>
            </p:extLst>
          </p:nvPr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Red-black Tree </a:t>
            </a:r>
            <a:r>
              <a:rPr lang="en-US" altLang="zh-TW" dirty="0"/>
              <a:t>with </a:t>
            </a:r>
            <a:r>
              <a:rPr lang="en-US" altLang="zh-TW" dirty="0" smtClean="0"/>
              <a:t>7 Nodes</a:t>
            </a:r>
            <a:endParaRPr lang="zh-TW" altLang="en-US" dirty="0"/>
          </a:p>
        </p:txBody>
      </p:sp>
      <p:cxnSp>
        <p:nvCxnSpPr>
          <p:cNvPr id="125" name="直線接點 124"/>
          <p:cNvCxnSpPr/>
          <p:nvPr/>
        </p:nvCxnSpPr>
        <p:spPr>
          <a:xfrm>
            <a:off x="1152000" y="486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6" name="直線接點 125"/>
          <p:cNvCxnSpPr/>
          <p:nvPr/>
        </p:nvCxnSpPr>
        <p:spPr>
          <a:xfrm flipH="1">
            <a:off x="612000" y="486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27" name="矩形 126"/>
          <p:cNvSpPr/>
          <p:nvPr/>
        </p:nvSpPr>
        <p:spPr>
          <a:xfrm>
            <a:off x="25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9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29" name="直線接點 128"/>
          <p:cNvCxnSpPr>
            <a:endCxn id="128" idx="0"/>
          </p:cNvCxnSpPr>
          <p:nvPr/>
        </p:nvCxnSpPr>
        <p:spPr>
          <a:xfrm>
            <a:off x="61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0" name="直線接點 129"/>
          <p:cNvCxnSpPr>
            <a:endCxn id="127" idx="0"/>
          </p:cNvCxnSpPr>
          <p:nvPr/>
        </p:nvCxnSpPr>
        <p:spPr>
          <a:xfrm flipH="1">
            <a:off x="34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1" name="橢圓 130"/>
          <p:cNvSpPr/>
          <p:nvPr/>
        </p:nvSpPr>
        <p:spPr>
          <a:xfrm>
            <a:off x="43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33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87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4" name="直線接點 133"/>
          <p:cNvCxnSpPr>
            <a:endCxn id="133" idx="0"/>
          </p:cNvCxnSpPr>
          <p:nvPr/>
        </p:nvCxnSpPr>
        <p:spPr>
          <a:xfrm>
            <a:off x="169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5" name="直線接點 134"/>
          <p:cNvCxnSpPr>
            <a:endCxn id="132" idx="0"/>
          </p:cNvCxnSpPr>
          <p:nvPr/>
        </p:nvCxnSpPr>
        <p:spPr>
          <a:xfrm flipH="1">
            <a:off x="142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6" name="橢圓 135"/>
          <p:cNvSpPr/>
          <p:nvPr/>
        </p:nvSpPr>
        <p:spPr>
          <a:xfrm>
            <a:off x="151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7" name="直線接點 136"/>
          <p:cNvCxnSpPr/>
          <p:nvPr/>
        </p:nvCxnSpPr>
        <p:spPr>
          <a:xfrm>
            <a:off x="3312000" y="486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38" name="直線接點 137"/>
          <p:cNvCxnSpPr/>
          <p:nvPr/>
        </p:nvCxnSpPr>
        <p:spPr>
          <a:xfrm flipH="1">
            <a:off x="2772000" y="486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39" name="矩形 138"/>
          <p:cNvSpPr/>
          <p:nvPr/>
        </p:nvSpPr>
        <p:spPr>
          <a:xfrm>
            <a:off x="241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95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1" name="直線接點 140"/>
          <p:cNvCxnSpPr>
            <a:endCxn id="140" idx="0"/>
          </p:cNvCxnSpPr>
          <p:nvPr/>
        </p:nvCxnSpPr>
        <p:spPr>
          <a:xfrm>
            <a:off x="277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2" name="直線接點 141"/>
          <p:cNvCxnSpPr>
            <a:endCxn id="139" idx="0"/>
          </p:cNvCxnSpPr>
          <p:nvPr/>
        </p:nvCxnSpPr>
        <p:spPr>
          <a:xfrm flipH="1">
            <a:off x="250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43" name="橢圓 142"/>
          <p:cNvSpPr/>
          <p:nvPr/>
        </p:nvSpPr>
        <p:spPr>
          <a:xfrm>
            <a:off x="259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49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03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6" name="直線接點 145"/>
          <p:cNvCxnSpPr>
            <a:endCxn id="145" idx="0"/>
          </p:cNvCxnSpPr>
          <p:nvPr/>
        </p:nvCxnSpPr>
        <p:spPr>
          <a:xfrm>
            <a:off x="385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7" name="直線接點 146"/>
          <p:cNvCxnSpPr>
            <a:endCxn id="144" idx="0"/>
          </p:cNvCxnSpPr>
          <p:nvPr/>
        </p:nvCxnSpPr>
        <p:spPr>
          <a:xfrm flipH="1">
            <a:off x="358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48" name="橢圓 147"/>
          <p:cNvSpPr/>
          <p:nvPr/>
        </p:nvSpPr>
        <p:spPr>
          <a:xfrm>
            <a:off x="367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9" name="直線接點 148"/>
          <p:cNvCxnSpPr/>
          <p:nvPr/>
        </p:nvCxnSpPr>
        <p:spPr>
          <a:xfrm>
            <a:off x="2232000" y="396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0" name="直線接點 149"/>
          <p:cNvCxnSpPr/>
          <p:nvPr/>
        </p:nvCxnSpPr>
        <p:spPr>
          <a:xfrm flipH="1">
            <a:off x="1152000" y="396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51" name="橢圓 150"/>
          <p:cNvSpPr/>
          <p:nvPr/>
        </p:nvSpPr>
        <p:spPr>
          <a:xfrm>
            <a:off x="2052000" y="37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2" name="橢圓 151"/>
          <p:cNvSpPr/>
          <p:nvPr/>
        </p:nvSpPr>
        <p:spPr>
          <a:xfrm>
            <a:off x="3132000" y="46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3" name="橢圓 152"/>
          <p:cNvSpPr/>
          <p:nvPr/>
        </p:nvSpPr>
        <p:spPr>
          <a:xfrm>
            <a:off x="972000" y="46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40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44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44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132000" y="41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57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41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5652000" y="5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60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 smtClean="0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492000" y="432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62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7812000" y="43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652000" y="549000"/>
            <a:ext cx="30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54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22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04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132000" y="5049000"/>
            <a:ext cx="198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414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49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414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414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012000" y="540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3852000" y="414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832000" y="414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4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21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08951"/>
              </p:ext>
            </p:extLst>
          </p:nvPr>
        </p:nvGraphicFramePr>
        <p:xfrm>
          <a:off x="5112000" y="9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12825"/>
              </p:ext>
            </p:extLst>
          </p:nvPr>
        </p:nvGraphicFramePr>
        <p:xfrm>
          <a:off x="367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761686"/>
              </p:ext>
            </p:extLst>
          </p:nvPr>
        </p:nvGraphicFramePr>
        <p:xfrm>
          <a:off x="655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31948"/>
              </p:ext>
            </p:extLst>
          </p:nvPr>
        </p:nvGraphicFramePr>
        <p:xfrm>
          <a:off x="295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4804"/>
              </p:ext>
            </p:extLst>
          </p:nvPr>
        </p:nvGraphicFramePr>
        <p:xfrm>
          <a:off x="439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210163"/>
              </p:ext>
            </p:extLst>
          </p:nvPr>
        </p:nvGraphicFramePr>
        <p:xfrm>
          <a:off x="583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01097"/>
              </p:ext>
            </p:extLst>
          </p:nvPr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62308"/>
              </p:ext>
            </p:extLst>
          </p:nvPr>
        </p:nvGraphicFramePr>
        <p:xfrm>
          <a:off x="727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192000" y="414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45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492000" y="5409000"/>
            <a:ext cx="180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59030"/>
              </p:ext>
            </p:extLst>
          </p:nvPr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88" name="直線接點 87"/>
          <p:cNvCxnSpPr/>
          <p:nvPr/>
        </p:nvCxnSpPr>
        <p:spPr>
          <a:xfrm>
            <a:off x="2412000" y="540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0" name="橢圓 89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1" name="直線接點 90"/>
          <p:cNvCxnSpPr/>
          <p:nvPr/>
        </p:nvCxnSpPr>
        <p:spPr>
          <a:xfrm flipH="1">
            <a:off x="683973" y="5409446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2" name="直線接點 91"/>
          <p:cNvCxnSpPr/>
          <p:nvPr/>
        </p:nvCxnSpPr>
        <p:spPr>
          <a:xfrm>
            <a:off x="972437" y="5409446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3" name="橢圓 92"/>
          <p:cNvSpPr/>
          <p:nvPr/>
        </p:nvSpPr>
        <p:spPr>
          <a:xfrm>
            <a:off x="43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115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/>
          <p:nvPr/>
        </p:nvCxnSpPr>
        <p:spPr>
          <a:xfrm flipH="1">
            <a:off x="2052001" y="5409000"/>
            <a:ext cx="359999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6" name="橢圓 95"/>
          <p:cNvSpPr/>
          <p:nvPr/>
        </p:nvSpPr>
        <p:spPr>
          <a:xfrm>
            <a:off x="187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7" name="直線接點 96"/>
          <p:cNvCxnSpPr/>
          <p:nvPr/>
        </p:nvCxnSpPr>
        <p:spPr>
          <a:xfrm flipH="1">
            <a:off x="97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直線接點 97"/>
          <p:cNvCxnSpPr/>
          <p:nvPr/>
        </p:nvCxnSpPr>
        <p:spPr>
          <a:xfrm>
            <a:off x="169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9" name="橢圓 98"/>
          <p:cNvSpPr/>
          <p:nvPr/>
        </p:nvSpPr>
        <p:spPr>
          <a:xfrm>
            <a:off x="151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79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223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Red-black Tree </a:t>
            </a:r>
            <a:r>
              <a:rPr lang="en-US" altLang="zh-TW" dirty="0"/>
              <a:t>with </a:t>
            </a:r>
            <a:r>
              <a:rPr lang="en-US" altLang="zh-TW" dirty="0" smtClean="0"/>
              <a:t>7 Nodes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070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020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( 2 );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size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"size: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size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*head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head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head + 3 ) / 256 %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 smtClean="0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+ 4 )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dirty="0" err="1" smtClean="0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leftLeaf + 3 ) / 256 % 256 &lt;&lt; </a:t>
            </a:r>
            <a:r>
              <a:rPr lang="pt-BR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</a:t>
            </a:r>
            <a:r>
              <a:rPr lang="pt-BR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pt-B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*root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+ 4 )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+ 3 ) / 256 % 256 &lt;&lt; </a:t>
            </a:r>
            <a:r>
              <a:rPr lang="pt-BR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</a:t>
            </a:r>
            <a:r>
              <a:rPr lang="pt-BR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pt-B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+ 4 )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latin typeface="Lucida Console"/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Lucida Console"/>
              </a:rPr>
              <a:t> on </a:t>
            </a:r>
            <a:r>
              <a:rPr lang="en-US" altLang="zh-TW" dirty="0" err="1" smtClean="0">
                <a:latin typeface="Lucida Console"/>
              </a:rPr>
              <a:t>x86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4046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683973" y="5157012"/>
            <a:ext cx="7776000" cy="1296000"/>
          </a:xfrm>
        </p:spPr>
        <p:txBody>
          <a:bodyPr/>
          <a:lstStyle/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0626"/>
              </p:ext>
            </p:extLst>
          </p:nvPr>
        </p:nvGraphicFramePr>
        <p:xfrm>
          <a:off x="539972" y="3861003"/>
          <a:ext cx="1872000" cy="864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36134" y="3572967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data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2123983" y="3429001"/>
            <a:ext cx="2736054" cy="8640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5436006" y="1124984"/>
            <a:ext cx="2304389" cy="863836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2843988" y="1844986"/>
            <a:ext cx="2016014" cy="432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3419856" y="1988820"/>
            <a:ext cx="1872149" cy="144018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>
            <a:off x="2843784" y="1988820"/>
            <a:ext cx="2016252" cy="12961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843784" y="2564892"/>
            <a:ext cx="2016252" cy="864108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H="1">
            <a:off x="6012180" y="1988821"/>
            <a:ext cx="2304288" cy="1296161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H="1">
            <a:off x="6012180" y="2564893"/>
            <a:ext cx="2304288" cy="864107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1108"/>
              </p:ext>
            </p:extLst>
          </p:nvPr>
        </p:nvGraphicFramePr>
        <p:xfrm>
          <a:off x="8028432" y="112471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8316468" y="1268730"/>
            <a:ext cx="0" cy="57607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59602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rightLeaf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5436005" y="1844988"/>
            <a:ext cx="1" cy="187201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5436006" y="3284998"/>
            <a:ext cx="2304016" cy="720107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48548"/>
              </p:ext>
            </p:extLst>
          </p:nvPr>
        </p:nvGraphicFramePr>
        <p:xfrm>
          <a:off x="827974" y="1124984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1115976" y="1268985"/>
            <a:ext cx="1151736" cy="5758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740022" y="3861003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head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69947"/>
              </p:ext>
            </p:extLst>
          </p:nvPr>
        </p:nvGraphicFramePr>
        <p:xfrm>
          <a:off x="7164018" y="3861003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H="1" flipV="1">
            <a:off x="6012180" y="3429000"/>
            <a:ext cx="1439840" cy="5760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740022" y="4437007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size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58435"/>
              </p:ext>
            </p:extLst>
          </p:nvPr>
        </p:nvGraphicFramePr>
        <p:xfrm>
          <a:off x="7164018" y="4437007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文字方塊 36"/>
          <p:cNvSpPr txBox="1"/>
          <p:nvPr/>
        </p:nvSpPr>
        <p:spPr>
          <a:xfrm>
            <a:off x="1979982" y="836982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root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91881"/>
              </p:ext>
            </p:extLst>
          </p:nvPr>
        </p:nvGraphicFramePr>
        <p:xfrm>
          <a:off x="2699987" y="83698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2987989" y="548997"/>
            <a:ext cx="1872251" cy="4319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" name="Line 43"/>
          <p:cNvSpPr>
            <a:spLocks noChangeShapeType="1"/>
          </p:cNvSpPr>
          <p:nvPr/>
        </p:nvSpPr>
        <p:spPr bwMode="auto">
          <a:xfrm flipH="1" flipV="1">
            <a:off x="6012010" y="548980"/>
            <a:ext cx="2304456" cy="172787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H="1">
            <a:off x="3419991" y="548999"/>
            <a:ext cx="2016320" cy="1439991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9597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leftLeaf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93912"/>
              </p:ext>
            </p:extLst>
          </p:nvPr>
        </p:nvGraphicFramePr>
        <p:xfrm>
          <a:off x="251970" y="184498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73748"/>
              </p:ext>
            </p:extLst>
          </p:nvPr>
        </p:nvGraphicFramePr>
        <p:xfrm>
          <a:off x="2843988" y="40497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29037"/>
              </p:ext>
            </p:extLst>
          </p:nvPr>
        </p:nvGraphicFramePr>
        <p:xfrm>
          <a:off x="2843988" y="328499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93633"/>
              </p:ext>
            </p:extLst>
          </p:nvPr>
        </p:nvGraphicFramePr>
        <p:xfrm>
          <a:off x="5724008" y="184498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>
            <a:off x="6876016" y="404979"/>
            <a:ext cx="720000" cy="28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x86</a:t>
            </a:r>
            <a:endParaRPr kumimoji="0" lang="zh-TW" altLang="en-US" sz="2000" dirty="0">
              <a:solidFill>
                <a:srgbClr val="0000FF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46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527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( 9 );</a:t>
            </a:r>
          </a:p>
          <a:p>
            <a:pPr lvl="0"/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size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"size: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size &lt;&lt; endl &lt;&lt; endl;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*head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head + 3 ) % 256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head + 3 ) / 256 % 256 &lt;&lt; endl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endl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*root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+ 3 ) % 256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root + 3 ) / 256 % 256 &lt;&lt; endl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endl &lt;&lt; endl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/>
              <a:t> on </a:t>
            </a:r>
            <a:r>
              <a:rPr lang="en-US" altLang="zh-TW" dirty="0" err="1"/>
              <a:t>x64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4668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683973" y="5157012"/>
            <a:ext cx="7776000" cy="1296000"/>
          </a:xfrm>
        </p:spPr>
        <p:txBody>
          <a:bodyPr/>
          <a:lstStyle/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</p:txBody>
      </p:sp>
      <p:sp>
        <p:nvSpPr>
          <p:cNvPr id="3" name="Line 43"/>
          <p:cNvSpPr>
            <a:spLocks noChangeShapeType="1"/>
          </p:cNvSpPr>
          <p:nvPr/>
        </p:nvSpPr>
        <p:spPr bwMode="auto">
          <a:xfrm flipH="1" flipV="1">
            <a:off x="5724006" y="548979"/>
            <a:ext cx="1728013" cy="1728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243483"/>
              </p:ext>
            </p:extLst>
          </p:nvPr>
        </p:nvGraphicFramePr>
        <p:xfrm>
          <a:off x="539972" y="3861003"/>
          <a:ext cx="1872000" cy="864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35981" y="3573001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data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2123983" y="3428998"/>
            <a:ext cx="1296009" cy="8640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5292005" y="1124984"/>
            <a:ext cx="1008008" cy="864006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1691981" y="548980"/>
            <a:ext cx="1728011" cy="172801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2843988" y="1988990"/>
            <a:ext cx="1152008" cy="144001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H="1">
            <a:off x="2843987" y="548980"/>
            <a:ext cx="1008008" cy="144001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>
            <a:off x="2412000" y="1989000"/>
            <a:ext cx="1007992" cy="129599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412000" y="2529000"/>
            <a:ext cx="1007992" cy="9000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H="1">
            <a:off x="5724178" y="1989000"/>
            <a:ext cx="1007822" cy="129598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H="1">
            <a:off x="5724178" y="2529000"/>
            <a:ext cx="1367822" cy="9000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36433"/>
              </p:ext>
            </p:extLst>
          </p:nvPr>
        </p:nvGraphicFramePr>
        <p:xfrm>
          <a:off x="7164426" y="112471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7452462" y="1268730"/>
            <a:ext cx="0" cy="57607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732015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rightLeaf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571999" y="1556987"/>
            <a:ext cx="1" cy="216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4572000" y="1988989"/>
            <a:ext cx="1728012" cy="2016115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9901"/>
              </p:ext>
            </p:extLst>
          </p:nvPr>
        </p:nvGraphicFramePr>
        <p:xfrm>
          <a:off x="827974" y="1124984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1115976" y="1268985"/>
            <a:ext cx="576004" cy="5760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308019" y="3573001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head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55307"/>
              </p:ext>
            </p:extLst>
          </p:nvPr>
        </p:nvGraphicFramePr>
        <p:xfrm>
          <a:off x="6732015" y="3573001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H="1" flipV="1">
            <a:off x="5724007" y="3429000"/>
            <a:ext cx="1296009" cy="2880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308019" y="4149005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size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36158"/>
              </p:ext>
            </p:extLst>
          </p:nvPr>
        </p:nvGraphicFramePr>
        <p:xfrm>
          <a:off x="6732015" y="4149005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文字方塊 36"/>
          <p:cNvSpPr txBox="1"/>
          <p:nvPr/>
        </p:nvSpPr>
        <p:spPr>
          <a:xfrm>
            <a:off x="1403978" y="404979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root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10494"/>
              </p:ext>
            </p:extLst>
          </p:nvPr>
        </p:nvGraphicFramePr>
        <p:xfrm>
          <a:off x="2123983" y="404979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2411985" y="548979"/>
            <a:ext cx="1008007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9597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leftLeaf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21306"/>
              </p:ext>
            </p:extLst>
          </p:nvPr>
        </p:nvGraphicFramePr>
        <p:xfrm>
          <a:off x="3419992" y="40497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76156"/>
              </p:ext>
            </p:extLst>
          </p:nvPr>
        </p:nvGraphicFramePr>
        <p:xfrm>
          <a:off x="539972" y="184498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69961"/>
              </p:ext>
            </p:extLst>
          </p:nvPr>
        </p:nvGraphicFramePr>
        <p:xfrm>
          <a:off x="3419992" y="328499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654550"/>
              </p:ext>
            </p:extLst>
          </p:nvPr>
        </p:nvGraphicFramePr>
        <p:xfrm>
          <a:off x="6300012" y="184498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>
            <a:off x="6876016" y="404979"/>
            <a:ext cx="720000" cy="28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x64</a:t>
            </a:r>
            <a:endParaRPr kumimoji="0" lang="zh-TW" altLang="en-US" sz="2000" dirty="0">
              <a:solidFill>
                <a:srgbClr val="0000FF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80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Internal Implementation of STL::set in Visual C++ </a:t>
            </a:r>
            <a:r>
              <a:rPr lang="en-US" altLang="zh-TW" dirty="0" smtClean="0"/>
              <a:t>2022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1444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8460000" cy="612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Voidptr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Left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left subtree, or smallest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parent, or root of tree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right subtree, or largest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_Color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0: Red, 1: Black, _Black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1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only if head (also nil)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stored value, unused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5990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Left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      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0x000FUL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0x00F0UL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65536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node + 3 )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0x0F00UL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69818"/>
              </p:ext>
            </p:extLst>
          </p:nvPr>
        </p:nvGraphicFramePr>
        <p:xfrm>
          <a:off x="7020017" y="1556987"/>
          <a:ext cx="1296000" cy="23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14150"/>
              </p:ext>
            </p:extLst>
          </p:nvPr>
        </p:nvGraphicFramePr>
        <p:xfrm>
          <a:off x="1835981" y="1700988"/>
          <a:ext cx="4176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7758553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4455884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604224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short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Left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short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65536      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0xFF00UL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09901"/>
              </p:ext>
            </p:extLst>
          </p:nvPr>
        </p:nvGraphicFramePr>
        <p:xfrm>
          <a:off x="7020017" y="1556987"/>
          <a:ext cx="1296000" cy="23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71169"/>
              </p:ext>
            </p:extLst>
          </p:nvPr>
        </p:nvGraphicFramePr>
        <p:xfrm>
          <a:off x="1835981" y="1700988"/>
          <a:ext cx="4176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7758553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589211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latin typeface="+mn-lt"/>
                <a:ea typeface="細明體" panose="02020509000000000000" pitchFamily="49" charset="-120"/>
              </a:rPr>
              <a:t>long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Left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 smtClean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== *( node 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== *( node 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 smtClean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+ 4 )</a:t>
            </a:r>
          </a:p>
          <a:p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10052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389495"/>
              </p:ext>
            </p:extLst>
          </p:nvPr>
        </p:nvGraphicFramePr>
        <p:xfrm>
          <a:off x="2843988" y="1700988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429249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smtClean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 long</a:t>
            </a:r>
            <a:r>
              <a:rPr lang="en-US" altLang="zh-TW" dirty="0" smtClean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*_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Left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Parent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Right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 long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+ 4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53978"/>
              </p:ext>
            </p:extLst>
          </p:nvPr>
        </p:nvGraphicFramePr>
        <p:xfrm>
          <a:off x="7020017" y="1556987"/>
          <a:ext cx="1296000" cy="460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54795"/>
              </p:ext>
            </p:extLst>
          </p:nvPr>
        </p:nvGraphicFramePr>
        <p:xfrm>
          <a:off x="2843988" y="1700988"/>
          <a:ext cx="3168000" cy="1728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118432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   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0x0000000FULL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+ 3 ) &amp; 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0x000000F0ULL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3 ) / 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65536 %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256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0x00000F00ULL</a:t>
            </a:r>
            <a:endParaRPr lang="en-US" altLang="zh-TW" baseline="44000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436986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439529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17510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>
                          <a:latin typeface="+mn-lt"/>
                        </a:rPr>
                        <a:t>_</a:t>
                      </a:r>
                      <a:r>
                        <a:rPr lang="en-US" altLang="zh-TW" sz="1600" dirty="0" err="1" smtClean="0">
                          <a:latin typeface="+mn-lt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347171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ea typeface="細明體" panose="02020509000000000000" pitchFamily="49" charset="-120"/>
              </a:rPr>
              <a:t>short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short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3 ) / 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65536 % </a:t>
            </a:r>
            <a:r>
              <a:rPr lang="en-US" altLang="zh-TW" dirty="0" err="1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twoTo32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</a:t>
            </a:r>
            <a:r>
              <a:rPr lang="en-US" altLang="zh-TW" spc="600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nod</a:t>
            </a:r>
            <a:r>
              <a:rPr lang="en-US" altLang="zh-TW" spc="600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e+3</a:t>
            </a:r>
            <a:r>
              <a:rPr lang="en-US" altLang="zh-TW" spc="600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)&amp;</a:t>
            </a: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0x0000FF00ULL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endParaRPr lang="en-US" altLang="zh-TW" baseline="44000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557641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70407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>
                          <a:latin typeface="+mn-lt"/>
                        </a:rPr>
                        <a:t>_</a:t>
                      </a:r>
                      <a:r>
                        <a:rPr lang="en-US" altLang="zh-TW" sz="1600" dirty="0" err="1" smtClean="0">
                          <a:latin typeface="+mn-lt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54858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 smtClean="0">
                <a:latin typeface="+mn-lt"/>
              </a:rPr>
              <a:t> on </a:t>
            </a:r>
            <a:r>
              <a:rPr lang="en-US" altLang="zh-TW" dirty="0" err="1" smtClean="0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3 ) / </a:t>
            </a:r>
            <a:r>
              <a:rPr lang="en-US" altLang="zh-TW" dirty="0" err="1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twoTo32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node2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0xFFFF0000ULL</a:t>
            </a:r>
            <a:endParaRPr lang="en-US" altLang="zh-TW" baseline="44000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757184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0174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702747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971" y="260978"/>
            <a:ext cx="6768048" cy="720005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sz="2400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sz="2400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2400" dirty="0" smtClean="0">
                <a:ea typeface="細明體" panose="02020509000000000000" pitchFamily="49" charset="-120"/>
              </a:rPr>
              <a:t>long long</a:t>
            </a:r>
            <a:r>
              <a:rPr lang="en-US" altLang="zh-TW" sz="24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&gt;</a:t>
            </a:r>
            <a:r>
              <a:rPr lang="en-US" altLang="zh-TW" sz="2400" dirty="0" smtClean="0"/>
              <a:t> on </a:t>
            </a:r>
            <a:r>
              <a:rPr lang="en-US" altLang="zh-TW" sz="2400" dirty="0" err="1" smtClean="0"/>
              <a:t>x64</a:t>
            </a:r>
            <a:endParaRPr lang="zh-TW" altLang="en-US" sz="2400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long long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</a:t>
            </a:r>
            <a:r>
              <a:rPr lang="en-US" altLang="zh-TW" dirty="0" smtClean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4 )</a:t>
            </a:r>
            <a:endParaRPr lang="en-US" altLang="zh-TW" baseline="44000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15194"/>
              </p:ext>
            </p:extLst>
          </p:nvPr>
        </p:nvGraphicFramePr>
        <p:xfrm>
          <a:off x="1691980" y="1700988"/>
          <a:ext cx="4320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42199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980498"/>
              </p:ext>
            </p:extLst>
          </p:nvPr>
        </p:nvGraphicFramePr>
        <p:xfrm>
          <a:off x="7020017" y="548980"/>
          <a:ext cx="1296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細明體" panose="02020509000000000000" pitchFamily="49" charset="-120"/>
                          <a:cs typeface="+mn-cs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細明體" panose="02020509000000000000" pitchFamily="49" charset="-120"/>
                          <a:cs typeface="+mn-cs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057541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6588014" y="1124984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08019" y="1124984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7452020" y="692978"/>
            <a:ext cx="576003" cy="5760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smtClean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 smtClea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450987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269000"/>
            <a:ext cx="8280000" cy="5040000"/>
          </a:xfrm>
        </p:spPr>
        <p:txBody>
          <a:bodyPr/>
          <a:lstStyle/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1: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2: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3: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root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not the root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4.4: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4.5: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</a:t>
            </a:r>
            <a:r>
              <a:rPr lang="en-US" altLang="zh-TW" sz="22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black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Note: In cases 4.1, 4.2, and 4.3, we assume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. If it is the right child, left and right should be reversed throughout these three </a:t>
            </a:r>
            <a:r>
              <a:rPr lang="en-US" altLang="zh-TW" sz="2200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cases.</a:t>
            </a:r>
          </a:p>
        </p:txBody>
      </p:sp>
      <p:cxnSp>
        <p:nvCxnSpPr>
          <p:cNvPr id="4" name="直線接點 3"/>
          <p:cNvCxnSpPr/>
          <p:nvPr/>
        </p:nvCxnSpPr>
        <p:spPr>
          <a:xfrm>
            <a:off x="7308019" y="3140998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732015" y="2852996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300012" y="342900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452020" y="4293006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7164738" y="4293006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8316026" y="4293006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8028744" y="4293006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7452020" y="3717463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7884485" y="3717463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7740022" y="357300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7308019" y="4149005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8172025" y="4149005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028024" y="342900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876016" y="400500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460027" y="400500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 flipH="1">
            <a:off x="6875104" y="3140998"/>
            <a:ext cx="432915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7164018" y="2996997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02873" y="3645465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627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5940000" cy="3708012"/>
          </a:xfrm>
        </p:spPr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4.1: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4.1.1)</a:t>
            </a: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4.2.1)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4.3.1)</a:t>
            </a: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4.4)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4.5)</a:t>
            </a:r>
          </a:p>
        </p:txBody>
      </p:sp>
      <p:cxnSp>
        <p:nvCxnSpPr>
          <p:cNvPr id="4" name="直線接點 3"/>
          <p:cNvCxnSpPr/>
          <p:nvPr/>
        </p:nvCxnSpPr>
        <p:spPr>
          <a:xfrm>
            <a:off x="6876016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300012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724008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16401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687673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8028024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7740742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7164018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7596483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7452020" y="2708995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7020017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884023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74002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588014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172025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 flipH="1">
            <a:off x="6299100" y="2276992"/>
            <a:ext cx="576916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6732015" y="213299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26869" y="2781459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496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5940000" cy="3708012"/>
          </a:xfrm>
        </p:spPr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4.2: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4.1.2)</a:t>
            </a: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4.2.2)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4.3.2)</a:t>
            </a: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4.4)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4.5)</a:t>
            </a:r>
          </a:p>
        </p:txBody>
      </p:sp>
      <p:cxnSp>
        <p:nvCxnSpPr>
          <p:cNvPr id="4" name="直線接點 3"/>
          <p:cNvCxnSpPr/>
          <p:nvPr/>
        </p:nvCxnSpPr>
        <p:spPr>
          <a:xfrm flipH="1">
            <a:off x="6732016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876016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56011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6300012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6012730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716401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687673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6300012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6732477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6588014" y="2708995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156011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020017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72025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24008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308019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>
            <a:off x="7452020" y="2276992"/>
            <a:ext cx="575092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7308019" y="213299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54881" y="2781459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388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4.1:</a:t>
            </a:r>
            <a:r>
              <a:rPr lang="en-US" altLang="zh-TW" sz="2400" i="1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N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the left child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4.1.1: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red</a:t>
            </a:r>
            <a:endParaRPr lang="en-US" altLang="zh-TW" dirty="0">
              <a:solidFill>
                <a:srgbClr val="00B050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4.1.2: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black</a:t>
            </a: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0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4.2:</a:t>
            </a:r>
            <a:r>
              <a:rPr lang="en-US" altLang="zh-TW" sz="2400" i="1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N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the right child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4.2.1: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red</a:t>
            </a:r>
            <a:endParaRPr lang="en-US" altLang="zh-TW" dirty="0">
              <a:solidFill>
                <a:srgbClr val="00B050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4.2.2: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black</a:t>
            </a: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0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583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8280000" cy="3240000"/>
          </a:xfrm>
        </p:spPr>
        <p:txBody>
          <a:bodyPr>
            <a:normAutofit/>
          </a:bodyPr>
          <a:lstStyle/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200" i="1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200" i="1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4.4: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4.5: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</a:t>
            </a:r>
          </a:p>
        </p:txBody>
      </p:sp>
    </p:spTree>
    <p:extLst>
      <p:ext uri="{BB962C8B-B14F-4D97-AF65-F5344CB8AC3E}">
        <p14:creationId xmlns:p14="http://schemas.microsoft.com/office/powerpoint/2010/main" val="319791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ea typeface="標楷體"/>
              </a:rPr>
              <a:t>Case 4.4: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,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i="1" baseline="-25000" dirty="0">
                <a:ea typeface="標楷體"/>
              </a:rPr>
              <a:t>R</a:t>
            </a:r>
            <a:r>
              <a:rPr lang="en-US" altLang="zh-TW" sz="3600" dirty="0">
                <a:ea typeface="標楷體"/>
              </a:rPr>
              <a:t> and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i="1" baseline="-25000" dirty="0">
                <a:ea typeface="標楷體"/>
              </a:rPr>
              <a:t>L</a:t>
            </a:r>
            <a:r>
              <a:rPr lang="en-US" altLang="zh-TW" sz="3600" dirty="0">
                <a:ea typeface="標楷體"/>
              </a:rPr>
              <a:t> are black, but </a:t>
            </a:r>
            <a:r>
              <a:rPr lang="en-US" altLang="zh-TW" sz="3600" i="1" dirty="0">
                <a:ea typeface="標楷體"/>
              </a:rPr>
              <a:t>P</a:t>
            </a:r>
            <a:r>
              <a:rPr lang="en-US" altLang="zh-TW" sz="3600" dirty="0">
                <a:ea typeface="標楷體"/>
              </a:rPr>
              <a:t> is red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432004"/>
          </a:xfrm>
        </p:spPr>
        <p:txBody>
          <a:bodyPr>
            <a:normAutofit/>
          </a:bodyPr>
          <a:lstStyle/>
          <a:p>
            <a:pPr marL="457200" lvl="0" indent="-457200" defTabSz="91440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TW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Exchange </a:t>
            </a: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the colors of </a:t>
            </a:r>
            <a:r>
              <a:rPr lang="en-US" altLang="zh-TW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i="1" dirty="0" smtClean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2267985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3708456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987989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843988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56399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3419789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385199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1835981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1548699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2699987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412705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1835981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2268446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12398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691980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2555986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69198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59977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843988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6012010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5157012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29200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860002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444013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1835982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1836443" y="2853457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2555986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1979982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2411985" y="2132991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691980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1547776" y="2853457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1259977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284398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255670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3707994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3420712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2843988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3276453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3131990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2699987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3563993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341999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2267984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51995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04" name="直線接點 103"/>
          <p:cNvCxnSpPr/>
          <p:nvPr/>
        </p:nvCxnSpPr>
        <p:spPr>
          <a:xfrm flipH="1">
            <a:off x="5436007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5" name="直線接點 104"/>
          <p:cNvCxnSpPr/>
          <p:nvPr/>
        </p:nvCxnSpPr>
        <p:spPr>
          <a:xfrm>
            <a:off x="5436468" y="2853457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6" name="直線接點 105"/>
          <p:cNvCxnSpPr/>
          <p:nvPr/>
        </p:nvCxnSpPr>
        <p:spPr>
          <a:xfrm>
            <a:off x="6156011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07" name="文字方塊 106"/>
          <p:cNvSpPr txBox="1"/>
          <p:nvPr/>
        </p:nvSpPr>
        <p:spPr>
          <a:xfrm>
            <a:off x="5580007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6012010" y="2132991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292005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0" name="直線接點 109"/>
          <p:cNvCxnSpPr/>
          <p:nvPr/>
        </p:nvCxnSpPr>
        <p:spPr>
          <a:xfrm flipH="1">
            <a:off x="5147801" y="2853457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1" name="文字方塊 110"/>
          <p:cNvSpPr txBox="1"/>
          <p:nvPr/>
        </p:nvSpPr>
        <p:spPr>
          <a:xfrm>
            <a:off x="486000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12" name="直線接點 111"/>
          <p:cNvCxnSpPr/>
          <p:nvPr/>
        </p:nvCxnSpPr>
        <p:spPr>
          <a:xfrm>
            <a:off x="6444013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直線接點 112"/>
          <p:cNvCxnSpPr/>
          <p:nvPr/>
        </p:nvCxnSpPr>
        <p:spPr>
          <a:xfrm flipH="1">
            <a:off x="6156731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7308019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5" name="直線接點 114"/>
          <p:cNvCxnSpPr/>
          <p:nvPr/>
        </p:nvCxnSpPr>
        <p:spPr>
          <a:xfrm flipH="1">
            <a:off x="7020737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6" name="直線接點 115"/>
          <p:cNvCxnSpPr/>
          <p:nvPr/>
        </p:nvCxnSpPr>
        <p:spPr>
          <a:xfrm flipH="1">
            <a:off x="6444013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>
            <a:off x="6876478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6732015" y="2708995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6300012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7164018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7020017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868009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452020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1105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800" dirty="0">
                <a:ea typeface="標楷體"/>
              </a:rPr>
              <a:t>Case </a:t>
            </a:r>
            <a:r>
              <a:rPr lang="en-US" altLang="zh-TW" dirty="0">
                <a:ea typeface="標楷體"/>
              </a:rPr>
              <a:t>4.2.1</a:t>
            </a:r>
            <a:r>
              <a:rPr lang="en-US" altLang="zh-TW" sz="2800" dirty="0">
                <a:ea typeface="標楷體"/>
              </a:rPr>
              <a:t>: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dirty="0">
                <a:ea typeface="標楷體"/>
              </a:rPr>
              <a:t> is black,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i="1" baseline="-25000" dirty="0">
                <a:ea typeface="標楷體"/>
              </a:rPr>
              <a:t>R</a:t>
            </a:r>
            <a:r>
              <a:rPr lang="en-US" altLang="zh-TW" sz="2800" dirty="0">
                <a:ea typeface="標楷體"/>
              </a:rPr>
              <a:t> is red and </a:t>
            </a:r>
            <a:r>
              <a:rPr lang="en-US" altLang="zh-TW" sz="2800" i="1" dirty="0">
                <a:ea typeface="標楷體"/>
              </a:rPr>
              <a:t>N</a:t>
            </a:r>
            <a:r>
              <a:rPr lang="en-US" altLang="zh-TW" sz="2800" dirty="0">
                <a:ea typeface="標楷體"/>
              </a:rPr>
              <a:t> is the left child of </a:t>
            </a:r>
            <a:r>
              <a:rPr lang="en-US" altLang="zh-TW" sz="2800" i="1" dirty="0">
                <a:ea typeface="標楷體"/>
              </a:rPr>
              <a:t>P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spc="100" dirty="0" smtClean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 smtClean="0">
                <a:solidFill>
                  <a:prstClr val="black"/>
                </a:solidFill>
                <a:ea typeface="標楷體"/>
              </a:rPr>
              <a:t>R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black</a:t>
            </a:r>
            <a:endParaRPr lang="zh-TW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Rotate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left 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 smtClean="0">
              <a:solidFill>
                <a:prstClr val="black"/>
              </a:solidFill>
              <a:ea typeface="標楷體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2" name="直線接點 51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57" name="橢圓 56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86000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4581008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44401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7452020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686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800" dirty="0">
                <a:ea typeface="標楷體"/>
              </a:rPr>
              <a:t>Case </a:t>
            </a:r>
            <a:r>
              <a:rPr lang="en-US" altLang="zh-TW" dirty="0">
                <a:ea typeface="標楷體"/>
              </a:rPr>
              <a:t>4.2.2</a:t>
            </a:r>
            <a:r>
              <a:rPr lang="en-US" altLang="zh-TW" sz="2800" dirty="0" smtClean="0">
                <a:ea typeface="標楷體"/>
              </a:rPr>
              <a:t>: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dirty="0">
                <a:ea typeface="標楷體"/>
              </a:rPr>
              <a:t> is black, </a:t>
            </a:r>
            <a:r>
              <a:rPr lang="en-US" altLang="zh-TW" sz="2800" i="1" dirty="0" smtClean="0">
                <a:ea typeface="標楷體"/>
              </a:rPr>
              <a:t>S</a:t>
            </a:r>
            <a:r>
              <a:rPr lang="en-US" altLang="zh-TW" sz="2800" i="1" baseline="-25000" dirty="0" smtClean="0">
                <a:ea typeface="標楷體"/>
              </a:rPr>
              <a:t>L</a:t>
            </a:r>
            <a:r>
              <a:rPr lang="en-US" altLang="zh-TW" sz="2800" dirty="0" smtClean="0">
                <a:ea typeface="標楷體"/>
              </a:rPr>
              <a:t> </a:t>
            </a:r>
            <a:r>
              <a:rPr lang="en-US" altLang="zh-TW" sz="2800" dirty="0">
                <a:ea typeface="標楷體"/>
              </a:rPr>
              <a:t>is red and </a:t>
            </a:r>
            <a:r>
              <a:rPr lang="en-US" altLang="zh-TW" sz="2800" i="1" dirty="0">
                <a:ea typeface="標楷體"/>
              </a:rPr>
              <a:t>N</a:t>
            </a:r>
            <a:r>
              <a:rPr lang="en-US" altLang="zh-TW" sz="2800" dirty="0">
                <a:ea typeface="標楷體"/>
              </a:rPr>
              <a:t> is the </a:t>
            </a:r>
            <a:r>
              <a:rPr lang="en-US" altLang="zh-TW" sz="2800" dirty="0" smtClean="0">
                <a:ea typeface="標楷體"/>
              </a:rPr>
              <a:t>right </a:t>
            </a:r>
            <a:r>
              <a:rPr lang="en-US" altLang="zh-TW" sz="2800" dirty="0">
                <a:ea typeface="標楷體"/>
              </a:rPr>
              <a:t>child of </a:t>
            </a:r>
            <a:r>
              <a:rPr lang="en-US" altLang="zh-TW" sz="2800" i="1" dirty="0">
                <a:ea typeface="標楷體"/>
              </a:rPr>
              <a:t>P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spc="100" dirty="0" smtClean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 smtClean="0">
                <a:solidFill>
                  <a:prstClr val="black"/>
                </a:solidFill>
                <a:ea typeface="標楷體"/>
              </a:rPr>
              <a:t>L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black</a:t>
            </a:r>
            <a:endParaRPr lang="zh-TW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Rotate right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 smtClean="0">
              <a:solidFill>
                <a:prstClr val="black"/>
              </a:solidFill>
              <a:ea typeface="標楷體"/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" name="直線接點 4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" name="直線接點 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" name="直線接點 15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24" name="直線接點 2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" name="直線接點 24"/>
          <p:cNvCxnSpPr/>
          <p:nvPr/>
        </p:nvCxnSpPr>
        <p:spPr>
          <a:xfrm>
            <a:off x="586847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直線接點 2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" name="文字方塊 26"/>
          <p:cNvSpPr txBox="1"/>
          <p:nvPr/>
        </p:nvSpPr>
        <p:spPr>
          <a:xfrm>
            <a:off x="7452020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0" name="直線接點 29"/>
          <p:cNvCxnSpPr/>
          <p:nvPr/>
        </p:nvCxnSpPr>
        <p:spPr>
          <a:xfrm flipH="1">
            <a:off x="557980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1" name="文字方塊 30"/>
          <p:cNvSpPr txBox="1"/>
          <p:nvPr/>
        </p:nvSpPr>
        <p:spPr>
          <a:xfrm>
            <a:off x="788402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2" name="直線接點 31"/>
          <p:cNvCxnSpPr/>
          <p:nvPr/>
        </p:nvCxnSpPr>
        <p:spPr>
          <a:xfrm>
            <a:off x="687601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58873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74002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" name="直線接點 34"/>
          <p:cNvCxnSpPr/>
          <p:nvPr/>
        </p:nvCxnSpPr>
        <p:spPr>
          <a:xfrm flipH="1">
            <a:off x="745274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6" name="直線接點 35"/>
          <p:cNvCxnSpPr/>
          <p:nvPr/>
        </p:nvCxnSpPr>
        <p:spPr>
          <a:xfrm flipH="1">
            <a:off x="687601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7" name="直線接點 36"/>
          <p:cNvCxnSpPr/>
          <p:nvPr/>
        </p:nvCxnSpPr>
        <p:spPr>
          <a:xfrm>
            <a:off x="730848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8" name="橢圓 37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73201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759602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30001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8205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400" dirty="0">
                <a:ea typeface="標楷體"/>
              </a:rPr>
              <a:t>Case 4.3.1: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dirty="0">
                <a:ea typeface="標楷體"/>
              </a:rPr>
              <a:t> and</a:t>
            </a:r>
            <a:r>
              <a:rPr lang="en-US" altLang="zh-TW" sz="2400" i="1" dirty="0">
                <a:ea typeface="標楷體"/>
              </a:rPr>
              <a:t> S</a:t>
            </a:r>
            <a:r>
              <a:rPr lang="en-US" altLang="zh-TW" sz="2400" i="1" baseline="-25000" dirty="0">
                <a:ea typeface="標楷體"/>
              </a:rPr>
              <a:t>R</a:t>
            </a:r>
            <a:r>
              <a:rPr lang="en-US" altLang="zh-TW" sz="2400" dirty="0">
                <a:ea typeface="標楷體"/>
              </a:rPr>
              <a:t> are black, </a:t>
            </a:r>
            <a:r>
              <a:rPr lang="en-US" altLang="zh-TW" sz="2400" i="1" dirty="0">
                <a:ea typeface="標楷體"/>
              </a:rPr>
              <a:t>N</a:t>
            </a:r>
            <a:r>
              <a:rPr lang="en-US" altLang="zh-TW" sz="2400" dirty="0">
                <a:ea typeface="標楷體"/>
              </a:rPr>
              <a:t> is the left child of </a:t>
            </a:r>
            <a:r>
              <a:rPr lang="en-US" altLang="zh-TW" sz="2400" i="1" dirty="0">
                <a:ea typeface="標楷體"/>
              </a:rPr>
              <a:t>P</a:t>
            </a:r>
            <a:r>
              <a:rPr lang="en-US" altLang="zh-TW" sz="2400" dirty="0">
                <a:ea typeface="標楷體"/>
              </a:rPr>
              <a:t>, but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i="1" baseline="-25000" dirty="0">
                <a:ea typeface="標楷體"/>
              </a:rPr>
              <a:t>L</a:t>
            </a:r>
            <a:r>
              <a:rPr lang="en-US" altLang="zh-TW" sz="2400" dirty="0">
                <a:ea typeface="標楷體"/>
              </a:rPr>
              <a:t> is red</a:t>
            </a:r>
            <a:endParaRPr lang="en-US" altLang="zh-TW" sz="2400" i="1" dirty="0">
              <a:ea typeface="標楷體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/>
          <a:lstStyle/>
          <a:p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Exchange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and </a:t>
            </a:r>
            <a:r>
              <a:rPr lang="en-US" altLang="zh-TW" i="1" spc="100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>
                <a:solidFill>
                  <a:prstClr val="black"/>
                </a:solidFill>
                <a:ea typeface="標楷體"/>
              </a:rPr>
              <a:t>L</a:t>
            </a:r>
            <a:endParaRPr lang="en-US" altLang="zh-TW" dirty="0" smtClean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Rotate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right 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S</a:t>
            </a:r>
          </a:p>
          <a:p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Go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to Case 4.2.1</a:t>
            </a:r>
            <a:endParaRPr lang="zh-TW" altLang="en-US" dirty="0"/>
          </a:p>
        </p:txBody>
      </p:sp>
      <p:cxnSp>
        <p:nvCxnSpPr>
          <p:cNvPr id="46" name="直線接點 4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8" name="直線接點 47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9" name="直線接點 48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0" name="直線接點 49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2" name="直線接點 51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3" name="橢圓 52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9" name="直線接點 58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直線接點 59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1" name="文字方塊 60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5" name="文字方塊 64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6" name="直線接點 65"/>
          <p:cNvCxnSpPr/>
          <p:nvPr/>
        </p:nvCxnSpPr>
        <p:spPr>
          <a:xfrm>
            <a:off x="6156011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7" name="直線接點 66"/>
          <p:cNvCxnSpPr/>
          <p:nvPr/>
        </p:nvCxnSpPr>
        <p:spPr>
          <a:xfrm>
            <a:off x="6732015" y="4149005"/>
            <a:ext cx="288002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8" name="直線接點 67"/>
          <p:cNvCxnSpPr/>
          <p:nvPr/>
        </p:nvCxnSpPr>
        <p:spPr>
          <a:xfrm flipH="1">
            <a:off x="6444013" y="4149005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9" name="直線接點 68"/>
          <p:cNvCxnSpPr/>
          <p:nvPr/>
        </p:nvCxnSpPr>
        <p:spPr>
          <a:xfrm>
            <a:off x="7308019" y="5301013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0" name="直線接點 69"/>
          <p:cNvCxnSpPr/>
          <p:nvPr/>
        </p:nvCxnSpPr>
        <p:spPr>
          <a:xfrm flipH="1">
            <a:off x="7020017" y="5301013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1" name="直線接點 70"/>
          <p:cNvCxnSpPr/>
          <p:nvPr/>
        </p:nvCxnSpPr>
        <p:spPr>
          <a:xfrm flipH="1">
            <a:off x="6732015" y="472547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2" name="直線接點 71"/>
          <p:cNvCxnSpPr/>
          <p:nvPr/>
        </p:nvCxnSpPr>
        <p:spPr>
          <a:xfrm>
            <a:off x="7020479" y="472547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3" name="橢圓 72"/>
          <p:cNvSpPr/>
          <p:nvPr/>
        </p:nvSpPr>
        <p:spPr>
          <a:xfrm>
            <a:off x="6876016" y="4581008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橢圓 73"/>
          <p:cNvSpPr/>
          <p:nvPr/>
        </p:nvSpPr>
        <p:spPr>
          <a:xfrm>
            <a:off x="6588014" y="4005004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橢圓 74"/>
          <p:cNvSpPr/>
          <p:nvPr/>
        </p:nvSpPr>
        <p:spPr>
          <a:xfrm>
            <a:off x="7164018" y="515701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164018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876016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9" name="直線接點 78"/>
          <p:cNvCxnSpPr/>
          <p:nvPr/>
        </p:nvCxnSpPr>
        <p:spPr>
          <a:xfrm flipH="1">
            <a:off x="5580007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0" name="直線接點 79"/>
          <p:cNvCxnSpPr/>
          <p:nvPr/>
        </p:nvCxnSpPr>
        <p:spPr>
          <a:xfrm>
            <a:off x="5580469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1" name="文字方塊 80"/>
          <p:cNvSpPr txBox="1"/>
          <p:nvPr/>
        </p:nvSpPr>
        <p:spPr>
          <a:xfrm>
            <a:off x="5580007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6012010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5436006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5291802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5" name="文字方塊 84"/>
          <p:cNvSpPr txBox="1"/>
          <p:nvPr/>
        </p:nvSpPr>
        <p:spPr>
          <a:xfrm>
            <a:off x="5004003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8166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400" dirty="0">
                <a:ea typeface="標楷體"/>
              </a:rPr>
              <a:t>Case 4.3.2</a:t>
            </a:r>
            <a:r>
              <a:rPr lang="en-US" altLang="zh-TW" sz="2400" dirty="0" smtClean="0">
                <a:ea typeface="標楷體"/>
              </a:rPr>
              <a:t>: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dirty="0">
                <a:ea typeface="標楷體"/>
              </a:rPr>
              <a:t> and</a:t>
            </a:r>
            <a:r>
              <a:rPr lang="en-US" altLang="zh-TW" sz="2400" i="1" dirty="0">
                <a:ea typeface="標楷體"/>
              </a:rPr>
              <a:t> </a:t>
            </a:r>
            <a:r>
              <a:rPr lang="en-US" altLang="zh-TW" sz="2400" i="1" dirty="0" smtClean="0">
                <a:ea typeface="標楷體"/>
              </a:rPr>
              <a:t>S</a:t>
            </a:r>
            <a:r>
              <a:rPr lang="en-US" altLang="zh-TW" sz="2400" i="1" baseline="-25000" dirty="0" smtClean="0">
                <a:ea typeface="標楷體"/>
              </a:rPr>
              <a:t>L</a:t>
            </a:r>
            <a:r>
              <a:rPr lang="en-US" altLang="zh-TW" sz="2400" dirty="0" smtClean="0">
                <a:ea typeface="標楷體"/>
              </a:rPr>
              <a:t> </a:t>
            </a:r>
            <a:r>
              <a:rPr lang="en-US" altLang="zh-TW" sz="2400" dirty="0">
                <a:ea typeface="標楷體"/>
              </a:rPr>
              <a:t>are black, </a:t>
            </a:r>
            <a:r>
              <a:rPr lang="en-US" altLang="zh-TW" sz="2400" i="1" dirty="0">
                <a:ea typeface="標楷體"/>
              </a:rPr>
              <a:t>N</a:t>
            </a:r>
            <a:r>
              <a:rPr lang="en-US" altLang="zh-TW" sz="2400" dirty="0">
                <a:ea typeface="標楷體"/>
              </a:rPr>
              <a:t> is the </a:t>
            </a:r>
            <a:r>
              <a:rPr lang="en-US" altLang="zh-TW" sz="2400" dirty="0" smtClean="0">
                <a:ea typeface="標楷體"/>
              </a:rPr>
              <a:t>right </a:t>
            </a:r>
            <a:r>
              <a:rPr lang="en-US" altLang="zh-TW" sz="2400" dirty="0">
                <a:ea typeface="標楷體"/>
              </a:rPr>
              <a:t>child of </a:t>
            </a:r>
            <a:r>
              <a:rPr lang="en-US" altLang="zh-TW" sz="2400" i="1" dirty="0">
                <a:ea typeface="標楷體"/>
              </a:rPr>
              <a:t>P</a:t>
            </a:r>
            <a:r>
              <a:rPr lang="en-US" altLang="zh-TW" sz="2400" dirty="0">
                <a:ea typeface="標楷體"/>
              </a:rPr>
              <a:t>, but </a:t>
            </a:r>
            <a:r>
              <a:rPr lang="en-US" altLang="zh-TW" sz="2400" i="1" dirty="0" smtClean="0">
                <a:ea typeface="標楷體"/>
              </a:rPr>
              <a:t>S</a:t>
            </a:r>
            <a:r>
              <a:rPr lang="en-US" altLang="zh-TW" sz="2400" i="1" baseline="-25000" dirty="0" smtClean="0">
                <a:ea typeface="標楷體"/>
              </a:rPr>
              <a:t>R</a:t>
            </a:r>
            <a:r>
              <a:rPr lang="en-US" altLang="zh-TW" sz="2400" dirty="0" smtClean="0">
                <a:ea typeface="標楷體"/>
              </a:rPr>
              <a:t> </a:t>
            </a:r>
            <a:r>
              <a:rPr lang="en-US" altLang="zh-TW" sz="2400" dirty="0">
                <a:ea typeface="標楷體"/>
              </a:rPr>
              <a:t>is red</a:t>
            </a:r>
            <a:endParaRPr lang="en-US" altLang="zh-TW" sz="2400" i="1" dirty="0">
              <a:ea typeface="標楷體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1152008"/>
          </a:xfrm>
        </p:spPr>
        <p:txBody>
          <a:bodyPr/>
          <a:lstStyle/>
          <a:p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Exchange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and </a:t>
            </a:r>
            <a:r>
              <a:rPr lang="en-US" altLang="zh-TW" i="1" spc="100" dirty="0" smtClean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 smtClean="0">
                <a:solidFill>
                  <a:prstClr val="black"/>
                </a:solidFill>
                <a:ea typeface="標楷體"/>
              </a:rPr>
              <a:t>R</a:t>
            </a:r>
            <a:endParaRPr lang="en-US" altLang="zh-TW" dirty="0" smtClean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Rotate left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S</a:t>
            </a: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4.2.2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6156011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" name="直線接點 6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4" name="橢圓 13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5580007" y="4149005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1" name="直線接點 20"/>
          <p:cNvCxnSpPr/>
          <p:nvPr/>
        </p:nvCxnSpPr>
        <p:spPr>
          <a:xfrm flipH="1">
            <a:off x="5292005" y="4149005"/>
            <a:ext cx="288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22" name="直線接點 21"/>
          <p:cNvCxnSpPr/>
          <p:nvPr/>
        </p:nvCxnSpPr>
        <p:spPr>
          <a:xfrm>
            <a:off x="5004003" y="5301013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3" name="直線接點 22"/>
          <p:cNvCxnSpPr/>
          <p:nvPr/>
        </p:nvCxnSpPr>
        <p:spPr>
          <a:xfrm flipH="1">
            <a:off x="4716001" y="5301013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" name="直線接點 23"/>
          <p:cNvCxnSpPr/>
          <p:nvPr/>
        </p:nvCxnSpPr>
        <p:spPr>
          <a:xfrm flipH="1">
            <a:off x="5004003" y="472547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" name="直線接點 24"/>
          <p:cNvCxnSpPr/>
          <p:nvPr/>
        </p:nvCxnSpPr>
        <p:spPr>
          <a:xfrm>
            <a:off x="5292467" y="472547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" name="橢圓 25"/>
          <p:cNvSpPr/>
          <p:nvPr/>
        </p:nvSpPr>
        <p:spPr>
          <a:xfrm>
            <a:off x="5148004" y="4581008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5436006" y="4005004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860002" y="515701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716001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004003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427999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2" name="直線接點 31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4" name="文字方塊 33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接點 36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8" name="文字方塊 37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9" name="直線接點 38"/>
          <p:cNvCxnSpPr/>
          <p:nvPr/>
        </p:nvCxnSpPr>
        <p:spPr>
          <a:xfrm flipH="1">
            <a:off x="5580007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0" name="直線接點 39"/>
          <p:cNvCxnSpPr/>
          <p:nvPr/>
        </p:nvCxnSpPr>
        <p:spPr>
          <a:xfrm>
            <a:off x="6732477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1" name="文字方塊 40"/>
          <p:cNvSpPr txBox="1"/>
          <p:nvPr/>
        </p:nvSpPr>
        <p:spPr>
          <a:xfrm>
            <a:off x="5580007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6012010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6588014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6443810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文字方塊 44"/>
          <p:cNvSpPr txBox="1"/>
          <p:nvPr/>
        </p:nvSpPr>
        <p:spPr>
          <a:xfrm>
            <a:off x="6876016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97132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3600" dirty="0">
                <a:ea typeface="標楷體"/>
              </a:rPr>
              <a:t>Case 4.1.1: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 is red and </a:t>
            </a:r>
            <a:r>
              <a:rPr lang="en-US" altLang="zh-TW" sz="3600" i="1" dirty="0">
                <a:ea typeface="標楷體"/>
              </a:rPr>
              <a:t>N</a:t>
            </a:r>
            <a:r>
              <a:rPr lang="en-US" altLang="zh-TW" sz="3600" dirty="0">
                <a:ea typeface="標楷體"/>
              </a:rPr>
              <a:t> is the left child of </a:t>
            </a:r>
            <a:r>
              <a:rPr lang="en-US" altLang="zh-TW" sz="3600" i="1" dirty="0">
                <a:ea typeface="標楷體"/>
              </a:rPr>
              <a:t>P</a:t>
            </a:r>
            <a:endParaRPr lang="en-US" altLang="zh-TW" sz="3600" dirty="0">
              <a:ea typeface="標楷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S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Rotate left 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P</a:t>
            </a:r>
          </a:p>
          <a:p>
            <a:pPr lvl="0"/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Go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to case 4.2.1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,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4.3.1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,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or 4.4</a:t>
            </a: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730848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701981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486000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543600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514872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630001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601273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543600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586847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529200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615601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644401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673201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1766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" y="260978"/>
            <a:ext cx="9000000" cy="1008022"/>
          </a:xfrm>
        </p:spPr>
        <p:txBody>
          <a:bodyPr>
            <a:no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3600" dirty="0">
                <a:ea typeface="標楷體"/>
              </a:rPr>
              <a:t>Case 4.1.2</a:t>
            </a:r>
            <a:r>
              <a:rPr lang="en-US" altLang="zh-TW" sz="3600" dirty="0" smtClean="0">
                <a:ea typeface="標楷體"/>
              </a:rPr>
              <a:t>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 is red and </a:t>
            </a:r>
            <a:r>
              <a:rPr lang="en-US" altLang="zh-TW" sz="3600" i="1" dirty="0">
                <a:ea typeface="標楷體"/>
              </a:rPr>
              <a:t>N</a:t>
            </a:r>
            <a:r>
              <a:rPr lang="en-US" altLang="zh-TW" sz="3600" dirty="0">
                <a:ea typeface="標楷體"/>
              </a:rPr>
              <a:t> is the </a:t>
            </a:r>
            <a:r>
              <a:rPr lang="en-US" altLang="zh-TW" sz="3600" dirty="0" smtClean="0">
                <a:ea typeface="標楷體"/>
              </a:rPr>
              <a:t>right </a:t>
            </a:r>
            <a:r>
              <a:rPr lang="en-US" altLang="zh-TW" sz="3600" dirty="0">
                <a:ea typeface="標楷體"/>
              </a:rPr>
              <a:t>child of </a:t>
            </a:r>
            <a:r>
              <a:rPr lang="en-US" altLang="zh-TW" sz="3600" i="1" dirty="0">
                <a:ea typeface="標楷體"/>
              </a:rPr>
              <a:t>P</a:t>
            </a:r>
            <a:endParaRPr lang="en-US" altLang="zh-TW" sz="3600" dirty="0">
              <a:ea typeface="標楷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1152008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S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Rotate 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right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at </a:t>
            </a:r>
            <a:r>
              <a:rPr lang="en-US" altLang="zh-TW" i="1" dirty="0" smtClean="0">
                <a:solidFill>
                  <a:prstClr val="black"/>
                </a:solidFill>
                <a:ea typeface="標楷體"/>
              </a:rPr>
              <a:t>P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4.2.2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,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4.3.2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, 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or 4.4</a:t>
            </a:r>
          </a:p>
        </p:txBody>
      </p:sp>
      <p:cxnSp>
        <p:nvCxnSpPr>
          <p:cNvPr id="4" name="直線接點 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" name="直線接點 4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" name="直線接點 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" name="直線接點 15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586847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673201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557980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788402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687601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658873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774002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745274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687601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730848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673201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759602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30001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3786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ea typeface="標楷體"/>
              </a:rPr>
              <a:t>Case 4.5: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dirty="0">
                <a:ea typeface="標楷體"/>
              </a:rPr>
              <a:t>,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i="1" baseline="-25000" dirty="0">
                <a:ea typeface="標楷體"/>
              </a:rPr>
              <a:t>R</a:t>
            </a:r>
            <a:r>
              <a:rPr lang="en-US" altLang="zh-TW" sz="4000" dirty="0">
                <a:ea typeface="標楷體"/>
              </a:rPr>
              <a:t>,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i="1" baseline="-25000" dirty="0">
                <a:ea typeface="標楷體"/>
              </a:rPr>
              <a:t>L</a:t>
            </a:r>
            <a:r>
              <a:rPr lang="en-US" altLang="zh-TW" sz="4000" dirty="0">
                <a:ea typeface="標楷體"/>
              </a:rPr>
              <a:t> and </a:t>
            </a:r>
            <a:r>
              <a:rPr lang="en-US" altLang="zh-TW" sz="4000" i="1" dirty="0">
                <a:ea typeface="標楷體"/>
              </a:rPr>
              <a:t>P</a:t>
            </a:r>
            <a:r>
              <a:rPr lang="en-US" altLang="zh-TW" sz="4000" dirty="0">
                <a:ea typeface="標楷體"/>
              </a:rPr>
              <a:t> are black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72000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dirty="0" smtClean="0">
                <a:solidFill>
                  <a:prstClr val="black"/>
                </a:solidFill>
                <a:ea typeface="標楷體"/>
              </a:rPr>
              <a:t>red</a:t>
            </a:r>
          </a:p>
          <a:p>
            <a:r>
              <a:rPr lang="en-US" altLang="zh-TW" sz="2100" dirty="0" smtClean="0">
                <a:solidFill>
                  <a:prstClr val="black"/>
                </a:solidFill>
                <a:ea typeface="標楷體"/>
              </a:rPr>
              <a:t>Perform </a:t>
            </a:r>
            <a:r>
              <a:rPr lang="en-US" altLang="zh-TW" sz="2100" dirty="0">
                <a:solidFill>
                  <a:prstClr val="black"/>
                </a:solidFill>
                <a:ea typeface="標楷體"/>
              </a:rPr>
              <a:t>the rebalancing procedure on </a:t>
            </a:r>
            <a:r>
              <a:rPr lang="en-US" altLang="zh-TW" sz="2100" i="1" dirty="0">
                <a:solidFill>
                  <a:prstClr val="black"/>
                </a:solidFill>
                <a:ea typeface="標楷體"/>
              </a:rPr>
              <a:t>P</a:t>
            </a:r>
            <a:endParaRPr lang="zh-TW" altLang="en-US" dirty="0"/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2267985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3708456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987989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843988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56399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3419789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385199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1835981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1548699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2699987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412705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1835981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2268446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12398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691980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2555986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69198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59977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843988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6012010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5157012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29200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860002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444013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1835982" y="2420993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1836443" y="2997458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2555986" y="2420993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1979982" y="213299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2411985" y="227699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691980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1547776" y="2997458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1259977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2843988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2556706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3707994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3420712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2843988" y="299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3276453" y="299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3131990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2699987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356399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3419992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2267984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51995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04" name="直線接點 103"/>
          <p:cNvCxnSpPr/>
          <p:nvPr/>
        </p:nvCxnSpPr>
        <p:spPr>
          <a:xfrm flipH="1">
            <a:off x="5436007" y="2420993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5" name="直線接點 104"/>
          <p:cNvCxnSpPr/>
          <p:nvPr/>
        </p:nvCxnSpPr>
        <p:spPr>
          <a:xfrm>
            <a:off x="5436468" y="2997458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6" name="直線接點 105"/>
          <p:cNvCxnSpPr/>
          <p:nvPr/>
        </p:nvCxnSpPr>
        <p:spPr>
          <a:xfrm>
            <a:off x="6156011" y="2420993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07" name="文字方塊 106"/>
          <p:cNvSpPr txBox="1"/>
          <p:nvPr/>
        </p:nvSpPr>
        <p:spPr>
          <a:xfrm>
            <a:off x="5580007" y="213299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6012010" y="227699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292005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0" name="直線接點 109"/>
          <p:cNvCxnSpPr/>
          <p:nvPr/>
        </p:nvCxnSpPr>
        <p:spPr>
          <a:xfrm flipH="1">
            <a:off x="5147801" y="2997458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1" name="文字方塊 110"/>
          <p:cNvSpPr txBox="1"/>
          <p:nvPr/>
        </p:nvSpPr>
        <p:spPr>
          <a:xfrm>
            <a:off x="4860002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12" name="直線接點 111"/>
          <p:cNvCxnSpPr/>
          <p:nvPr/>
        </p:nvCxnSpPr>
        <p:spPr>
          <a:xfrm>
            <a:off x="6444013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直線接點 112"/>
          <p:cNvCxnSpPr/>
          <p:nvPr/>
        </p:nvCxnSpPr>
        <p:spPr>
          <a:xfrm flipH="1">
            <a:off x="6156731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7308019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5" name="直線接點 114"/>
          <p:cNvCxnSpPr/>
          <p:nvPr/>
        </p:nvCxnSpPr>
        <p:spPr>
          <a:xfrm flipH="1">
            <a:off x="7020737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6" name="直線接點 115"/>
          <p:cNvCxnSpPr/>
          <p:nvPr/>
        </p:nvCxnSpPr>
        <p:spPr>
          <a:xfrm flipH="1">
            <a:off x="6444013" y="299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>
            <a:off x="6876478" y="299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6732015" y="2852996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6300012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7164018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7020017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868009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45202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 smtClean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3662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0683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empty red-black tree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51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直線單箭頭接點 59"/>
          <p:cNvCxnSpPr/>
          <p:nvPr/>
        </p:nvCxnSpPr>
        <p:spPr>
          <a:xfrm>
            <a:off x="6012000" y="3789000"/>
            <a:ext cx="3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6372000" y="378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637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34" name="直線單箭頭接點 33"/>
          <p:cNvCxnSpPr>
            <a:endCxn id="29" idx="2"/>
          </p:cNvCxnSpPr>
          <p:nvPr/>
        </p:nvCxnSpPr>
        <p:spPr>
          <a:xfrm flipV="1">
            <a:off x="6192000" y="450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601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6732000" y="378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6732000" y="3789000"/>
            <a:ext cx="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7092000" y="3789000"/>
            <a:ext cx="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5292000" y="378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652000" y="3789000"/>
            <a:ext cx="0" cy="3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5292000" y="3789000"/>
            <a:ext cx="0" cy="54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46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1 </a:t>
            </a:r>
            <a:r>
              <a:rPr lang="en-US" altLang="zh-TW" dirty="0"/>
              <a:t>node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/>
          </p:nvPr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V="1">
            <a:off x="5292000" y="3069000"/>
            <a:ext cx="3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6732000" y="3069000"/>
            <a:ext cx="36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/>
          </p:nvPr>
        </p:nvGraphicFramePr>
        <p:xfrm>
          <a:off x="51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5112000" y="39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直線單箭頭接點 21"/>
          <p:cNvCxnSpPr>
            <a:endCxn id="20" idx="2"/>
          </p:cNvCxnSpPr>
          <p:nvPr/>
        </p:nvCxnSpPr>
        <p:spPr>
          <a:xfrm flipV="1">
            <a:off x="6012000" y="3069000"/>
            <a:ext cx="18000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6732000" y="2889000"/>
            <a:ext cx="36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372000" y="46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12000" y="46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endCxn id="21" idx="2"/>
          </p:cNvCxnSpPr>
          <p:nvPr/>
        </p:nvCxnSpPr>
        <p:spPr>
          <a:xfrm flipV="1">
            <a:off x="6192000" y="432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6012000" y="2889000"/>
            <a:ext cx="18000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5292000" y="2889000"/>
            <a:ext cx="3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59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2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57" name="直線單箭頭接點 56"/>
          <p:cNvCxnSpPr/>
          <p:nvPr/>
        </p:nvCxnSpPr>
        <p:spPr>
          <a:xfrm flipH="1">
            <a:off x="4932000" y="216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68" idx="0"/>
          </p:cNvCxnSpPr>
          <p:nvPr/>
        </p:nvCxnSpPr>
        <p:spPr>
          <a:xfrm flipH="1">
            <a:off x="6192000" y="21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852000" y="324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5652000" y="3249000"/>
            <a:ext cx="1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表格 60"/>
          <p:cNvGraphicFramePr>
            <a:graphicFrameLocks noGrp="1"/>
          </p:cNvGraphicFramePr>
          <p:nvPr>
            <p:extLst/>
          </p:nvPr>
        </p:nvGraphicFramePr>
        <p:xfrm>
          <a:off x="367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>
            <p:extLst/>
          </p:nvPr>
        </p:nvGraphicFramePr>
        <p:xfrm>
          <a:off x="511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直線單箭頭接點 63"/>
          <p:cNvCxnSpPr/>
          <p:nvPr/>
        </p:nvCxnSpPr>
        <p:spPr>
          <a:xfrm flipV="1">
            <a:off x="457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601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37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7" name="直線單箭頭接點 66"/>
          <p:cNvCxnSpPr>
            <a:endCxn id="68" idx="2"/>
          </p:cNvCxnSpPr>
          <p:nvPr/>
        </p:nvCxnSpPr>
        <p:spPr>
          <a:xfrm flipV="1">
            <a:off x="6192000" y="450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表格 67"/>
          <p:cNvGraphicFramePr>
            <a:graphicFrameLocks noGrp="1"/>
          </p:cNvGraphicFramePr>
          <p:nvPr>
            <p:extLst/>
          </p:nvPr>
        </p:nvGraphicFramePr>
        <p:xfrm>
          <a:off x="51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直線單箭頭接點 68"/>
          <p:cNvCxnSpPr>
            <a:endCxn id="61" idx="2"/>
          </p:cNvCxnSpPr>
          <p:nvPr/>
        </p:nvCxnSpPr>
        <p:spPr>
          <a:xfrm flipH="1" flipV="1">
            <a:off x="4752000" y="342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62" idx="2"/>
          </p:cNvCxnSpPr>
          <p:nvPr/>
        </p:nvCxnSpPr>
        <p:spPr>
          <a:xfrm flipV="1">
            <a:off x="6012000" y="234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 flipV="1">
            <a:off x="6192000" y="234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>
            <a:off x="6012000" y="216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8" idx="1"/>
          </p:cNvCxnSpPr>
          <p:nvPr/>
        </p:nvCxnSpPr>
        <p:spPr>
          <a:xfrm>
            <a:off x="3852000" y="432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2736001" y="443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" name="橢圓 24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2592000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4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3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4572000" y="216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6912000" y="216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672000" y="324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5472000" y="32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6372000" y="32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24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61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34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493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6192000" y="234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39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19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6012000" y="450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493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4572000" y="342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5832000" y="234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58" idx="2"/>
          </p:cNvCxnSpPr>
          <p:nvPr/>
        </p:nvCxnSpPr>
        <p:spPr>
          <a:xfrm flipV="1">
            <a:off x="6912000" y="342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5832000" y="216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3"/>
          </p:cNvCxnSpPr>
          <p:nvPr/>
        </p:nvCxnSpPr>
        <p:spPr>
          <a:xfrm flipH="1">
            <a:off x="7092000" y="3969000"/>
            <a:ext cx="108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3672000" y="432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2736001" y="443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>
            <a:off x="3168466" y="443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4" name="橢圓 33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2592000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456006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50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4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3132000" y="216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472000" y="216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2232000" y="3249000"/>
            <a:ext cx="0" cy="21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032000" y="3249000"/>
            <a:ext cx="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4932000" y="3249000"/>
            <a:ext cx="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432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47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20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349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4752000" y="234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313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75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1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4572000" y="5589000"/>
            <a:ext cx="18000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3492000" y="52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3132000" y="3429000"/>
            <a:ext cx="54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4392000" y="234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472000" y="450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4392000" y="216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3"/>
          </p:cNvCxnSpPr>
          <p:nvPr/>
        </p:nvCxnSpPr>
        <p:spPr>
          <a:xfrm flipH="1">
            <a:off x="5652000" y="5049000"/>
            <a:ext cx="234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2232000" y="540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324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 flipV="1">
            <a:off x="6012010" y="34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>
            <a:off x="5292000" y="4329000"/>
            <a:ext cx="90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1691980" y="1988990"/>
            <a:ext cx="432003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橢圓 44"/>
          <p:cNvSpPr/>
          <p:nvPr/>
        </p:nvSpPr>
        <p:spPr>
          <a:xfrm>
            <a:off x="1979982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827512" y="1412986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1259977" y="141298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1115514" y="1268524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683511" y="184452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547517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/>
          </p:nvPr>
        </p:nvGraphicFramePr>
        <p:xfrm>
          <a:off x="60331" y="59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89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5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872000" y="216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216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972000" y="3249000"/>
            <a:ext cx="0" cy="21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772000" y="3249000"/>
            <a:ext cx="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572000" y="324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432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47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7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223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492000" y="234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69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13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49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331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2232000" y="52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872000" y="3429000"/>
            <a:ext cx="54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3132000" y="234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4212000" y="4509000"/>
            <a:ext cx="25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3132000" y="216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392000" y="5049000"/>
            <a:ext cx="360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972000" y="540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0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324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349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3672000" y="432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3852000" y="4329000"/>
            <a:ext cx="23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832000" y="342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4392000" y="432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971975" y="1989451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1260439" y="1989451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827974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1403978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395971" y="1413447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828436" y="141344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683973" y="1268985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251970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115976" y="1845450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/>
          </p:nvPr>
        </p:nvGraphicFramePr>
        <p:xfrm>
          <a:off x="4572000" y="59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4392000" y="3429000"/>
            <a:ext cx="3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88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接點 50"/>
          <p:cNvCxnSpPr/>
          <p:nvPr/>
        </p:nvCxnSpPr>
        <p:spPr>
          <a:xfrm>
            <a:off x="1691980" y="5589015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</a:t>
            </a:r>
            <a:r>
              <a:rPr lang="en-US" altLang="zh-TW" dirty="0" smtClean="0"/>
              <a:t>6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872000" y="180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180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772000" y="2889000"/>
            <a:ext cx="0" cy="25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57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5049000"/>
            <a:ext cx="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475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79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223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49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692000" y="1989000"/>
            <a:ext cx="5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13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49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3312000" y="576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2232000" y="54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872000" y="3069000"/>
            <a:ext cx="540000" cy="25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3132000" y="1989000"/>
            <a:ext cx="180000" cy="36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1"/>
          </p:cNvCxnSpPr>
          <p:nvPr/>
        </p:nvCxnSpPr>
        <p:spPr>
          <a:xfrm>
            <a:off x="5112000" y="5049000"/>
            <a:ext cx="9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3132000" y="1809000"/>
            <a:ext cx="180000" cy="36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7092000" y="3969000"/>
            <a:ext cx="90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972000" y="2889000"/>
            <a:ext cx="1260000" cy="25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01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349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 flipH="1">
            <a:off x="3492000" y="3969000"/>
            <a:ext cx="18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032000" y="3969000"/>
            <a:ext cx="216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8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3672000" y="3969000"/>
            <a:ext cx="180000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1115976" y="5013472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1404440" y="5013472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971975" y="5445014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1547979" y="5445014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539972" y="4437468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972437" y="443746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827974" y="429300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95971" y="4869010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259977" y="4869471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601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橢圓 51"/>
          <p:cNvSpPr/>
          <p:nvPr/>
        </p:nvSpPr>
        <p:spPr>
          <a:xfrm>
            <a:off x="1835519" y="6020557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4392000" y="5589000"/>
            <a:ext cx="36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V="1">
            <a:off x="6912000" y="414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V="1">
            <a:off x="4392000" y="3069000"/>
            <a:ext cx="3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67" idx="3"/>
          </p:cNvCxnSpPr>
          <p:nvPr/>
        </p:nvCxnSpPr>
        <p:spPr>
          <a:xfrm flipH="1">
            <a:off x="4392000" y="5049000"/>
            <a:ext cx="1800000" cy="5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4212000" y="5049000"/>
            <a:ext cx="90000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7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接點 50"/>
          <p:cNvCxnSpPr/>
          <p:nvPr/>
        </p:nvCxnSpPr>
        <p:spPr>
          <a:xfrm>
            <a:off x="8028024" y="198899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332000" y="180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180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232000" y="2889000"/>
            <a:ext cx="1440000" cy="30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03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42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25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223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312000" y="1989000"/>
            <a:ext cx="18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115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93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29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439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2952000" y="59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332000" y="3069000"/>
            <a:ext cx="180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3132000" y="90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2"/>
          </p:cNvCxnSpPr>
          <p:nvPr/>
        </p:nvCxnSpPr>
        <p:spPr>
          <a:xfrm flipV="1">
            <a:off x="4932000" y="5229000"/>
            <a:ext cx="19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3132000" y="72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6912000" y="396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432000" y="2889000"/>
            <a:ext cx="288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547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19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295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>
            <a:endCxn id="67" idx="0"/>
          </p:cNvCxnSpPr>
          <p:nvPr/>
        </p:nvCxnSpPr>
        <p:spPr>
          <a:xfrm>
            <a:off x="3132000" y="3969000"/>
            <a:ext cx="90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392000" y="396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29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 flipH="1">
            <a:off x="4032000" y="39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7452020" y="1413447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7740484" y="1413447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308019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884023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6876016" y="837443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7308481" y="837443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7164018" y="692981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6732015" y="1268985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7596021" y="1269446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583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橢圓 51"/>
          <p:cNvSpPr/>
          <p:nvPr/>
        </p:nvSpPr>
        <p:spPr>
          <a:xfrm>
            <a:off x="8171563" y="242053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112000" y="5049000"/>
            <a:ext cx="270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29" idx="2"/>
          </p:cNvCxnSpPr>
          <p:nvPr/>
        </p:nvCxnSpPr>
        <p:spPr>
          <a:xfrm flipH="1" flipV="1">
            <a:off x="6552000" y="414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3852000" y="3069000"/>
            <a:ext cx="14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4752000" y="504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2232000" y="5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76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592000" y="180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472000" y="180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232000" y="2889000"/>
            <a:ext cx="1440000" cy="30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29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547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15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349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4572000" y="1989000"/>
            <a:ext cx="18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19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55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565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2952000" y="59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332000" y="3069000"/>
            <a:ext cx="180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392000" y="90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2"/>
          </p:cNvCxnSpPr>
          <p:nvPr/>
        </p:nvCxnSpPr>
        <p:spPr>
          <a:xfrm flipV="1">
            <a:off x="4932000" y="5229000"/>
            <a:ext cx="19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392000" y="72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6912000" y="396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432000" y="2889000"/>
            <a:ext cx="288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73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745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421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>
            <a:endCxn id="67" idx="0"/>
          </p:cNvCxnSpPr>
          <p:nvPr/>
        </p:nvCxnSpPr>
        <p:spPr>
          <a:xfrm>
            <a:off x="3132000" y="3969000"/>
            <a:ext cx="90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392000" y="396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55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 flipH="1">
            <a:off x="4032000" y="39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583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112000" y="5049000"/>
            <a:ext cx="270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29" idx="2"/>
          </p:cNvCxnSpPr>
          <p:nvPr/>
        </p:nvCxnSpPr>
        <p:spPr>
          <a:xfrm flipH="1" flipV="1">
            <a:off x="6552000" y="414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112000" y="3069000"/>
            <a:ext cx="14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4752000" y="504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3492000" y="5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/>
          </p:nvPr>
        </p:nvGraphicFramePr>
        <p:xfrm>
          <a:off x="252000" y="43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92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412000" y="1809000"/>
            <a:ext cx="14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292000" y="1809000"/>
            <a:ext cx="14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44" idx="0"/>
          </p:cNvCxnSpPr>
          <p:nvPr/>
        </p:nvCxnSpPr>
        <p:spPr>
          <a:xfrm>
            <a:off x="313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65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5832000" y="27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1512000" y="27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3672000" y="162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>
            <a:endCxn id="60" idx="2"/>
          </p:cNvCxnSpPr>
          <p:nvPr/>
        </p:nvCxnSpPr>
        <p:spPr>
          <a:xfrm flipH="1" flipV="1">
            <a:off x="457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01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37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547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3672000" y="522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4" idx="2"/>
          </p:cNvCxnSpPr>
          <p:nvPr/>
        </p:nvCxnSpPr>
        <p:spPr>
          <a:xfrm flipH="1" flipV="1">
            <a:off x="1332000" y="4149000"/>
            <a:ext cx="252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572000" y="90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292000" y="4149000"/>
            <a:ext cx="252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572000" y="72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932000" y="3969000"/>
            <a:ext cx="144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612000" y="3969000"/>
            <a:ext cx="306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91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>
            <a:endCxn id="29" idx="0"/>
          </p:cNvCxnSpPr>
          <p:nvPr/>
        </p:nvCxnSpPr>
        <p:spPr>
          <a:xfrm>
            <a:off x="745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475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2772000" y="3969000"/>
            <a:ext cx="144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752000" y="3969000"/>
            <a:ext cx="18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7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2052000" y="3969000"/>
            <a:ext cx="180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259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472000" y="3969000"/>
            <a:ext cx="306000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59" idx="2"/>
          </p:cNvCxnSpPr>
          <p:nvPr/>
        </p:nvCxnSpPr>
        <p:spPr>
          <a:xfrm flipH="1" flipV="1">
            <a:off x="241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65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5112000" y="3969000"/>
            <a:ext cx="198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3672000" y="54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/>
          </p:nvPr>
        </p:nvGraphicFramePr>
        <p:xfrm>
          <a:off x="43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直線單箭頭接點 78"/>
          <p:cNvCxnSpPr>
            <a:endCxn id="54" idx="0"/>
          </p:cNvCxnSpPr>
          <p:nvPr/>
        </p:nvCxnSpPr>
        <p:spPr>
          <a:xfrm flipH="1">
            <a:off x="133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4212000" y="3969000"/>
            <a:ext cx="18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439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475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95" name="直線單箭頭接點 94"/>
          <p:cNvCxnSpPr>
            <a:endCxn id="67" idx="2"/>
          </p:cNvCxnSpPr>
          <p:nvPr/>
        </p:nvCxnSpPr>
        <p:spPr>
          <a:xfrm flipV="1">
            <a:off x="4572000" y="558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endCxn id="59" idx="2"/>
          </p:cNvCxnSpPr>
          <p:nvPr/>
        </p:nvCxnSpPr>
        <p:spPr>
          <a:xfrm flipV="1">
            <a:off x="13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74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555980" y="1844989"/>
            <a:ext cx="1296015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292005" y="1844989"/>
            <a:ext cx="1296003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56" idx="0"/>
          </p:cNvCxnSpPr>
          <p:nvPr/>
        </p:nvCxnSpPr>
        <p:spPr>
          <a:xfrm>
            <a:off x="3275991" y="2996997"/>
            <a:ext cx="28799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580001" y="2996997"/>
            <a:ext cx="288008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>
            <p:extLst/>
          </p:nvPr>
        </p:nvGraphicFramePr>
        <p:xfrm>
          <a:off x="5724008" y="2852996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/>
          </p:nvPr>
        </p:nvGraphicFramePr>
        <p:xfrm>
          <a:off x="1691980" y="2852996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/>
          </p:nvPr>
        </p:nvGraphicFramePr>
        <p:xfrm>
          <a:off x="3707994" y="1700988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>
            <a:endCxn id="60" idx="2"/>
          </p:cNvCxnSpPr>
          <p:nvPr/>
        </p:nvCxnSpPr>
        <p:spPr>
          <a:xfrm flipH="1" flipV="1">
            <a:off x="4571994" y="1988988"/>
            <a:ext cx="1872019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1985" y="1988988"/>
            <a:ext cx="2160009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012010" y="548980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300012" y="548980"/>
            <a:ext cx="1008000" cy="288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53" idx="3"/>
          </p:cNvCxnSpPr>
          <p:nvPr/>
        </p:nvCxnSpPr>
        <p:spPr>
          <a:xfrm flipH="1" flipV="1">
            <a:off x="5435994" y="692980"/>
            <a:ext cx="720017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>
            <p:extLst/>
          </p:nvPr>
        </p:nvGraphicFramePr>
        <p:xfrm>
          <a:off x="3707994" y="544501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4" idx="2"/>
          </p:cNvCxnSpPr>
          <p:nvPr/>
        </p:nvCxnSpPr>
        <p:spPr>
          <a:xfrm flipH="1" flipV="1">
            <a:off x="1547973" y="4293004"/>
            <a:ext cx="2304022" cy="1296011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427999" y="836980"/>
            <a:ext cx="143995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292005" y="4293004"/>
            <a:ext cx="2304010" cy="1296011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427999" y="692981"/>
            <a:ext cx="143995" cy="1008007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860002" y="4149005"/>
            <a:ext cx="1440010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54" idx="0"/>
          </p:cNvCxnSpPr>
          <p:nvPr/>
        </p:nvCxnSpPr>
        <p:spPr>
          <a:xfrm flipH="1">
            <a:off x="1547973" y="2996997"/>
            <a:ext cx="288008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6732015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7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>
            <a:endCxn id="29" idx="0"/>
          </p:cNvCxnSpPr>
          <p:nvPr/>
        </p:nvCxnSpPr>
        <p:spPr>
          <a:xfrm>
            <a:off x="7308019" y="2996997"/>
            <a:ext cx="28799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>
            <p:extLst/>
          </p:nvPr>
        </p:nvGraphicFramePr>
        <p:xfrm>
          <a:off x="4716001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2843988" y="4149005"/>
            <a:ext cx="1440010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67" idx="0"/>
          </p:cNvCxnSpPr>
          <p:nvPr/>
        </p:nvCxnSpPr>
        <p:spPr>
          <a:xfrm flipH="1">
            <a:off x="4571994" y="4149005"/>
            <a:ext cx="288008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588008" y="3140996"/>
            <a:ext cx="86401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>
            <a:off x="4283998" y="4149005"/>
            <a:ext cx="287996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435994" y="4149005"/>
            <a:ext cx="2880032" cy="1440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59" idx="2"/>
          </p:cNvCxnSpPr>
          <p:nvPr/>
        </p:nvCxnSpPr>
        <p:spPr>
          <a:xfrm flipH="1" flipV="1">
            <a:off x="2555980" y="3140996"/>
            <a:ext cx="86401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436006" y="3140996"/>
            <a:ext cx="115200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5148004" y="4149005"/>
            <a:ext cx="1728012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>
            <p:extLst/>
          </p:nvPr>
        </p:nvGraphicFramePr>
        <p:xfrm>
          <a:off x="3707994" y="548980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>
            <p:extLst/>
          </p:nvPr>
        </p:nvGraphicFramePr>
        <p:xfrm>
          <a:off x="683973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/>
          </p:nvPr>
        </p:nvGraphicFramePr>
        <p:xfrm>
          <a:off x="2699987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直線單箭頭接點 78"/>
          <p:cNvCxnSpPr>
            <a:endCxn id="59" idx="2"/>
          </p:cNvCxnSpPr>
          <p:nvPr/>
        </p:nvCxnSpPr>
        <p:spPr>
          <a:xfrm flipV="1">
            <a:off x="1403978" y="3140996"/>
            <a:ext cx="115200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67" idx="1"/>
          </p:cNvCxnSpPr>
          <p:nvPr/>
        </p:nvCxnSpPr>
        <p:spPr>
          <a:xfrm>
            <a:off x="827974" y="4149005"/>
            <a:ext cx="2880020" cy="1440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2267984" y="4149005"/>
            <a:ext cx="1728012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/>
          <p:cNvSpPr/>
          <p:nvPr/>
        </p:nvSpPr>
        <p:spPr>
          <a:xfrm>
            <a:off x="4427999" y="6165019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4716001" y="6165019"/>
            <a:ext cx="1008000" cy="288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124" name="直線單箭頭接點 123"/>
          <p:cNvCxnSpPr>
            <a:endCxn id="67" idx="2"/>
          </p:cNvCxnSpPr>
          <p:nvPr/>
        </p:nvCxnSpPr>
        <p:spPr>
          <a:xfrm flipH="1" flipV="1">
            <a:off x="4571994" y="5733014"/>
            <a:ext cx="7" cy="5760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5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000" y="468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9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03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</a:t>
            </a: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7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32000" y="612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9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032000" y="522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112000" y="61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2000" y="4869000"/>
            <a:ext cx="36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52000" y="52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1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112000" y="52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152000" y="252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59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23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</a:t>
            </a: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33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9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23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31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15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1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33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752000" y="252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19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83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</a:t>
            </a: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493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19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83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27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91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475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11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9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952000" y="36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39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132000" y="909000"/>
            <a:ext cx="720000" cy="360000"/>
          </a:xfrm>
          <a:prstGeom prst="rect">
            <a:avLst/>
          </a:prstGeom>
          <a:noFill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</a:t>
            </a: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472000" y="14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3132000" y="18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31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212000" y="9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5292000" y="18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212000" y="18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312000" y="14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5292000" y="9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92000" y="4869000"/>
            <a:ext cx="1620000" cy="12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612000" y="6129000"/>
            <a:ext cx="1980000" cy="54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set1.scaryVal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872000" y="55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872000" y="50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792000" y="55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92000" y="504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mySize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101" name="直線單箭頭接點 100"/>
          <p:cNvCxnSpPr/>
          <p:nvPr/>
        </p:nvCxnSpPr>
        <p:spPr>
          <a:xfrm flipV="1">
            <a:off x="2052000" y="5589000"/>
            <a:ext cx="900000" cy="18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H="1" flipV="1">
            <a:off x="2052000" y="4329000"/>
            <a:ext cx="1440000" cy="16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 flipV="1">
            <a:off x="4572000" y="2169000"/>
            <a:ext cx="0" cy="28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V="1">
            <a:off x="5652000" y="4329000"/>
            <a:ext cx="1440000" cy="16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2772000" y="2169000"/>
            <a:ext cx="16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H="1" flipV="1">
            <a:off x="4752000" y="2169000"/>
            <a:ext cx="16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endCxn id="56" idx="0"/>
          </p:cNvCxnSpPr>
          <p:nvPr/>
        </p:nvCxnSpPr>
        <p:spPr>
          <a:xfrm flipH="1">
            <a:off x="2772000" y="1629000"/>
            <a:ext cx="720001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endCxn id="69" idx="0"/>
          </p:cNvCxnSpPr>
          <p:nvPr/>
        </p:nvCxnSpPr>
        <p:spPr>
          <a:xfrm>
            <a:off x="5652000" y="162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692000" y="378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385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 flipH="1">
            <a:off x="4752000" y="378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H="1">
            <a:off x="6192000" y="3789000"/>
            <a:ext cx="12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>
            <a:off x="4572000" y="729000"/>
            <a:ext cx="3780000" cy="16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8352000" y="2349000"/>
            <a:ext cx="0" cy="32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 136"/>
          <p:cNvSpPr/>
          <p:nvPr/>
        </p:nvSpPr>
        <p:spPr>
          <a:xfrm>
            <a:off x="4392000" y="1449000"/>
            <a:ext cx="36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512000" y="2709000"/>
            <a:ext cx="360000" cy="36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5112000" y="2709000"/>
            <a:ext cx="360000" cy="36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7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7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47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106" name="直線單箭頭接點 105"/>
          <p:cNvCxnSpPr/>
          <p:nvPr/>
        </p:nvCxnSpPr>
        <p:spPr>
          <a:xfrm flipH="1">
            <a:off x="6192000" y="5589000"/>
            <a:ext cx="216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132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4">
      <a:majorFont>
        <a:latin typeface="Times New Roman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30223</TotalTime>
  <Words>5009</Words>
  <Application>Microsoft Office PowerPoint</Application>
  <PresentationFormat>如螢幕大小 (4:3)</PresentationFormat>
  <Paragraphs>1556</Paragraphs>
  <Slides>67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6" baseType="lpstr">
      <vt:lpstr>細明體</vt:lpstr>
      <vt:lpstr>新細明體</vt:lpstr>
      <vt:lpstr>標楷體</vt:lpstr>
      <vt:lpstr>Arial</vt:lpstr>
      <vt:lpstr>Calibri</vt:lpstr>
      <vt:lpstr>Courier New</vt:lpstr>
      <vt:lpstr>Lucida Console</vt:lpstr>
      <vt:lpstr>Times New Roman</vt:lpstr>
      <vt:lpstr>Office 佈景主題</vt:lpstr>
      <vt:lpstr>Homework Assignment #4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Tree on x86</vt:lpstr>
      <vt:lpstr>_Tree on x86 Debug</vt:lpstr>
      <vt:lpstr>_Tree on x86 Release</vt:lpstr>
      <vt:lpstr>PowerPoint 簡報</vt:lpstr>
      <vt:lpstr>A Red-black Tree with 3 Nodes</vt:lpstr>
      <vt:lpstr>A Red-black Tree with 7 Nodes</vt:lpstr>
      <vt:lpstr>An Empty Red-black Tree</vt:lpstr>
      <vt:lpstr>A Red-black Tree with 1 Node</vt:lpstr>
      <vt:lpstr>A Red-black Tree with 2 Nodes</vt:lpstr>
      <vt:lpstr>A Red-black Tree with 3 Nodes</vt:lpstr>
      <vt:lpstr>A Red-black Tree with 4 Nodes</vt:lpstr>
      <vt:lpstr>A Red-black Tree with 5 Nodes</vt:lpstr>
      <vt:lpstr>A Red-black Tree with 6 Nodes</vt:lpstr>
      <vt:lpstr>PowerPoint 簡報</vt:lpstr>
      <vt:lpstr>PowerPoint 簡報</vt:lpstr>
      <vt:lpstr>A Red-black Tree with 7 Nodes</vt:lpstr>
      <vt:lpstr>A Red-black Tree with 7 Nodes</vt:lpstr>
      <vt:lpstr>PowerPoint 簡報</vt:lpstr>
      <vt:lpstr>TreeNode&lt; long &gt; on x86</vt:lpstr>
      <vt:lpstr>PowerPoint 簡報</vt:lpstr>
      <vt:lpstr>PowerPoint 簡報</vt:lpstr>
      <vt:lpstr>TreeNode&lt; long &gt; on x64</vt:lpstr>
      <vt:lpstr>PowerPoint 簡報</vt:lpstr>
      <vt:lpstr>Internal Implementation of STL::set in Visual C++ 2022</vt:lpstr>
      <vt:lpstr>PowerPoint 簡報</vt:lpstr>
      <vt:lpstr>std::_Tree_node&lt; char &gt; on x86</vt:lpstr>
      <vt:lpstr>std::_Tree_node&lt; short &gt; on x86</vt:lpstr>
      <vt:lpstr>std::_Tree_node&lt; long &gt; on x86</vt:lpstr>
      <vt:lpstr>std::_Tree_node&lt; long long &gt; on x86</vt:lpstr>
      <vt:lpstr>std::_Tree_node&lt; char &gt; on x64</vt:lpstr>
      <vt:lpstr>std::_Tree_node&lt; short &gt; on x64</vt:lpstr>
      <vt:lpstr>std::_Tree_node&lt; long &gt; on x64</vt:lpstr>
      <vt:lpstr>std::_Tree_node&lt; long long &gt; on x64</vt:lpstr>
      <vt:lpstr>Deletion from a Red-Black Tree</vt:lpstr>
      <vt:lpstr>Deletion from a Red-Black Tree</vt:lpstr>
      <vt:lpstr>Deletion from a Red-Black Tree</vt:lpstr>
      <vt:lpstr>Deletion from a Red-Black Tree</vt:lpstr>
      <vt:lpstr>Deletion from a Red-Black Tree</vt:lpstr>
      <vt:lpstr>Case 4.4: S, SR and SL are black, but P is red</vt:lpstr>
      <vt:lpstr>Case 4.2.1: S is black, SR is red and N is the left child of P</vt:lpstr>
      <vt:lpstr>Case 4.2.2: S is black, SL is red and N is the right child of P</vt:lpstr>
      <vt:lpstr>Case 4.3.1: S and SR are black, N is the left child of P, but SL is red</vt:lpstr>
      <vt:lpstr>Case 4.3.2: S and SL are black, N is the right child of P, but SR is red</vt:lpstr>
      <vt:lpstr>Case 4.1.1: S is red and N is the left child of P</vt:lpstr>
      <vt:lpstr>Case 4.1.2: S is red and N is the right child of P</vt:lpstr>
      <vt:lpstr>Case 4.5: S, SR, SL and P are black</vt:lpstr>
      <vt:lpstr>PowerPoint 簡報</vt:lpstr>
      <vt:lpstr>An empty red-black tree</vt:lpstr>
      <vt:lpstr>A red-black tree with 1 node</vt:lpstr>
      <vt:lpstr>A red-black tree with 2 nodes</vt:lpstr>
      <vt:lpstr>A red-black tree with 3 nodes</vt:lpstr>
      <vt:lpstr>A red-black tree with 4 nodes</vt:lpstr>
      <vt:lpstr>A red-black tree with 5 nodes</vt:lpstr>
      <vt:lpstr>A red-black tree with 6 nodes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CS235102  Data Structures</dc:title>
  <dc:creator>Gary</dc:creator>
  <cp:lastModifiedBy>james</cp:lastModifiedBy>
  <cp:revision>7605</cp:revision>
  <dcterms:created xsi:type="dcterms:W3CDTF">2005-03-20T09:13:01Z</dcterms:created>
  <dcterms:modified xsi:type="dcterms:W3CDTF">2024-09-29T05:41:19Z</dcterms:modified>
</cp:coreProperties>
</file>