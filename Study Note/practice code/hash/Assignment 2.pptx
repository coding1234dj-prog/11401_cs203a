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77" r:id="rId2"/>
    <p:sldId id="952" r:id="rId3"/>
    <p:sldId id="953" r:id="rId4"/>
    <p:sldId id="978" r:id="rId5"/>
    <p:sldId id="979" r:id="rId6"/>
    <p:sldId id="980" r:id="rId7"/>
    <p:sldId id="988" r:id="rId8"/>
    <p:sldId id="954" r:id="rId9"/>
    <p:sldId id="955" r:id="rId10"/>
    <p:sldId id="957" r:id="rId11"/>
    <p:sldId id="958" r:id="rId12"/>
    <p:sldId id="956" r:id="rId13"/>
    <p:sldId id="1030" r:id="rId14"/>
    <p:sldId id="946" r:id="rId15"/>
    <p:sldId id="947" r:id="rId16"/>
    <p:sldId id="948" r:id="rId17"/>
    <p:sldId id="949" r:id="rId18"/>
    <p:sldId id="950" r:id="rId19"/>
    <p:sldId id="951" r:id="rId20"/>
    <p:sldId id="960" r:id="rId21"/>
    <p:sldId id="961" r:id="rId22"/>
    <p:sldId id="962" r:id="rId23"/>
    <p:sldId id="998" r:id="rId24"/>
    <p:sldId id="999" r:id="rId25"/>
    <p:sldId id="990" r:id="rId26"/>
    <p:sldId id="996" r:id="rId27"/>
    <p:sldId id="1000" r:id="rId28"/>
    <p:sldId id="993" r:id="rId29"/>
    <p:sldId id="963" r:id="rId30"/>
    <p:sldId id="964" r:id="rId31"/>
    <p:sldId id="965" r:id="rId32"/>
    <p:sldId id="966" r:id="rId33"/>
    <p:sldId id="967" r:id="rId34"/>
    <p:sldId id="968" r:id="rId35"/>
    <p:sldId id="969" r:id="rId36"/>
    <p:sldId id="970" r:id="rId37"/>
    <p:sldId id="971" r:id="rId38"/>
    <p:sldId id="972" r:id="rId39"/>
    <p:sldId id="973" r:id="rId40"/>
    <p:sldId id="989" r:id="rId41"/>
    <p:sldId id="1002" r:id="rId42"/>
    <p:sldId id="1003" r:id="rId43"/>
    <p:sldId id="1001" r:id="rId44"/>
    <p:sldId id="1018" r:id="rId45"/>
    <p:sldId id="1006" r:id="rId46"/>
    <p:sldId id="1007" r:id="rId47"/>
    <p:sldId id="1009" r:id="rId48"/>
    <p:sldId id="1017" r:id="rId49"/>
    <p:sldId id="1004" r:id="rId50"/>
    <p:sldId id="1013" r:id="rId51"/>
    <p:sldId id="1016" r:id="rId52"/>
    <p:sldId id="1012" r:id="rId53"/>
    <p:sldId id="974" r:id="rId54"/>
    <p:sldId id="975" r:id="rId55"/>
    <p:sldId id="976" r:id="rId56"/>
    <p:sldId id="977" r:id="rId57"/>
    <p:sldId id="1028" r:id="rId58"/>
    <p:sldId id="981" r:id="rId59"/>
    <p:sldId id="983" r:id="rId60"/>
    <p:sldId id="987" r:id="rId61"/>
    <p:sldId id="985" r:id="rId62"/>
    <p:sldId id="986" r:id="rId63"/>
    <p:sldId id="984" r:id="rId64"/>
    <p:sldId id="1029" r:id="rId65"/>
    <p:sldId id="1020" r:id="rId66"/>
    <p:sldId id="1019" r:id="rId67"/>
    <p:sldId id="1021" r:id="rId68"/>
    <p:sldId id="1022" r:id="rId69"/>
    <p:sldId id="1026" r:id="rId70"/>
    <p:sldId id="1023" r:id="rId71"/>
    <p:sldId id="1027" r:id="rId7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5DFFF"/>
    <a:srgbClr val="66CCFF"/>
    <a:srgbClr val="FFCCFF"/>
    <a:srgbClr val="FFC000"/>
    <a:srgbClr val="92D050"/>
    <a:srgbClr val="00B050"/>
    <a:srgbClr val="006600"/>
    <a:srgbClr val="5DD5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4" autoAdjust="0"/>
    <p:restoredTop sz="94660"/>
  </p:normalViewPr>
  <p:slideViewPr>
    <p:cSldViewPr showGuides="1">
      <p:cViewPr varScale="1">
        <p:scale>
          <a:sx n="89" d="100"/>
          <a:sy n="89" d="100"/>
        </p:scale>
        <p:origin x="77" y="163"/>
      </p:cViewPr>
      <p:guideLst>
        <p:guide orient="horz" pos="5"/>
        <p:guide pos="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2000" y="2708910"/>
            <a:ext cx="8640000" cy="1440180"/>
          </a:xfrm>
        </p:spPr>
        <p:txBody>
          <a:bodyPr>
            <a:noAutofit/>
          </a:bodyPr>
          <a:lstStyle>
            <a:lvl1pPr>
              <a:defRPr sz="5400">
                <a:solidFill>
                  <a:srgbClr val="0000FF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768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5760721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21992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09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700000" cy="5400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816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53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51460" y="188586"/>
            <a:ext cx="8641080" cy="9001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1460" y="1268730"/>
            <a:ext cx="8641080" cy="50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483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4" r:id="rId3"/>
    <p:sldLayoutId id="2147483657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Lucida Console" pitchFamily="49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55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369000"/>
            <a:ext cx="8281059" cy="6119999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class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UsetTraits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: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: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using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using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using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fr-FR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fr-FR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explicit</a:t>
            </a:r>
            <a:r>
              <a:rPr lang="fr-FR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UsetTraits( </a:t>
            </a:r>
            <a:r>
              <a:rPr lang="fr-FR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const</a:t>
            </a:r>
            <a:r>
              <a:rPr lang="fr-FR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</a:t>
            </a:r>
            <a:r>
              <a:rPr lang="fr-FR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&amp; </a:t>
            </a:r>
            <a:r>
              <a:rPr lang="fr-FR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traits</a:t>
            </a:r>
            <a:r>
              <a:rPr lang="fr-FR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: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};</a:t>
            </a:r>
          </a:p>
          <a:p>
            <a:endParaRPr lang="en-US" altLang="zh-TW" dirty="0" smtClean="0">
              <a:solidFill>
                <a:srgbClr val="0000FF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: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UsetTraits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Mybase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UsetTraits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 &gt;;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Mybase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Mybase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};</a:t>
            </a:r>
          </a:p>
        </p:txBody>
      </p:sp>
      <p:sp>
        <p:nvSpPr>
          <p:cNvPr id="3" name="矩形 2"/>
          <p:cNvSpPr/>
          <p:nvPr/>
        </p:nvSpPr>
        <p:spPr>
          <a:xfrm>
            <a:off x="6912000" y="2349000"/>
            <a:ext cx="144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err="1">
                <a:solidFill>
                  <a:srgbClr val="2B91AF"/>
                </a:solidFill>
                <a:ea typeface="細明體" panose="02020509000000000000" pitchFamily="49" charset="-120"/>
              </a:rPr>
              <a:t>UsetTraits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912000" y="1269000"/>
            <a:ext cx="144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2B91AF"/>
                </a:solidFill>
                <a:ea typeface="細明體" panose="02020509000000000000" pitchFamily="49" charset="-120"/>
              </a:rPr>
              <a:t>hash</a:t>
            </a:r>
            <a:endParaRPr lang="zh-TW" altLang="en-US" dirty="0"/>
          </a:p>
        </p:txBody>
      </p:sp>
      <p:sp>
        <p:nvSpPr>
          <p:cNvPr id="5" name="Line 43"/>
          <p:cNvSpPr>
            <a:spLocks noChangeShapeType="1"/>
          </p:cNvSpPr>
          <p:nvPr/>
        </p:nvSpPr>
        <p:spPr bwMode="auto">
          <a:xfrm flipH="1" flipV="1">
            <a:off x="7632000" y="1629000"/>
            <a:ext cx="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21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=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key_compare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static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8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Hash(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myVec(),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mask(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- 1 ),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myVec.assignGrow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 2,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myList.end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838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5040361"/>
          </a:xfrm>
        </p:spPr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constexpr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FNVOffsetBasis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2166136261U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constexpr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FNVPrime = 16777619U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fr-F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hash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operator()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FNVOffsetBasis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first = 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&amp;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 &gt;(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count; ++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^=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first[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FNVPrime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5147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251460" y="369000"/>
            <a:ext cx="8641080" cy="71970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 Hierarchy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52000" y="4149000"/>
            <a:ext cx="18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err="1">
                <a:solidFill>
                  <a:srgbClr val="2B91AF"/>
                </a:solidFill>
                <a:ea typeface="細明體" panose="02020509000000000000" pitchFamily="49" charset="-120"/>
              </a:rPr>
              <a:t>unordered_set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52000" y="2709000"/>
            <a:ext cx="18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2B91AF"/>
                </a:solidFill>
                <a:ea typeface="細明體" panose="02020509000000000000" pitchFamily="49" charset="-120"/>
              </a:rPr>
              <a:t>Hash</a:t>
            </a:r>
            <a:endParaRPr lang="zh-TW" altLang="en-US" dirty="0"/>
          </a:p>
        </p:txBody>
      </p:sp>
      <p:sp>
        <p:nvSpPr>
          <p:cNvPr id="6" name="Line 43"/>
          <p:cNvSpPr>
            <a:spLocks noChangeShapeType="1"/>
          </p:cNvSpPr>
          <p:nvPr/>
        </p:nvSpPr>
        <p:spPr bwMode="auto">
          <a:xfrm flipV="1">
            <a:off x="2952000" y="3069000"/>
            <a:ext cx="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err="1">
                <a:solidFill>
                  <a:srgbClr val="2B91AF"/>
                </a:solidFill>
                <a:ea typeface="細明體" panose="02020509000000000000" pitchFamily="49" charset="-120"/>
              </a:rPr>
              <a:t>UsetTraits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292000" y="2709000"/>
            <a:ext cx="18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2B91AF"/>
                </a:solidFill>
                <a:ea typeface="細明體" panose="02020509000000000000" pitchFamily="49" charset="-120"/>
              </a:rPr>
              <a:t>hash</a:t>
            </a:r>
            <a:endParaRPr lang="zh-TW" altLang="en-US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6192000" y="3069000"/>
            <a:ext cx="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96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=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key_compare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const_iterator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static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8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Hash(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myVec(),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mask(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- 1 ),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myVec.assignGrow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MinBuckets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 2,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myList.end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83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234036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&amp; mask;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}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%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32973"/>
              </p:ext>
            </p:extLst>
          </p:nvPr>
        </p:nvGraphicFramePr>
        <p:xfrm>
          <a:off x="2772000" y="45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1152000" y="3969000"/>
            <a:ext cx="108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number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3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11</a:t>
            </a:r>
            <a:endParaRPr lang="zh-TW" altLang="en-US" sz="1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652000" y="4509000"/>
            <a:ext cx="108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maxidx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512000" y="450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mask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64123"/>
              </p:ext>
            </p:extLst>
          </p:nvPr>
        </p:nvGraphicFramePr>
        <p:xfrm>
          <a:off x="7272000" y="45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23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7</a:t>
            </a:r>
            <a:endParaRPr lang="zh-TW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673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8</a:t>
            </a:r>
            <a:endParaRPr lang="zh-TW" altLang="en-US" sz="1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18445"/>
              </p:ext>
            </p:extLst>
          </p:nvPr>
        </p:nvGraphicFramePr>
        <p:xfrm>
          <a:off x="27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5652000" y="3969000"/>
            <a:ext cx="108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number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32000" y="39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11</a:t>
            </a:r>
            <a:endParaRPr lang="zh-TW" altLang="en-US" sz="1600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51961"/>
              </p:ext>
            </p:extLst>
          </p:nvPr>
        </p:nvGraphicFramePr>
        <p:xfrm>
          <a:off x="7272000" y="396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432000" y="5229000"/>
            <a:ext cx="180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&amp; mask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32000" y="52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/>
              <a:t>3</a:t>
            </a:r>
            <a:endParaRPr lang="zh-TW" altLang="en-US" sz="16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05633"/>
              </p:ext>
            </p:extLst>
          </p:nvPr>
        </p:nvGraphicFramePr>
        <p:xfrm>
          <a:off x="27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4572000" y="5229000"/>
            <a:ext cx="216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 algn="r">
              <a:defRPr/>
            </a:pP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%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000" y="522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3</a:t>
            </a:r>
            <a:endParaRPr lang="zh-TW" altLang="en-US" sz="1600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401549"/>
              </p:ext>
            </p:extLst>
          </p:nvPr>
        </p:nvGraphicFramePr>
        <p:xfrm>
          <a:off x="7272000" y="52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523866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17010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9974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984778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500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21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bucket_count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&amp; mask;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}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traitsObj.</a:t>
            </a:r>
            <a:r>
              <a:rPr lang="en-US" altLang="zh-TW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operator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()( </a:t>
            </a:r>
            <a:r>
              <a:rPr lang="en-US" altLang="zh-TW" dirty="0" err="1" smtClean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&amp; mask;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%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bucket(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traitsObj.</a:t>
            </a:r>
            <a:r>
              <a:rPr lang="en-US" altLang="zh-TW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operator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%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889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72000" y="548639"/>
            <a:ext cx="9000000" cy="576072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bucket_size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insert(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erase(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find(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putIn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traitsObj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traits to customize behavior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myList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  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list of elements, must initialize before myVec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HashVec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 myVec;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"vector" of list iterators for buckets: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  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each bucket is 2 iterators denoting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  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the closed range of elements in the bucket,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  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or both iterators set to end() if the bucket is empty.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mask;  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the key mask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current maximum key value, must be a power of 2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};</a:t>
            </a:r>
            <a:endParaRPr lang="en-US" altLang="zh-TW" dirty="0">
              <a:solidFill>
                <a:srgbClr val="0000FF"/>
              </a:solidFill>
              <a:latin typeface="+mn-lt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FF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FF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272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369000"/>
            <a:ext cx="8281059" cy="6119999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HashVec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=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HashVec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set the elements stored here to cells copies of </a:t>
            </a:r>
            <a:r>
              <a:rPr lang="en-US" altLang="zh-TW" dirty="0" err="1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val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assignGrow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cells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...................................................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~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HashVec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myData.myFirst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nullptr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delete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[]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myData.myFirst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VectorVal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myData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412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VectorVal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=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*;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VectorVal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: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(),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myEnd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pointer to beginning of array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pointer to current end of sequence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myEnd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pointer to end of array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1400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FNVOffsetBasis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2166136261U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FNVPrime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16777619U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hash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operator()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FNVOffsetBasis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*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first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=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&amp; &gt;(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keyval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count 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&lt; count; ++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^= </a:t>
            </a:r>
            <a:r>
              <a:rPr lang="en-US" altLang="zh-TW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&gt;( first[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idx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FNVPrime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};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657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3302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806083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06849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782072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35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359724" cy="36019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108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5472000" y="43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10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6011678" y="4689142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3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3302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895253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500693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6011678" y="37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782072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999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359724" cy="36019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180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192000" y="43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18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6731678" y="4689142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6731678" y="37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50811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34089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79006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60" name="文字方塊 59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29143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32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359724" cy="36019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252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912000" y="43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252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7451678" y="4689142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7451678" y="37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25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9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78901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文字方塊 52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889882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79006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7" name="文字方塊 56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29143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24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359838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24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632114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2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171792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24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171792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24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25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3204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文字方塊 59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602382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79006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4" name="文字方塊 73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29143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997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743479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7 ); </a:t>
            </a:r>
            <a:r>
              <a:rPr lang="en-US" altLang="zh-TW" dirty="0" smtClean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  <a:endParaRPr lang="en-US" altLang="zh-TW" dirty="0">
              <a:solidFill>
                <a:srgbClr val="FF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4 ); </a:t>
            </a:r>
            <a:r>
              <a:rPr lang="en-US" altLang="zh-TW" dirty="0" smtClean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en-US" altLang="zh-TW" dirty="0">
              <a:solidFill>
                <a:srgbClr val="FF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5 ); </a:t>
            </a:r>
            <a:r>
              <a:rPr lang="en-US" altLang="zh-TW" dirty="0" smtClean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12 ); </a:t>
            </a:r>
            <a:r>
              <a:rPr lang="en-US" altLang="zh-TW" dirty="0" smtClean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19523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79006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4" name="文字方塊 73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472904"/>
              </p:ext>
            </p:extLst>
          </p:nvPr>
        </p:nvGraphicFramePr>
        <p:xfrm>
          <a:off x="7452000" y="2169000"/>
          <a:ext cx="1260000" cy="108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3785187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_Next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Prev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90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155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924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01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01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093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385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5471933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19202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6372002" y="324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5652002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3491978" y="324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1909" y="324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3491977" y="360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3491978" y="360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3492000" y="4509000"/>
            <a:ext cx="540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115" y="324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3492000" y="2709000"/>
            <a:ext cx="540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793" y="360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82537"/>
              </p:ext>
            </p:extLst>
          </p:nvPr>
        </p:nvGraphicFramePr>
        <p:xfrm>
          <a:off x="241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3132000" y="729000"/>
            <a:ext cx="43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 flipV="1">
            <a:off x="3132000" y="4149000"/>
            <a:ext cx="216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793" y="270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3491978" y="270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3132000" y="1449000"/>
            <a:ext cx="36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3132000" y="1089000"/>
            <a:ext cx="432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3132000" y="1809000"/>
            <a:ext cx="360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 flipV="1">
            <a:off x="3132000" y="4149000"/>
            <a:ext cx="216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112000" y="549000"/>
            <a:ext cx="3600000" cy="108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457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4031933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4212002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781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493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529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673200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Line 43"/>
          <p:cNvSpPr>
            <a:spLocks noChangeShapeType="1"/>
          </p:cNvSpPr>
          <p:nvPr/>
        </p:nvSpPr>
        <p:spPr bwMode="auto">
          <a:xfrm>
            <a:off x="691202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 flipV="1">
            <a:off x="7091910" y="324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 flipV="1">
            <a:off x="3132000" y="4149000"/>
            <a:ext cx="288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 flipV="1">
            <a:off x="3132000" y="4149000"/>
            <a:ext cx="2880000" cy="9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8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21326"/>
              </p:ext>
            </p:extLst>
          </p:nvPr>
        </p:nvGraphicFramePr>
        <p:xfrm>
          <a:off x="252000" y="909000"/>
          <a:ext cx="2160000" cy="504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" name="矩形 85"/>
          <p:cNvSpPr/>
          <p:nvPr/>
        </p:nvSpPr>
        <p:spPr>
          <a:xfrm>
            <a:off x="43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/>
        </p:nvSpPr>
        <p:spPr>
          <a:xfrm>
            <a:off x="43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Line 43"/>
          <p:cNvSpPr>
            <a:spLocks noChangeShapeType="1"/>
          </p:cNvSpPr>
          <p:nvPr/>
        </p:nvSpPr>
        <p:spPr bwMode="auto">
          <a:xfrm>
            <a:off x="1872000" y="2349000"/>
            <a:ext cx="1980000" cy="72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 flipV="1">
            <a:off x="187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0" name="Line 43"/>
          <p:cNvSpPr>
            <a:spLocks noChangeShapeType="1"/>
          </p:cNvSpPr>
          <p:nvPr/>
        </p:nvSpPr>
        <p:spPr bwMode="auto">
          <a:xfrm>
            <a:off x="187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>
            <a:off x="187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97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93" name="表格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83606"/>
              </p:ext>
            </p:extLst>
          </p:nvPr>
        </p:nvGraphicFramePr>
        <p:xfrm>
          <a:off x="43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612252"/>
              </p:ext>
            </p:extLst>
          </p:nvPr>
        </p:nvGraphicFramePr>
        <p:xfrm>
          <a:off x="61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96" name="文字方塊 95"/>
          <p:cNvSpPr txBox="1"/>
          <p:nvPr/>
        </p:nvSpPr>
        <p:spPr>
          <a:xfrm>
            <a:off x="79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79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sp>
        <p:nvSpPr>
          <p:cNvPr id="55" name="內容版面配置區 1"/>
          <p:cNvSpPr txBox="1">
            <a:spLocks/>
          </p:cNvSpPr>
          <p:nvPr/>
        </p:nvSpPr>
        <p:spPr>
          <a:xfrm>
            <a:off x="4752000" y="5589000"/>
            <a:ext cx="3780000" cy="540000"/>
          </a:xfrm>
          <a:prstGeom prst="rect">
            <a:avLst/>
          </a:prstGeom>
        </p:spPr>
        <p:txBody>
          <a:bodyPr vert="horz" lIns="91440" tIns="46800" rIns="91440" bIns="4680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Lucida Console" pitchFamily="49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myList.size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prstClr val="black"/>
                </a:solidFill>
              </a:rPr>
              <a:t>   </a:t>
            </a:r>
            <a:r>
              <a:rPr lang="en-US" altLang="zh-TW" dirty="0" smtClean="0">
                <a:solidFill>
                  <a:srgbClr val="FF0000"/>
                </a:solidFill>
              </a:rPr>
              <a:t>increase </a:t>
            </a:r>
            <a:r>
              <a:rPr lang="en-US" altLang="zh-TW" dirty="0">
                <a:solidFill>
                  <a:srgbClr val="FF0000"/>
                </a:solidFill>
              </a:rPr>
              <a:t>the table size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14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01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012002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093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3852002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5471933" y="270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752000" y="270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931885" y="2708977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5652002" y="270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3491978" y="270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1909" y="270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3491977" y="306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3491978" y="306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3492000" y="3969000"/>
            <a:ext cx="540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115" y="270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3492000" y="2169000"/>
            <a:ext cx="540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793" y="306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70350"/>
              </p:ext>
            </p:extLst>
          </p:nvPr>
        </p:nvGraphicFramePr>
        <p:xfrm>
          <a:off x="241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6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00789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3132000" y="729000"/>
            <a:ext cx="3600000" cy="18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 flipV="1">
            <a:off x="3132000" y="3609000"/>
            <a:ext cx="43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793" y="216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3491978" y="216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3132000" y="1809000"/>
            <a:ext cx="216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3132000" y="1089000"/>
            <a:ext cx="3600000" cy="14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3132000" y="2169000"/>
            <a:ext cx="2160000" cy="3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 flipV="1">
            <a:off x="3132000" y="3609000"/>
            <a:ext cx="4320000" cy="3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112000" y="549000"/>
            <a:ext cx="3600000" cy="108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8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4572002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4031933" y="270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4212002" y="270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7812000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6372000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5292002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6732002" y="252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Line 43"/>
          <p:cNvSpPr>
            <a:spLocks noChangeShapeType="1"/>
          </p:cNvSpPr>
          <p:nvPr/>
        </p:nvSpPr>
        <p:spPr bwMode="auto">
          <a:xfrm>
            <a:off x="6912025" y="270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 flipV="1">
            <a:off x="7091910" y="270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 flipV="1">
            <a:off x="3132000" y="3609000"/>
            <a:ext cx="2880000" cy="18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 flipV="1">
            <a:off x="3132000" y="3609000"/>
            <a:ext cx="2880000" cy="14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794184"/>
              </p:ext>
            </p:extLst>
          </p:nvPr>
        </p:nvGraphicFramePr>
        <p:xfrm>
          <a:off x="252000" y="909000"/>
          <a:ext cx="2160000" cy="504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矩形 55"/>
          <p:cNvSpPr/>
          <p:nvPr/>
        </p:nvSpPr>
        <p:spPr>
          <a:xfrm>
            <a:off x="43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43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1872000" y="2349000"/>
            <a:ext cx="1980000" cy="1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 flipV="1">
            <a:off x="187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Line 43"/>
          <p:cNvSpPr>
            <a:spLocks noChangeShapeType="1"/>
          </p:cNvSpPr>
          <p:nvPr/>
        </p:nvSpPr>
        <p:spPr bwMode="auto">
          <a:xfrm>
            <a:off x="187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2" name="Line 43"/>
          <p:cNvSpPr>
            <a:spLocks noChangeShapeType="1"/>
          </p:cNvSpPr>
          <p:nvPr/>
        </p:nvSpPr>
        <p:spPr bwMode="auto">
          <a:xfrm>
            <a:off x="187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97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9246"/>
              </p:ext>
            </p:extLst>
          </p:nvPr>
        </p:nvGraphicFramePr>
        <p:xfrm>
          <a:off x="43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96605"/>
              </p:ext>
            </p:extLst>
          </p:nvPr>
        </p:nvGraphicFramePr>
        <p:xfrm>
          <a:off x="61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7" name="文字方塊 76"/>
          <p:cNvSpPr txBox="1"/>
          <p:nvPr/>
        </p:nvSpPr>
        <p:spPr>
          <a:xfrm>
            <a:off x="79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9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  <p:sp>
        <p:nvSpPr>
          <p:cNvPr id="62" name="內容版面配置區 1"/>
          <p:cNvSpPr txBox="1">
            <a:spLocks/>
          </p:cNvSpPr>
          <p:nvPr/>
        </p:nvSpPr>
        <p:spPr>
          <a:xfrm>
            <a:off x="4752000" y="5589000"/>
            <a:ext cx="3780000" cy="540000"/>
          </a:xfrm>
          <a:prstGeom prst="rect">
            <a:avLst/>
          </a:prstGeom>
        </p:spPr>
        <p:txBody>
          <a:bodyPr vert="horz" lIns="91440" tIns="46800" rIns="91440" bIns="4680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Lucida Console" pitchFamily="49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myList.size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prstClr val="black"/>
                </a:solidFill>
              </a:rPr>
              <a:t>   </a:t>
            </a:r>
            <a:r>
              <a:rPr lang="en-US" altLang="zh-TW" dirty="0" smtClean="0">
                <a:solidFill>
                  <a:srgbClr val="FF0000"/>
                </a:solidFill>
              </a:rPr>
              <a:t>increase </a:t>
            </a:r>
            <a:r>
              <a:rPr lang="en-US" altLang="zh-TW" dirty="0">
                <a:solidFill>
                  <a:srgbClr val="FF0000"/>
                </a:solidFill>
              </a:rPr>
              <a:t>the table size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51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402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451842"/>
              </p:ext>
            </p:extLst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4031932" y="5229000"/>
            <a:ext cx="1260067" cy="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19729"/>
              </p:ext>
            </p:extLst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96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1999" y="2889000"/>
            <a:ext cx="4680001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</a:p>
          <a:p>
            <a:pPr lvl="0">
              <a:spcBef>
                <a:spcPts val="180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27906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96131"/>
              </p:ext>
            </p:extLst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208836"/>
              </p:ext>
            </p:extLst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014230"/>
              </p:ext>
            </p:extLst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48808"/>
              </p:ext>
            </p:extLst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61015"/>
              </p:ext>
            </p:extLst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118278"/>
              </p:ext>
            </p:extLst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00801"/>
              </p:ext>
            </p:extLst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36785"/>
              </p:ext>
            </p:extLst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763899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51708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1259998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7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451842"/>
              </p:ext>
            </p:extLst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16194"/>
              </p:ext>
            </p:extLst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24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</a:p>
          <a:p>
            <a:pPr lvl="0">
              <a:spcBef>
                <a:spcPts val="180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27906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96131"/>
              </p:ext>
            </p:extLst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208836"/>
              </p:ext>
            </p:extLst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03691"/>
              </p:ext>
            </p:extLst>
          </p:nvPr>
        </p:nvGraphicFramePr>
        <p:xfrm>
          <a:off x="457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002221"/>
              </p:ext>
            </p:extLst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48808"/>
              </p:ext>
            </p:extLst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361015"/>
              </p:ext>
            </p:extLst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118278"/>
              </p:ext>
            </p:extLst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00801"/>
              </p:ext>
            </p:extLst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36785"/>
              </p:ext>
            </p:extLst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5096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14560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0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752115" y="52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932000" y="52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723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834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676927"/>
              </p:ext>
            </p:extLst>
          </p:nvPr>
        </p:nvGraphicFramePr>
        <p:xfrm>
          <a:off x="529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52128"/>
              </p:ext>
            </p:extLst>
          </p:nvPr>
        </p:nvGraphicFramePr>
        <p:xfrm>
          <a:off x="295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259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6372115" y="5228842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259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259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2592000" y="6309000"/>
            <a:ext cx="41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192321" y="5228859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2592000" y="4689000"/>
            <a:ext cx="41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6732000" y="5589000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6731999" y="4689003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259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2232000" y="2529000"/>
            <a:ext cx="324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2232000" y="2889000"/>
            <a:ext cx="396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50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==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==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0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158542"/>
              </p:ext>
            </p:extLst>
          </p:nvPr>
        </p:nvGraphicFramePr>
        <p:xfrm>
          <a:off x="367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31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33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340404"/>
              </p:ext>
            </p:extLst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2662"/>
              </p:ext>
            </p:extLst>
          </p:nvPr>
        </p:nvGraphicFramePr>
        <p:xfrm>
          <a:off x="40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157160"/>
              </p:ext>
            </p:extLst>
          </p:nvPr>
        </p:nvGraphicFramePr>
        <p:xfrm>
          <a:off x="439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25118"/>
              </p:ext>
            </p:extLst>
          </p:nvPr>
        </p:nvGraphicFramePr>
        <p:xfrm>
          <a:off x="601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12809"/>
              </p:ext>
            </p:extLst>
          </p:nvPr>
        </p:nvGraphicFramePr>
        <p:xfrm>
          <a:off x="133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52301"/>
              </p:ext>
            </p:extLst>
          </p:nvPr>
        </p:nvGraphicFramePr>
        <p:xfrm>
          <a:off x="475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2232000" y="3969000"/>
            <a:ext cx="162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2232000" y="4329000"/>
            <a:ext cx="234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226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872911"/>
              </p:ext>
            </p:extLst>
          </p:nvPr>
        </p:nvGraphicFramePr>
        <p:xfrm>
          <a:off x="529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1658"/>
              </p:ext>
            </p:extLst>
          </p:nvPr>
        </p:nvGraphicFramePr>
        <p:xfrm>
          <a:off x="295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259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0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259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259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2592000" y="6309000"/>
            <a:ext cx="48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69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2592000" y="4689000"/>
            <a:ext cx="48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74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74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259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2232000" y="2529000"/>
            <a:ext cx="324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2232000" y="2889000"/>
            <a:ext cx="396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50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== 0</a:t>
            </a:r>
          </a:p>
          <a:p>
            <a:pPr lvl="0">
              <a:spcBef>
                <a:spcPts val="1800"/>
              </a:spcBef>
            </a:pP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0426"/>
              </p:ext>
            </p:extLst>
          </p:nvPr>
        </p:nvGraphicFramePr>
        <p:xfrm>
          <a:off x="367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31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33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145865"/>
              </p:ext>
            </p:extLst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023087"/>
              </p:ext>
            </p:extLst>
          </p:nvPr>
        </p:nvGraphicFramePr>
        <p:xfrm>
          <a:off x="40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3533"/>
              </p:ext>
            </p:extLst>
          </p:nvPr>
        </p:nvGraphicFramePr>
        <p:xfrm>
          <a:off x="439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32403"/>
              </p:ext>
            </p:extLst>
          </p:nvPr>
        </p:nvGraphicFramePr>
        <p:xfrm>
          <a:off x="601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ucida Console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37775"/>
              </p:ext>
            </p:extLst>
          </p:nvPr>
        </p:nvGraphicFramePr>
        <p:xfrm>
          <a:off x="133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12755"/>
              </p:ext>
            </p:extLst>
          </p:nvPr>
        </p:nvGraphicFramePr>
        <p:xfrm>
          <a:off x="475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2232000" y="3969000"/>
            <a:ext cx="162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2232000" y="4329000"/>
            <a:ext cx="234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19265"/>
              </p:ext>
            </p:extLst>
          </p:nvPr>
        </p:nvGraphicFramePr>
        <p:xfrm>
          <a:off x="67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6192115" y="52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H="1" flipV="1">
            <a:off x="6372000" y="52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>
            <a:off x="2232000" y="1089000"/>
            <a:ext cx="46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2232000" y="1449000"/>
            <a:ext cx="468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26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977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346264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0440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4917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673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745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19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691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24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63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2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17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24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17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180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24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25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7 );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46422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矩形 36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6603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3" name="文字方塊 52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13165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636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5 );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321340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0440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74669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24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63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2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17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17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5 );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3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06274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矩形 36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0440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0812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685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12 );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33594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0440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32932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191931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091908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6371908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811908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24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632114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2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171792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24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171792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24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25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12 );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622771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692714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55957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883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859254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04408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37806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745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6911931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091816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811816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24000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632022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2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171700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24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171700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24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252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549000"/>
            <a:ext cx="2340000" cy="360000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4 );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414050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71537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5555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52000" y="126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/>
              <a:t>_</a:t>
            </a:r>
            <a:r>
              <a:rPr lang="en-US" altLang="zh-TW" sz="1600" dirty="0" err="1"/>
              <a:t>Mypair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29527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625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24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457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0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752115" y="52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932000" y="52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6930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4031932" y="5229000"/>
            <a:ext cx="1260067" cy="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96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1259998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523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2892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75223"/>
              </p:ext>
            </p:extLst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96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324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91374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16888"/>
              </p:ext>
            </p:extLst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867394"/>
              </p:ext>
            </p:extLst>
          </p:nvPr>
        </p:nvGraphicFramePr>
        <p:xfrm>
          <a:off x="565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837737"/>
              </p:ext>
            </p:extLst>
          </p:nvPr>
        </p:nvGraphicFramePr>
        <p:xfrm>
          <a:off x="457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85336"/>
              </p:ext>
            </p:extLst>
          </p:nvPr>
        </p:nvGraphicFramePr>
        <p:xfrm>
          <a:off x="31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11544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93482"/>
              </p:ext>
            </p:extLst>
          </p:nvPr>
        </p:nvGraphicFramePr>
        <p:xfrm>
          <a:off x="601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752000" y="52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032000" y="5229000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932069" y="5228976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211885" y="5228977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161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75223"/>
              </p:ext>
            </p:extLst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96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91374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16888"/>
              </p:ext>
            </p:extLst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867394"/>
              </p:ext>
            </p:extLst>
          </p:nvPr>
        </p:nvGraphicFramePr>
        <p:xfrm>
          <a:off x="565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85336"/>
              </p:ext>
            </p:extLst>
          </p:nvPr>
        </p:nvGraphicFramePr>
        <p:xfrm>
          <a:off x="31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11544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93482"/>
              </p:ext>
            </p:extLst>
          </p:nvPr>
        </p:nvGraphicFramePr>
        <p:xfrm>
          <a:off x="601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032000" y="5229000"/>
            <a:ext cx="12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0" y="5228999"/>
            <a:ext cx="1260023" cy="36004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601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139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180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270978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457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83767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0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752115" y="52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932000" y="52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8772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180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468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32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270978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/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558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630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83767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4031932" y="5229000"/>
            <a:ext cx="1260067" cy="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1259998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0717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5807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512000" y="2529000"/>
            <a:ext cx="3240000" cy="25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1512000" y="2889000"/>
            <a:ext cx="3240000" cy="21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50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==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99678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457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a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859068"/>
              </p:ext>
            </p:extLst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396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468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5986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84795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4031933" y="52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4752115" y="52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4932000" y="52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049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22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1871978" y="52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7991794" y="5228983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1871977" y="55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1871978" y="5589161"/>
            <a:ext cx="22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1872000" y="630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7812000" y="5229000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1872000" y="4689000"/>
            <a:ext cx="648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351679" y="5589141"/>
            <a:ext cx="206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12000" y="549000"/>
          <a:ext cx="1080000" cy="43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92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2n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0" lang="en-US" altLang="zh-TW" sz="1600" b="0" i="0" u="none" strike="noStrike" cap="none" spc="3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n</a:t>
                      </a:r>
                      <a:r>
                        <a:rPr kumimoji="0" lang="en-US" altLang="zh-TW" sz="1600" b="0" i="0" u="none" strike="noStrike" cap="none" spc="100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+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⋮</a:t>
                      </a: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351678" y="4689144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1871978" y="46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032000" y="729000"/>
            <a:ext cx="4500000" cy="1440000"/>
          </a:xfrm>
        </p:spPr>
        <p:txBody>
          <a:bodyPr tIns="0" bIns="0"/>
          <a:lstStyle/>
          <a:p>
            <a:pPr lvl="0">
              <a:spcBef>
                <a:spcPts val="600"/>
              </a:spcBef>
            </a:pPr>
            <a:r>
              <a:rPr lang="en-US" altLang="zh-TW" dirty="0" err="1">
                <a:solidFill>
                  <a:prstClr val="black"/>
                </a:solidFill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細明體" panose="02020509000000000000" pitchFamily="49" charset="-120"/>
              <a:cs typeface="Times New Roman" panose="02020603050405020304" pitchFamily="18" charset="0"/>
            </a:endParaRPr>
          </a:p>
          <a:p>
            <a:pPr marL="987425" lvl="0" indent="-987425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Suppose	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 == n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細明體" panose="02020509000000000000" pitchFamily="49" charset="-12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data.bucket_size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)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== 1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1800"/>
              </a:spcBef>
            </a:pP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data.erase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);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99678"/>
              </p:ext>
            </p:extLst>
          </p:nvPr>
        </p:nvGraphicFramePr>
        <p:xfrm>
          <a:off x="3132002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6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34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859068"/>
              </p:ext>
            </p:extLst>
          </p:nvPr>
        </p:nvGraphicFramePr>
        <p:xfrm>
          <a:off x="60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259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763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7271998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691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1512000" y="1089000"/>
            <a:ext cx="3960000" cy="39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1512000" y="1449000"/>
            <a:ext cx="4680000" cy="36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6372000" y="5049000"/>
          <a:ext cx="540000" cy="10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⋯</a:t>
                      </a:r>
                      <a:endParaRPr kumimoji="0" lang="zh-TW" alt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5986"/>
              </p:ext>
            </p:extLst>
          </p:nvPr>
        </p:nvGraphicFramePr>
        <p:xfrm>
          <a:off x="529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84795"/>
              </p:ext>
            </p:extLst>
          </p:nvPr>
        </p:nvGraphicFramePr>
        <p:xfrm>
          <a:off x="3852000" y="50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*</a:t>
                      </a:r>
                      <a:endParaRPr kumimoji="0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 flipV="1">
            <a:off x="4031932" y="5229000"/>
            <a:ext cx="1260067" cy="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4212002" y="5229000"/>
            <a:ext cx="1259998" cy="3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1512000" y="3969000"/>
            <a:ext cx="1800000" cy="10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1512000" y="4329000"/>
            <a:ext cx="2520000" cy="7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28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04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8639"/>
            <a:ext cx="8460000" cy="3780361"/>
          </a:xfrm>
        </p:spPr>
        <p:txBody>
          <a:bodyPr/>
          <a:lstStyle/>
          <a:p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 data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+ 8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 smtClean="0">
              <a:solidFill>
                <a:srgbClr val="0000FF"/>
              </a:solidFill>
              <a:latin typeface="+mn-lt"/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&gt;::</a:t>
            </a:r>
            <a:r>
              <a:rPr lang="en-US" altLang="zh-TW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*(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 &gt;(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&amp;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 + 4 );</a:t>
            </a:r>
          </a:p>
          <a:p>
            <a:pPr lvl="0"/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];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it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it </a:t>
            </a:r>
            <a:r>
              <a:rPr lang="en-US" altLang="zh-TW" dirty="0" smtClean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!=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++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it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*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it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544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26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5292000" y="1089000"/>
            <a:ext cx="3420000" cy="1260000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021195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68051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8800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1872000" y="126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1084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8639"/>
            <a:ext cx="8460000" cy="3240361"/>
          </a:xfrm>
        </p:spPr>
        <p:txBody>
          <a:bodyPr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 data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+ 8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&gt;::</a:t>
            </a:r>
            <a:r>
              <a:rPr lang="en-US" altLang="zh-TW" dirty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 &gt;( &amp;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 + 4 );</a:t>
            </a:r>
          </a:p>
          <a:p>
            <a:pPr lvl="0"/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it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it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++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it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*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it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8643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6012000" y="252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7632116" y="2528724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709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47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52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Debug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292000" y="549000"/>
            <a:ext cx="3419475" cy="1260475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7632000" y="2709000"/>
            <a:ext cx="18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6192000" y="2709000"/>
            <a:ext cx="72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21797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68051"/>
              </p:ext>
            </p:extLst>
          </p:nvPr>
        </p:nvGraphicFramePr>
        <p:xfrm>
          <a:off x="1692000" y="180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8800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872000" y="126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886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6012000" y="252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7632116" y="2528724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709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47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Release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292000" y="549000"/>
            <a:ext cx="3419475" cy="1260475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7632000" y="2709000"/>
            <a:ext cx="18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>
            <a:off x="6192000" y="2709000"/>
            <a:ext cx="72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217973"/>
              </p:ext>
            </p:extLst>
          </p:nvPr>
        </p:nvGraphicFramePr>
        <p:xfrm>
          <a:off x="252000" y="909000"/>
          <a:ext cx="3420000" cy="50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60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62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2349000"/>
            <a:ext cx="2339999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179715"/>
              </p:ext>
            </p:extLst>
          </p:nvPr>
        </p:nvGraphicFramePr>
        <p:xfrm>
          <a:off x="1692000" y="2169000"/>
          <a:ext cx="1620000" cy="72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988004"/>
              </p:ext>
            </p:extLst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2052000" y="324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ctr"/>
            <a:r>
              <a:rPr lang="en-US" altLang="zh-TW" sz="1600" dirty="0" err="1"/>
              <a:t>myData</a:t>
            </a:r>
            <a:endParaRPr lang="zh-TW" altLang="en-US" sz="16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872000" y="126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9831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8639"/>
            <a:ext cx="8640000" cy="4320361"/>
          </a:xfrm>
        </p:spPr>
        <p:txBody>
          <a:bodyPr/>
          <a:lstStyle/>
          <a:p>
            <a:pPr lvl="0"/>
            <a:r>
              <a:rPr lang="en-US" altLang="zh-TW" dirty="0" err="1"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 data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*(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***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&gt;( &amp;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 +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5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);</a:t>
            </a:r>
          </a:p>
          <a:p>
            <a:pPr lvl="0"/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{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+ 2 )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);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+ 2 )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10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26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52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sz="2000" dirty="0" smtClean="0">
                <a:solidFill>
                  <a:srgbClr val="000000"/>
                </a:solidFill>
                <a:latin typeface="+mj-lt"/>
                <a:ea typeface="細明體" panose="02020509000000000000" pitchFamily="49" charset="-120"/>
                <a:cs typeface="Times New Roman" panose="02020603050405020304" pitchFamily="18" charset="0"/>
              </a:rPr>
              <a:t>Configuration: Debug</a:t>
            </a:r>
            <a:endParaRPr lang="zh-TW" alt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184775" y="1089025"/>
            <a:ext cx="3959225" cy="1260475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09817"/>
              </p:ext>
            </p:extLst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836618"/>
              </p:ext>
            </p:extLst>
          </p:nvPr>
        </p:nvGraphicFramePr>
        <p:xfrm>
          <a:off x="1692000" y="144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18044"/>
              </p:ext>
            </p:extLst>
          </p:nvPr>
        </p:nvGraphicFramePr>
        <p:xfrm>
          <a:off x="1692000" y="3429000"/>
          <a:ext cx="1620000" cy="14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9368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663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26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altLang="zh-TW" sz="2000" dirty="0" smtClean="0">
                <a:solidFill>
                  <a:srgbClr val="000000"/>
                </a:solidFill>
                <a:latin typeface="+mj-lt"/>
                <a:ea typeface="細明體" panose="02020509000000000000" pitchFamily="49" charset="-120"/>
                <a:cs typeface="Times New Roman" panose="02020603050405020304" pitchFamily="18" charset="0"/>
              </a:rPr>
              <a:t>Configuration: Release</a:t>
            </a:r>
            <a:endParaRPr lang="zh-TW" alt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184775" y="1089025"/>
            <a:ext cx="3959225" cy="1260475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09817"/>
              </p:ext>
            </p:extLst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61617"/>
              </p:ext>
            </p:extLst>
          </p:nvPr>
        </p:nvGraphicFramePr>
        <p:xfrm>
          <a:off x="1692000" y="1809000"/>
          <a:ext cx="1620000" cy="72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225785"/>
              </p:ext>
            </p:extLst>
          </p:nvPr>
        </p:nvGraphicFramePr>
        <p:xfrm>
          <a:off x="1692000" y="378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0562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8639"/>
            <a:ext cx="8640000" cy="4320361"/>
          </a:xfrm>
        </p:spPr>
        <p:txBody>
          <a:bodyPr/>
          <a:lstStyle/>
          <a:p>
            <a:pPr lvl="0"/>
            <a:r>
              <a:rPr lang="en-US" altLang="zh-TW" dirty="0" err="1"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 data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9 );</a:t>
            </a:r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FF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*( </a:t>
            </a:r>
            <a:r>
              <a:rPr lang="en-US" altLang="zh-TW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***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&gt;( &amp;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 +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5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);</a:t>
            </a:r>
          </a:p>
          <a:p>
            <a:pPr lvl="0"/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maxidx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++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vecFirst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+ 1 ];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*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bucketFirst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!=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bucketLast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{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+ 2 )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ptr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);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}</a:t>
            </a:r>
            <a:endParaRPr lang="en-US" altLang="zh-TW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bucketLast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+ 2 )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749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0" y="548639"/>
            <a:ext cx="8281059" cy="1440361"/>
          </a:xfrm>
        </p:spPr>
        <p:txBody>
          <a:bodyPr/>
          <a:lstStyle/>
          <a:p>
            <a:pPr>
              <a:tabLst>
                <a:tab pos="2340000" algn="ctr"/>
                <a:tab pos="3780000" algn="ctr"/>
                <a:tab pos="5220000" algn="ctr"/>
              </a:tabLst>
            </a:pPr>
            <a:r>
              <a:rPr lang="en-US" altLang="zh-TW" dirty="0" smtClean="0"/>
              <a:t>	_</a:t>
            </a:r>
            <a:r>
              <a:rPr lang="en-US" altLang="zh-TW" dirty="0" err="1" smtClean="0"/>
              <a:t>Traitsobj</a:t>
            </a:r>
            <a:r>
              <a:rPr lang="en-US" altLang="zh-TW" dirty="0"/>
              <a:t>	_</a:t>
            </a:r>
            <a:r>
              <a:rPr lang="en-US" altLang="zh-TW" dirty="0" smtClean="0"/>
              <a:t>List</a:t>
            </a:r>
            <a:r>
              <a:rPr lang="en-US" altLang="zh-TW" dirty="0"/>
              <a:t>	_</a:t>
            </a:r>
            <a:r>
              <a:rPr lang="en-US" altLang="zh-TW" dirty="0" err="1"/>
              <a:t>Vec</a:t>
            </a:r>
            <a:endParaRPr lang="en-US" altLang="zh-TW" dirty="0" smtClean="0"/>
          </a:p>
          <a:p>
            <a:pPr>
              <a:tabLst>
                <a:tab pos="2340000" algn="ctr"/>
                <a:tab pos="3780000" algn="ctr"/>
                <a:tab pos="5220000" algn="ctr"/>
              </a:tabLst>
            </a:pPr>
            <a:r>
              <a:rPr lang="en-US" altLang="zh-TW" dirty="0" smtClean="0"/>
              <a:t>Debug </a:t>
            </a:r>
            <a:r>
              <a:rPr lang="en-US" altLang="zh-TW" dirty="0" err="1" smtClean="0"/>
              <a:t>x86</a:t>
            </a:r>
            <a:r>
              <a:rPr lang="en-US" altLang="zh-TW" dirty="0"/>
              <a:t>	4 bytes	12 bytes	16 bytes</a:t>
            </a:r>
            <a:endParaRPr lang="en-US" altLang="zh-TW" dirty="0" smtClean="0"/>
          </a:p>
          <a:p>
            <a:pPr lvl="0">
              <a:tabLst>
                <a:tab pos="2340000" algn="ctr"/>
                <a:tab pos="3780000" algn="ctr"/>
                <a:tab pos="5220000" algn="ctr"/>
              </a:tabLst>
            </a:pPr>
            <a:r>
              <a:rPr lang="en-US" altLang="zh-TW" dirty="0" smtClean="0">
                <a:solidFill>
                  <a:prstClr val="black"/>
                </a:solidFill>
              </a:rPr>
              <a:t>Debug </a:t>
            </a:r>
            <a:r>
              <a:rPr lang="en-US" altLang="zh-TW" dirty="0" err="1" smtClean="0">
                <a:solidFill>
                  <a:prstClr val="black"/>
                </a:solidFill>
              </a:rPr>
              <a:t>x64</a:t>
            </a:r>
            <a:r>
              <a:rPr lang="en-US" altLang="zh-TW" dirty="0">
                <a:solidFill>
                  <a:prstClr val="black"/>
                </a:solidFill>
              </a:rPr>
              <a:t>	4 bytes	24 bytes	32 bytes</a:t>
            </a:r>
          </a:p>
          <a:p>
            <a:pPr>
              <a:tabLst>
                <a:tab pos="2340000" algn="ctr"/>
                <a:tab pos="3780000" algn="ctr"/>
                <a:tab pos="5220000" algn="ctr"/>
              </a:tabLst>
            </a:pPr>
            <a:r>
              <a:rPr lang="en-US" altLang="zh-TW" dirty="0" smtClean="0"/>
              <a:t>Release </a:t>
            </a:r>
            <a:r>
              <a:rPr lang="en-US" altLang="zh-TW" dirty="0" err="1" smtClean="0"/>
              <a:t>x86</a:t>
            </a:r>
            <a:r>
              <a:rPr lang="en-US" altLang="zh-TW" dirty="0"/>
              <a:t>	4 bytes</a:t>
            </a:r>
            <a:r>
              <a:rPr lang="en-US" altLang="zh-TW"/>
              <a:t>	</a:t>
            </a:r>
            <a:r>
              <a:rPr lang="en-US" altLang="zh-TW" smtClean="0"/>
              <a:t> 8 </a:t>
            </a:r>
            <a:r>
              <a:rPr lang="en-US" altLang="zh-TW" dirty="0"/>
              <a:t>bytes	12 bytes</a:t>
            </a:r>
            <a:endParaRPr lang="en-US" altLang="zh-TW" dirty="0" smtClean="0"/>
          </a:p>
          <a:p>
            <a:pPr>
              <a:tabLst>
                <a:tab pos="2340000" algn="ctr"/>
                <a:tab pos="3780000" algn="ctr"/>
                <a:tab pos="5220000" algn="ctr"/>
              </a:tabLst>
            </a:pPr>
            <a:r>
              <a:rPr lang="en-US" altLang="zh-TW" dirty="0">
                <a:solidFill>
                  <a:prstClr val="black"/>
                </a:solidFill>
              </a:rPr>
              <a:t>Release </a:t>
            </a:r>
            <a:r>
              <a:rPr lang="en-US" altLang="zh-TW" dirty="0" err="1" smtClean="0">
                <a:solidFill>
                  <a:prstClr val="black"/>
                </a:solidFill>
              </a:rPr>
              <a:t>x64</a:t>
            </a:r>
            <a:r>
              <a:rPr lang="en-US" altLang="zh-TW" dirty="0">
                <a:solidFill>
                  <a:prstClr val="black"/>
                </a:solidFill>
              </a:rPr>
              <a:t>	4 bytes	16 bytes	24 bytes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48939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547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52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Debug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112000" y="549000"/>
            <a:ext cx="3959225" cy="1260475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09817"/>
              </p:ext>
            </p:extLst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836618"/>
              </p:ext>
            </p:extLst>
          </p:nvPr>
        </p:nvGraphicFramePr>
        <p:xfrm>
          <a:off x="1692000" y="144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174240"/>
              </p:ext>
            </p:extLst>
          </p:nvPr>
        </p:nvGraphicFramePr>
        <p:xfrm>
          <a:off x="1692000" y="3429000"/>
          <a:ext cx="1620000" cy="14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9368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6012000" y="252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7632116" y="2528724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文字方塊 50"/>
          <p:cNvSpPr txBox="1"/>
          <p:nvPr/>
        </p:nvSpPr>
        <p:spPr>
          <a:xfrm>
            <a:off x="709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2" name="Line 43"/>
          <p:cNvSpPr>
            <a:spLocks noChangeShapeType="1"/>
          </p:cNvSpPr>
          <p:nvPr/>
        </p:nvSpPr>
        <p:spPr bwMode="auto">
          <a:xfrm flipH="1">
            <a:off x="7632000" y="2709000"/>
            <a:ext cx="18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3" name="Line 43"/>
          <p:cNvSpPr>
            <a:spLocks noChangeShapeType="1"/>
          </p:cNvSpPr>
          <p:nvPr/>
        </p:nvSpPr>
        <p:spPr bwMode="auto">
          <a:xfrm>
            <a:off x="6192000" y="2709000"/>
            <a:ext cx="72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49569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547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452092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673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8172184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29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432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432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432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432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432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468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4689161"/>
            <a:ext cx="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1999" y="55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432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378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V="1">
            <a:off x="8891884" y="4689159"/>
            <a:ext cx="1" cy="9000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4392000" y="729000"/>
            <a:ext cx="3960000" cy="34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Line 43"/>
          <p:cNvSpPr>
            <a:spLocks noChangeShapeType="1"/>
          </p:cNvSpPr>
          <p:nvPr/>
        </p:nvSpPr>
        <p:spPr bwMode="auto">
          <a:xfrm>
            <a:off x="4392000" y="2169000"/>
            <a:ext cx="1800000" cy="198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378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378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270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9" name="Line 43"/>
          <p:cNvSpPr>
            <a:spLocks noChangeShapeType="1"/>
          </p:cNvSpPr>
          <p:nvPr/>
        </p:nvSpPr>
        <p:spPr bwMode="auto">
          <a:xfrm>
            <a:off x="4392000" y="1089000"/>
            <a:ext cx="3960000" cy="30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234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4392000" y="2529000"/>
            <a:ext cx="180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70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Release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5112000" y="549000"/>
            <a:ext cx="3959225" cy="1260475"/>
          </a:xfrm>
        </p:spPr>
        <p:txBody>
          <a:bodyPr tIns="0" bIns="0"/>
          <a:lstStyle/>
          <a:p>
            <a:pPr lvl="0"/>
            <a:r>
              <a:rPr lang="en-US" altLang="zh-TW" dirty="0" err="1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unordered_set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data;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432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432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09817"/>
              </p:ext>
            </p:extLst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05185"/>
              </p:ext>
            </p:extLst>
          </p:nvPr>
        </p:nvGraphicFramePr>
        <p:xfrm>
          <a:off x="1692000" y="1809000"/>
          <a:ext cx="1620000" cy="72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258117"/>
              </p:ext>
            </p:extLst>
          </p:nvPr>
        </p:nvGraphicFramePr>
        <p:xfrm>
          <a:off x="1692000" y="378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6012000" y="252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7632116" y="2528724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文字方塊 50"/>
          <p:cNvSpPr txBox="1"/>
          <p:nvPr/>
        </p:nvSpPr>
        <p:spPr>
          <a:xfrm>
            <a:off x="7092000" y="2169000"/>
            <a:ext cx="144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2" name="Line 43"/>
          <p:cNvSpPr>
            <a:spLocks noChangeShapeType="1"/>
          </p:cNvSpPr>
          <p:nvPr/>
        </p:nvSpPr>
        <p:spPr bwMode="auto">
          <a:xfrm flipH="1">
            <a:off x="7632000" y="2709000"/>
            <a:ext cx="18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3" name="Line 43"/>
          <p:cNvSpPr>
            <a:spLocks noChangeShapeType="1"/>
          </p:cNvSpPr>
          <p:nvPr/>
        </p:nvSpPr>
        <p:spPr bwMode="auto">
          <a:xfrm>
            <a:off x="6192000" y="2709000"/>
            <a:ext cx="72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0552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72000" y="548639"/>
            <a:ext cx="9000000" cy="5760721"/>
          </a:xfrm>
        </p:spPr>
        <p:txBody>
          <a:bodyPr lIns="0" rIns="0"/>
          <a:lstStyle/>
          <a:p>
            <a:r>
              <a:rPr lang="en-US" altLang="zh-TW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#if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6F008A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6F008A"/>
                </a:solidFill>
                <a:latin typeface="+mn-lt"/>
                <a:ea typeface="細明體" panose="02020509000000000000" pitchFamily="49" charset="-120"/>
              </a:rPr>
              <a:t>ITERATOR_DEBUG_LEVEL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== 2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Solution Configuration is Debug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offset1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2;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offset2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5;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offset3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4;</a:t>
            </a:r>
          </a:p>
          <a:p>
            <a:r>
              <a:rPr lang="en-US" altLang="zh-TW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#else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            </a:t>
            </a:r>
            <a:r>
              <a:rPr lang="en-US" altLang="zh-TW" dirty="0">
                <a:solidFill>
                  <a:srgbClr val="008000"/>
                </a:solidFill>
                <a:latin typeface="+mn-lt"/>
                <a:ea typeface="細明體" panose="02020509000000000000" pitchFamily="49" charset="-120"/>
              </a:rPr>
              <a:t>// Solution Configuration is Release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offset1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1;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offset2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3;</a:t>
            </a:r>
          </a:p>
          <a:p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offset3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3;</a:t>
            </a:r>
          </a:p>
          <a:p>
            <a:r>
              <a:rPr lang="en-US" altLang="zh-TW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#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endif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sz="1500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typedef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std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::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&gt;::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Unchecked_iterator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rightListHead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 &gt;( &amp;</a:t>
            </a:r>
            <a:r>
              <a:rPr lang="en-US" altLang="zh-TW" sz="15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right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 + 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offset1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sz="1500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*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rightVecFirst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sz="12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**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&gt;(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&amp;</a:t>
            </a:r>
            <a:r>
              <a:rPr lang="en-US" altLang="zh-TW" sz="15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right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</a:t>
            </a:r>
            <a:r>
              <a:rPr lang="en-US" altLang="zh-TW" sz="11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+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offset2</a:t>
            </a:r>
            <a:r>
              <a:rPr lang="en-US" altLang="zh-TW" sz="11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</a:p>
          <a:p>
            <a:endParaRPr lang="zh-TW" altLang="en-US" sz="15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sz="1500" dirty="0" err="1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typedef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typename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&gt;::</a:t>
            </a:r>
            <a:r>
              <a:rPr lang="en-US" altLang="zh-TW" sz="1500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iterator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500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*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leftVecFirst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** &gt;( &amp;</a:t>
            </a:r>
            <a:r>
              <a:rPr lang="en-US" altLang="zh-TW" sz="15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left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 + </a:t>
            </a:r>
            <a:r>
              <a:rPr lang="en-US" altLang="zh-TW" sz="15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offset3</a:t>
            </a:r>
            <a:r>
              <a:rPr lang="en-US" altLang="zh-TW" sz="15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5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);</a:t>
            </a:r>
            <a:endParaRPr lang="en-US" altLang="zh-TW" sz="15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5728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89000"/>
            <a:ext cx="8640000" cy="6479999"/>
          </a:xfrm>
        </p:spPr>
        <p:txBody>
          <a:bodyPr lIns="0" rIns="0"/>
          <a:lstStyle/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0;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&lt;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.bucket_count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();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++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   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left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.bucket_size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!= </a:t>
            </a:r>
            <a:r>
              <a:rPr lang="en-US" altLang="zh-TW" dirty="0" err="1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right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.bucket_size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false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+ 1 ];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[ 2 *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bucketNo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+ 1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rightListHead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false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++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++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rightBucketLast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21890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548639"/>
            <a:ext cx="4320530" cy="2340361"/>
          </a:xfrm>
        </p:spPr>
        <p:txBody>
          <a:bodyPr/>
          <a:lstStyle/>
          <a:p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ListIt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=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rightVecFirst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rightListHead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!= *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++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leftIt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++</a:t>
            </a:r>
            <a:r>
              <a:rPr lang="en-US" altLang="zh-TW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rightIt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7957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80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883425"/>
              </p:ext>
            </p:extLst>
          </p:nvPr>
        </p:nvGraphicFramePr>
        <p:xfrm>
          <a:off x="745209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58788"/>
              </p:ext>
            </p:extLst>
          </p:nvPr>
        </p:nvGraphicFramePr>
        <p:xfrm>
          <a:off x="673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883177"/>
              </p:ext>
            </p:extLst>
          </p:nvPr>
        </p:nvGraphicFramePr>
        <p:xfrm>
          <a:off x="8172184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479393"/>
              </p:ext>
            </p:extLst>
          </p:nvPr>
        </p:nvGraphicFramePr>
        <p:xfrm>
          <a:off x="529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324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324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324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324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360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3609161"/>
            <a:ext cx="24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2000" y="432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324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270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891885" y="3609158"/>
            <a:ext cx="115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270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270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52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sz="2000" dirty="0" smtClean="0">
                <a:solidFill>
                  <a:srgbClr val="000000"/>
                </a:solidFill>
                <a:latin typeface="+mj-lt"/>
                <a:ea typeface="細明體" panose="02020509000000000000" pitchFamily="49" charset="-120"/>
                <a:cs typeface="Times New Roman" panose="02020603050405020304" pitchFamily="18" charset="0"/>
              </a:rPr>
              <a:t>Configuration: Debug</a:t>
            </a:r>
            <a:endParaRPr lang="zh-TW" alt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4932000" y="4509000"/>
            <a:ext cx="4140000" cy="1260475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</a:t>
            </a:r>
            <a:r>
              <a:rPr lang="en-US" altLang="zh-TW" dirty="0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::</a:t>
            </a:r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  <a:cs typeface="+mj-cs"/>
              </a:rPr>
              <a:t>unordered_set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right;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86477"/>
              </p:ext>
            </p:extLst>
          </p:nvPr>
        </p:nvGraphicFramePr>
        <p:xfrm>
          <a:off x="601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/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052000" y="5949000"/>
            <a:ext cx="108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right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/>
          </p:nvPr>
        </p:nvGraphicFramePr>
        <p:xfrm>
          <a:off x="1692000" y="144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1692000" y="3429000"/>
          <a:ext cx="1620000" cy="144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9368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lvl="0" algn="ctr"/>
            <a:r>
              <a:rPr lang="en-US" altLang="zh-TW" sz="1600" dirty="0">
                <a:solidFill>
                  <a:prstClr val="black"/>
                </a:solidFill>
              </a:rPr>
              <a:t>_</a:t>
            </a:r>
            <a:r>
              <a:rPr lang="en-US" altLang="zh-TW" sz="1600" dirty="0" err="1">
                <a:solidFill>
                  <a:prstClr val="black"/>
                </a:solidFill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292000" y="1089000"/>
            <a:ext cx="216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486569"/>
              </p:ext>
            </p:extLst>
          </p:nvPr>
        </p:nvGraphicFramePr>
        <p:xfrm>
          <a:off x="6192000" y="14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69591"/>
              </p:ext>
            </p:extLst>
          </p:nvPr>
        </p:nvGraphicFramePr>
        <p:xfrm>
          <a:off x="7632000" y="198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6732000" y="1629000"/>
            <a:ext cx="216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4" name="Line 43"/>
          <p:cNvSpPr>
            <a:spLocks noChangeShapeType="1"/>
          </p:cNvSpPr>
          <p:nvPr/>
        </p:nvSpPr>
        <p:spPr bwMode="auto">
          <a:xfrm flipH="1">
            <a:off x="7632000" y="2169000"/>
            <a:ext cx="18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5" name="Line 43"/>
          <p:cNvSpPr>
            <a:spLocks noChangeShapeType="1"/>
          </p:cNvSpPr>
          <p:nvPr/>
        </p:nvSpPr>
        <p:spPr bwMode="auto">
          <a:xfrm>
            <a:off x="6372000" y="1629000"/>
            <a:ext cx="54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632000" y="549000"/>
            <a:ext cx="108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rightIt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008217"/>
              </p:ext>
            </p:extLst>
          </p:nvPr>
        </p:nvGraphicFramePr>
        <p:xfrm>
          <a:off x="7992000" y="90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" name="Line 43"/>
          <p:cNvSpPr>
            <a:spLocks noChangeShapeType="1"/>
          </p:cNvSpPr>
          <p:nvPr/>
        </p:nvSpPr>
        <p:spPr bwMode="auto">
          <a:xfrm flipH="1">
            <a:off x="6912000" y="1089000"/>
            <a:ext cx="1260000" cy="19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611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70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sz="2000" dirty="0" smtClean="0">
                <a:solidFill>
                  <a:srgbClr val="000000"/>
                </a:solidFill>
                <a:latin typeface="+mj-lt"/>
                <a:ea typeface="細明體" panose="02020509000000000000" pitchFamily="49" charset="-120"/>
                <a:cs typeface="Times New Roman" panose="02020603050405020304" pitchFamily="18" charset="0"/>
              </a:rPr>
              <a:t>Configuration: Release</a:t>
            </a:r>
            <a:endParaRPr lang="zh-TW" altLang="en-US" sz="20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/>
          </p:nvPr>
        </p:nvGraphicFramePr>
        <p:xfrm>
          <a:off x="72001" y="549000"/>
          <a:ext cx="3600000" cy="540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_M</a:t>
                      </a: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/>
          </p:nvPr>
        </p:nvGraphicFramePr>
        <p:xfrm>
          <a:off x="1692000" y="1809000"/>
          <a:ext cx="1620000" cy="72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1692000" y="378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872000" y="288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Courier New" panose="02070309020205020404" pitchFamily="49" charset="0"/>
              </a:rPr>
              <a:t>M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5652000" y="549000"/>
            <a:ext cx="180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42237"/>
              </p:ext>
            </p:extLst>
          </p:nvPr>
        </p:nvGraphicFramePr>
        <p:xfrm>
          <a:off x="745209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667724"/>
              </p:ext>
            </p:extLst>
          </p:nvPr>
        </p:nvGraphicFramePr>
        <p:xfrm>
          <a:off x="673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95881"/>
              </p:ext>
            </p:extLst>
          </p:nvPr>
        </p:nvGraphicFramePr>
        <p:xfrm>
          <a:off x="8172184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191157"/>
              </p:ext>
            </p:extLst>
          </p:nvPr>
        </p:nvGraphicFramePr>
        <p:xfrm>
          <a:off x="529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" name="Line 43"/>
          <p:cNvSpPr>
            <a:spLocks noChangeShapeType="1"/>
          </p:cNvSpPr>
          <p:nvPr/>
        </p:nvSpPr>
        <p:spPr bwMode="auto">
          <a:xfrm>
            <a:off x="619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7" name="Line 43"/>
          <p:cNvSpPr>
            <a:spLocks noChangeShapeType="1"/>
          </p:cNvSpPr>
          <p:nvPr/>
        </p:nvSpPr>
        <p:spPr bwMode="auto">
          <a:xfrm>
            <a:off x="6912023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>
            <a:off x="763211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9" name="Line 43"/>
          <p:cNvSpPr>
            <a:spLocks noChangeShapeType="1"/>
          </p:cNvSpPr>
          <p:nvPr/>
        </p:nvSpPr>
        <p:spPr bwMode="auto">
          <a:xfrm flipH="1" flipV="1">
            <a:off x="7812000" y="324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0" name="Line 43"/>
          <p:cNvSpPr>
            <a:spLocks noChangeShapeType="1"/>
          </p:cNvSpPr>
          <p:nvPr/>
        </p:nvSpPr>
        <p:spPr bwMode="auto">
          <a:xfrm flipH="1" flipV="1">
            <a:off x="7092000" y="324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1" name="Line 43"/>
          <p:cNvSpPr>
            <a:spLocks noChangeShapeType="1"/>
          </p:cNvSpPr>
          <p:nvPr/>
        </p:nvSpPr>
        <p:spPr bwMode="auto">
          <a:xfrm flipH="1" flipV="1">
            <a:off x="637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2" name="Line 43"/>
          <p:cNvSpPr>
            <a:spLocks noChangeShapeType="1"/>
          </p:cNvSpPr>
          <p:nvPr/>
        </p:nvSpPr>
        <p:spPr bwMode="auto">
          <a:xfrm>
            <a:off x="4931976" y="324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3" name="Line 43"/>
          <p:cNvSpPr>
            <a:spLocks noChangeShapeType="1"/>
          </p:cNvSpPr>
          <p:nvPr/>
        </p:nvSpPr>
        <p:spPr bwMode="auto">
          <a:xfrm flipH="1" flipV="1">
            <a:off x="8532000" y="324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4" name="Line 43"/>
          <p:cNvSpPr>
            <a:spLocks noChangeShapeType="1"/>
          </p:cNvSpPr>
          <p:nvPr/>
        </p:nvSpPr>
        <p:spPr bwMode="auto">
          <a:xfrm flipH="1">
            <a:off x="4931975" y="360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5" name="Line 43"/>
          <p:cNvSpPr>
            <a:spLocks noChangeShapeType="1"/>
          </p:cNvSpPr>
          <p:nvPr/>
        </p:nvSpPr>
        <p:spPr bwMode="auto">
          <a:xfrm>
            <a:off x="4931976" y="3609161"/>
            <a:ext cx="24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6" name="Line 43"/>
          <p:cNvSpPr>
            <a:spLocks noChangeShapeType="1"/>
          </p:cNvSpPr>
          <p:nvPr/>
        </p:nvSpPr>
        <p:spPr bwMode="auto">
          <a:xfrm>
            <a:off x="4932000" y="432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7" name="Line 43"/>
          <p:cNvSpPr>
            <a:spLocks noChangeShapeType="1"/>
          </p:cNvSpPr>
          <p:nvPr/>
        </p:nvSpPr>
        <p:spPr bwMode="auto">
          <a:xfrm>
            <a:off x="8352206" y="324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8" name="Line 43"/>
          <p:cNvSpPr>
            <a:spLocks noChangeShapeType="1"/>
          </p:cNvSpPr>
          <p:nvPr/>
        </p:nvSpPr>
        <p:spPr bwMode="auto">
          <a:xfrm flipH="1" flipV="1">
            <a:off x="4932000" y="270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 flipH="1" flipV="1">
            <a:off x="8891885" y="3609158"/>
            <a:ext cx="115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0" name="Line 43"/>
          <p:cNvSpPr>
            <a:spLocks noChangeShapeType="1"/>
          </p:cNvSpPr>
          <p:nvPr/>
        </p:nvSpPr>
        <p:spPr bwMode="auto">
          <a:xfrm flipH="1" flipV="1">
            <a:off x="8891884" y="270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 flipH="1">
            <a:off x="4931976" y="270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2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3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4" name="內容版面配置區 1"/>
          <p:cNvSpPr txBox="1">
            <a:spLocks/>
          </p:cNvSpPr>
          <p:nvPr/>
        </p:nvSpPr>
        <p:spPr>
          <a:xfrm>
            <a:off x="4932000" y="4509000"/>
            <a:ext cx="4140000" cy="126047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Lucida Console" pitchFamily="49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>
                <a:solidFill>
                  <a:prstClr val="black"/>
                </a:solidFill>
                <a:latin typeface="Lucida Console"/>
                <a:ea typeface="細明體" panose="02020509000000000000" pitchFamily="49" charset="-120"/>
              </a:rPr>
              <a:t>std::</a:t>
            </a:r>
            <a:r>
              <a:rPr lang="en-US" altLang="zh-TW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  <a:cs typeface="+mj-cs"/>
              </a:rPr>
              <a:t>unordered_set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 &gt; right;</a:t>
            </a:r>
          </a:p>
          <a:p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data.insert( 7 ); </a:t>
            </a:r>
            <a:r>
              <a:rPr lang="en-US" altLang="zh-TW" smtClean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data.insert( 4 ); </a:t>
            </a:r>
            <a:r>
              <a:rPr lang="en-US" altLang="zh-TW" smtClean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data.insert( 5 ); </a:t>
            </a:r>
            <a:r>
              <a:rPr lang="en-US" altLang="zh-TW" smtClean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data.insert( 12 ); </a:t>
            </a:r>
            <a:r>
              <a:rPr lang="en-US" altLang="zh-TW" smtClean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5" name="表格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292843"/>
              </p:ext>
            </p:extLst>
          </p:nvPr>
        </p:nvGraphicFramePr>
        <p:xfrm>
          <a:off x="601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" name="Line 43"/>
          <p:cNvSpPr>
            <a:spLocks noChangeShapeType="1"/>
          </p:cNvSpPr>
          <p:nvPr/>
        </p:nvSpPr>
        <p:spPr bwMode="auto">
          <a:xfrm>
            <a:off x="547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7" name="Line 43"/>
          <p:cNvSpPr>
            <a:spLocks noChangeShapeType="1"/>
          </p:cNvSpPr>
          <p:nvPr/>
        </p:nvSpPr>
        <p:spPr bwMode="auto">
          <a:xfrm flipH="1" flipV="1">
            <a:off x="565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8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5292000" y="1089000"/>
            <a:ext cx="216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00" name="表格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3677"/>
              </p:ext>
            </p:extLst>
          </p:nvPr>
        </p:nvGraphicFramePr>
        <p:xfrm>
          <a:off x="6192000" y="14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表格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447"/>
              </p:ext>
            </p:extLst>
          </p:nvPr>
        </p:nvGraphicFramePr>
        <p:xfrm>
          <a:off x="7632000" y="198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文字方塊 101"/>
          <p:cNvSpPr txBox="1"/>
          <p:nvPr/>
        </p:nvSpPr>
        <p:spPr>
          <a:xfrm>
            <a:off x="6732000" y="1629000"/>
            <a:ext cx="216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3" name="Line 43"/>
          <p:cNvSpPr>
            <a:spLocks noChangeShapeType="1"/>
          </p:cNvSpPr>
          <p:nvPr/>
        </p:nvSpPr>
        <p:spPr bwMode="auto">
          <a:xfrm flipH="1">
            <a:off x="7632000" y="2169000"/>
            <a:ext cx="18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4" name="Line 43"/>
          <p:cNvSpPr>
            <a:spLocks noChangeShapeType="1"/>
          </p:cNvSpPr>
          <p:nvPr/>
        </p:nvSpPr>
        <p:spPr bwMode="auto">
          <a:xfrm>
            <a:off x="6372000" y="1629000"/>
            <a:ext cx="54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2052000" y="5949000"/>
            <a:ext cx="108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lvl="0" algn="ctr">
              <a:defRPr/>
            </a:pP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right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7632000" y="549000"/>
            <a:ext cx="108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rightIt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07" name="表格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79608"/>
              </p:ext>
            </p:extLst>
          </p:nvPr>
        </p:nvGraphicFramePr>
        <p:xfrm>
          <a:off x="7992000" y="90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" name="Line 43"/>
          <p:cNvSpPr>
            <a:spLocks noChangeShapeType="1"/>
          </p:cNvSpPr>
          <p:nvPr/>
        </p:nvSpPr>
        <p:spPr bwMode="auto">
          <a:xfrm flipH="1">
            <a:off x="6912000" y="1089000"/>
            <a:ext cx="1260000" cy="19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09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80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leftVecFirst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056881"/>
              </p:ext>
            </p:extLst>
          </p:nvPr>
        </p:nvGraphicFramePr>
        <p:xfrm>
          <a:off x="745209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097810"/>
              </p:ext>
            </p:extLst>
          </p:nvPr>
        </p:nvGraphicFramePr>
        <p:xfrm>
          <a:off x="673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376933"/>
              </p:ext>
            </p:extLst>
          </p:nvPr>
        </p:nvGraphicFramePr>
        <p:xfrm>
          <a:off x="8172184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58128"/>
              </p:ext>
            </p:extLst>
          </p:nvPr>
        </p:nvGraphicFramePr>
        <p:xfrm>
          <a:off x="529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324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324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324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324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360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3609161"/>
            <a:ext cx="24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2000" y="432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324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270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891885" y="3609158"/>
            <a:ext cx="115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270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270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52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sz="2000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Debug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4932000" y="4509000"/>
            <a:ext cx="3419475" cy="1260475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  <a:cs typeface="+mj-cs"/>
              </a:rPr>
              <a:t>unordered_set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left;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61401"/>
              </p:ext>
            </p:extLst>
          </p:nvPr>
        </p:nvGraphicFramePr>
        <p:xfrm>
          <a:off x="601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67162"/>
              </p:ext>
            </p:extLst>
          </p:nvPr>
        </p:nvGraphicFramePr>
        <p:xfrm>
          <a:off x="252000" y="549000"/>
          <a:ext cx="3420000" cy="54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left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518165"/>
              </p:ext>
            </p:extLst>
          </p:nvPr>
        </p:nvGraphicFramePr>
        <p:xfrm>
          <a:off x="1692000" y="1449000"/>
          <a:ext cx="1620000" cy="108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0841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292000" y="1089000"/>
            <a:ext cx="216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leftBucketFirst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486569"/>
              </p:ext>
            </p:extLst>
          </p:nvPr>
        </p:nvGraphicFramePr>
        <p:xfrm>
          <a:off x="6192000" y="14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69591"/>
              </p:ext>
            </p:extLst>
          </p:nvPr>
        </p:nvGraphicFramePr>
        <p:xfrm>
          <a:off x="7632000" y="198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6732000" y="1629000"/>
            <a:ext cx="216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left</a:t>
            </a:r>
            <a:r>
              <a:rPr lang="en-US" altLang="zh-TW" sz="1600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4" name="Line 43"/>
          <p:cNvSpPr>
            <a:spLocks noChangeShapeType="1"/>
          </p:cNvSpPr>
          <p:nvPr/>
        </p:nvSpPr>
        <p:spPr bwMode="auto">
          <a:xfrm flipH="1">
            <a:off x="7632000" y="2169000"/>
            <a:ext cx="18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5" name="Line 43"/>
          <p:cNvSpPr>
            <a:spLocks noChangeShapeType="1"/>
          </p:cNvSpPr>
          <p:nvPr/>
        </p:nvSpPr>
        <p:spPr bwMode="auto">
          <a:xfrm>
            <a:off x="6372000" y="1629000"/>
            <a:ext cx="54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632000" y="549000"/>
            <a:ext cx="108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leftIt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6" name="表格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18636"/>
              </p:ext>
            </p:extLst>
          </p:nvPr>
        </p:nvGraphicFramePr>
        <p:xfrm>
          <a:off x="7992000" y="90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" name="Line 43"/>
          <p:cNvSpPr>
            <a:spLocks noChangeShapeType="1"/>
          </p:cNvSpPr>
          <p:nvPr/>
        </p:nvSpPr>
        <p:spPr bwMode="auto">
          <a:xfrm flipH="1">
            <a:off x="6912000" y="1089000"/>
            <a:ext cx="1260000" cy="19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9013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5292000" y="5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文字方塊 49"/>
          <p:cNvSpPr txBox="1"/>
          <p:nvPr/>
        </p:nvSpPr>
        <p:spPr>
          <a:xfrm>
            <a:off x="5652000" y="549000"/>
            <a:ext cx="1800000" cy="360046"/>
          </a:xfrm>
          <a:prstGeom prst="rect">
            <a:avLst/>
          </a:prstGeom>
          <a:noFill/>
        </p:spPr>
        <p:txBody>
          <a:bodyPr wrap="square" lIns="90000" rIns="90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leftVecFirst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056881"/>
              </p:ext>
            </p:extLst>
          </p:nvPr>
        </p:nvGraphicFramePr>
        <p:xfrm>
          <a:off x="7452092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097810"/>
              </p:ext>
            </p:extLst>
          </p:nvPr>
        </p:nvGraphicFramePr>
        <p:xfrm>
          <a:off x="673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376933"/>
              </p:ext>
            </p:extLst>
          </p:nvPr>
        </p:nvGraphicFramePr>
        <p:xfrm>
          <a:off x="8172184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58128"/>
              </p:ext>
            </p:extLst>
          </p:nvPr>
        </p:nvGraphicFramePr>
        <p:xfrm>
          <a:off x="529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Line 43"/>
          <p:cNvSpPr>
            <a:spLocks noChangeShapeType="1"/>
          </p:cNvSpPr>
          <p:nvPr/>
        </p:nvSpPr>
        <p:spPr bwMode="auto">
          <a:xfrm>
            <a:off x="619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6912023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>
            <a:off x="7632115" y="3249023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 flipH="1" flipV="1">
            <a:off x="7812000" y="3249000"/>
            <a:ext cx="540138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 flipH="1" flipV="1">
            <a:off x="7092000" y="3249000"/>
            <a:ext cx="540046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 flipH="1" flipV="1">
            <a:off x="637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auto">
          <a:xfrm>
            <a:off x="4931976" y="3249162"/>
            <a:ext cx="3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5" name="Line 43"/>
          <p:cNvSpPr>
            <a:spLocks noChangeShapeType="1"/>
          </p:cNvSpPr>
          <p:nvPr/>
        </p:nvSpPr>
        <p:spPr bwMode="auto">
          <a:xfrm flipH="1" flipV="1">
            <a:off x="8532000" y="3249000"/>
            <a:ext cx="359930" cy="36020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6" name="Line 43"/>
          <p:cNvSpPr>
            <a:spLocks noChangeShapeType="1"/>
          </p:cNvSpPr>
          <p:nvPr/>
        </p:nvSpPr>
        <p:spPr bwMode="auto">
          <a:xfrm flipH="1">
            <a:off x="4931975" y="3609069"/>
            <a:ext cx="539977" cy="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931976" y="3609161"/>
            <a:ext cx="24" cy="71983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8" name="Line 43"/>
          <p:cNvSpPr>
            <a:spLocks noChangeShapeType="1"/>
          </p:cNvSpPr>
          <p:nvPr/>
        </p:nvSpPr>
        <p:spPr bwMode="auto">
          <a:xfrm>
            <a:off x="4932000" y="432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8352206" y="3249017"/>
            <a:ext cx="539678" cy="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H="1" flipV="1">
            <a:off x="4932000" y="2709000"/>
            <a:ext cx="396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flipH="1" flipV="1">
            <a:off x="8891885" y="3609158"/>
            <a:ext cx="115" cy="7198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900000" cy="57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7930386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97479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5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0084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865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487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10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6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855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9106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924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9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940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962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0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7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80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95678"/>
                  </a:ext>
                </a:extLst>
              </a:tr>
            </a:tbl>
          </a:graphicData>
        </a:graphic>
      </p:graphicFrame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8891884" y="2709161"/>
            <a:ext cx="322" cy="53985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7" name="Line 43"/>
          <p:cNvSpPr>
            <a:spLocks noChangeShapeType="1"/>
          </p:cNvSpPr>
          <p:nvPr/>
        </p:nvSpPr>
        <p:spPr bwMode="auto">
          <a:xfrm flipH="1">
            <a:off x="4931976" y="2709161"/>
            <a:ext cx="0" cy="5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4392000" y="1449000"/>
            <a:ext cx="2520000" cy="162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70" name="Line 43"/>
          <p:cNvSpPr>
            <a:spLocks noChangeShapeType="1"/>
          </p:cNvSpPr>
          <p:nvPr/>
        </p:nvSpPr>
        <p:spPr bwMode="auto">
          <a:xfrm>
            <a:off x="4392000" y="1809000"/>
            <a:ext cx="3240000" cy="1260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932000" y="5949000"/>
            <a:ext cx="2700000" cy="540000"/>
          </a:xfrm>
          <a:solidFill>
            <a:srgbClr val="FFFF00"/>
          </a:solidFill>
        </p:spPr>
        <p:txBody>
          <a:bodyPr/>
          <a:lstStyle/>
          <a:p>
            <a:r>
              <a:rPr lang="en-US" altLang="zh-TW" sz="2000" dirty="0">
                <a:solidFill>
                  <a:srgbClr val="000000"/>
                </a:solidFill>
                <a:latin typeface="Calibri"/>
                <a:ea typeface="細明體" panose="02020509000000000000" pitchFamily="49" charset="-120"/>
                <a:cs typeface="Times New Roman" panose="02020603050405020304" pitchFamily="18" charset="0"/>
              </a:rPr>
              <a:t>Configuration: Release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4294967295"/>
          </p:nvPr>
        </p:nvSpPr>
        <p:spPr>
          <a:xfrm>
            <a:off x="4932000" y="4509000"/>
            <a:ext cx="3419475" cy="1260475"/>
          </a:xfrm>
        </p:spPr>
        <p:txBody>
          <a:bodyPr tIns="0" bIns="0"/>
          <a:lstStyle/>
          <a:p>
            <a:pPr lvl="0"/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  <a:cs typeface="+mj-cs"/>
              </a:rPr>
              <a:t>unordered_set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left;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2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0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( 12 ); </a:t>
            </a:r>
            <a:r>
              <a:rPr lang="en-US" altLang="zh-TW" dirty="0">
                <a:solidFill>
                  <a:srgbClr val="FF0000"/>
                </a:solidFill>
                <a:ea typeface="細明體" panose="02020509000000000000" pitchFamily="49" charset="-120"/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61401"/>
              </p:ext>
            </p:extLst>
          </p:nvPr>
        </p:nvGraphicFramePr>
        <p:xfrm>
          <a:off x="6012000" y="3069000"/>
          <a:ext cx="360000" cy="108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0" marR="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5471931" y="3249024"/>
            <a:ext cx="54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flipH="1" flipV="1">
            <a:off x="5652000" y="3249000"/>
            <a:ext cx="539954" cy="3600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2" name="Line 43"/>
          <p:cNvSpPr>
            <a:spLocks noChangeShapeType="1"/>
          </p:cNvSpPr>
          <p:nvPr/>
        </p:nvSpPr>
        <p:spPr bwMode="auto">
          <a:xfrm flipH="1">
            <a:off x="4572000" y="729000"/>
            <a:ext cx="900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graphicFrame>
        <p:nvGraphicFramePr>
          <p:cNvPr id="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67162"/>
              </p:ext>
            </p:extLst>
          </p:nvPr>
        </p:nvGraphicFramePr>
        <p:xfrm>
          <a:off x="252000" y="549000"/>
          <a:ext cx="3420000" cy="540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traitsObj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myList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myVec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mask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7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maxidx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8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1692000" y="3249000"/>
            <a:ext cx="1800000" cy="18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692000" y="1269000"/>
            <a:ext cx="1800000" cy="144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3132000" y="1989000"/>
            <a:ext cx="2339999" cy="10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7" name="Line 43"/>
          <p:cNvSpPr>
            <a:spLocks noChangeShapeType="1"/>
          </p:cNvSpPr>
          <p:nvPr/>
        </p:nvSpPr>
        <p:spPr bwMode="auto">
          <a:xfrm flipV="1">
            <a:off x="3132000" y="729000"/>
            <a:ext cx="1080000" cy="32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9" name="Line 43"/>
          <p:cNvSpPr>
            <a:spLocks noChangeShapeType="1"/>
          </p:cNvSpPr>
          <p:nvPr/>
        </p:nvSpPr>
        <p:spPr bwMode="auto">
          <a:xfrm>
            <a:off x="3132000" y="4329000"/>
            <a:ext cx="1080000" cy="216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0" name="Line 43"/>
          <p:cNvSpPr>
            <a:spLocks noChangeShapeType="1"/>
          </p:cNvSpPr>
          <p:nvPr/>
        </p:nvSpPr>
        <p:spPr bwMode="auto">
          <a:xfrm>
            <a:off x="3132000" y="4689000"/>
            <a:ext cx="1080000" cy="18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32000" y="5949000"/>
            <a:ext cx="720000" cy="360046"/>
          </a:xfrm>
          <a:prstGeom prst="rect">
            <a:avLst/>
          </a:prstGeom>
          <a:noFill/>
        </p:spPr>
        <p:txBody>
          <a:bodyPr wrap="square" lIns="90000" rIns="9000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Lucida Console"/>
                <a:ea typeface="新細明體"/>
                <a:cs typeface="+mn-cs"/>
              </a:rPr>
              <a:t>left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39642"/>
              </p:ext>
            </p:extLst>
          </p:nvPr>
        </p:nvGraphicFramePr>
        <p:xfrm>
          <a:off x="1692000" y="1809000"/>
          <a:ext cx="1620000" cy="720000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3442611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4080226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436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4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530558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/>
          </p:nvPr>
        </p:nvGraphicFramePr>
        <p:xfrm>
          <a:off x="1872000" y="3789000"/>
          <a:ext cx="1440000" cy="108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830916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8833521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myFirst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601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myLast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601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Courier New" panose="02070309020205020404" pitchFamily="49" charset="0"/>
                        </a:rPr>
                        <a:t>myEnd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36000" marR="90000" marT="36000" marB="3600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4213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myData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1872000" y="909000"/>
            <a:ext cx="1440000" cy="36000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_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My_data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292000" y="1089000"/>
            <a:ext cx="216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leftBucketFirst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486569"/>
              </p:ext>
            </p:extLst>
          </p:nvPr>
        </p:nvGraphicFramePr>
        <p:xfrm>
          <a:off x="6192000" y="144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69591"/>
              </p:ext>
            </p:extLst>
          </p:nvPr>
        </p:nvGraphicFramePr>
        <p:xfrm>
          <a:off x="7632000" y="198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6732000" y="1629000"/>
            <a:ext cx="2160000" cy="360046"/>
          </a:xfrm>
          <a:prstGeom prst="rect">
            <a:avLst/>
          </a:prstGeom>
          <a:noFill/>
        </p:spPr>
        <p:txBody>
          <a:bodyPr wrap="square" lIns="36000" rIns="108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 smtClean="0">
                <a:solidFill>
                  <a:srgbClr val="000000"/>
                </a:solidFill>
                <a:latin typeface="Lucida Console" pitchFamily="49" charset="0"/>
                <a:ea typeface="細明體" panose="02020509000000000000" pitchFamily="49" charset="-120"/>
              </a:rPr>
              <a:t>left</a:t>
            </a:r>
            <a:r>
              <a:rPr lang="en-US" altLang="zh-TW" sz="1600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BucketLast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4" name="Line 43"/>
          <p:cNvSpPr>
            <a:spLocks noChangeShapeType="1"/>
          </p:cNvSpPr>
          <p:nvPr/>
        </p:nvSpPr>
        <p:spPr bwMode="auto">
          <a:xfrm flipH="1">
            <a:off x="7632000" y="2169000"/>
            <a:ext cx="180000" cy="90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65" name="Line 43"/>
          <p:cNvSpPr>
            <a:spLocks noChangeShapeType="1"/>
          </p:cNvSpPr>
          <p:nvPr/>
        </p:nvSpPr>
        <p:spPr bwMode="auto">
          <a:xfrm>
            <a:off x="6372000" y="1629000"/>
            <a:ext cx="540000" cy="144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632000" y="549000"/>
            <a:ext cx="1080000" cy="360046"/>
          </a:xfrm>
          <a:prstGeom prst="rect">
            <a:avLst/>
          </a:prstGeom>
          <a:noFill/>
        </p:spPr>
        <p:txBody>
          <a:bodyPr wrap="square" lIns="36000" rIns="36000" rtlCol="0">
            <a:noAutofit/>
          </a:bodyPr>
          <a:lstStyle/>
          <a:p>
            <a:pPr lvl="0" algn="ctr">
              <a:defRPr/>
            </a:pPr>
            <a:r>
              <a:rPr lang="en-US" altLang="zh-TW" sz="1600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leftIt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79608"/>
              </p:ext>
            </p:extLst>
          </p:nvPr>
        </p:nvGraphicFramePr>
        <p:xfrm>
          <a:off x="7992000" y="909000"/>
          <a:ext cx="36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Line 43"/>
          <p:cNvSpPr>
            <a:spLocks noChangeShapeType="1"/>
          </p:cNvSpPr>
          <p:nvPr/>
        </p:nvSpPr>
        <p:spPr bwMode="auto">
          <a:xfrm flipH="1">
            <a:off x="6912000" y="1089000"/>
            <a:ext cx="1260000" cy="1980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60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Calibri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19623</TotalTime>
  <Words>4413</Words>
  <Application>Microsoft Office PowerPoint</Application>
  <PresentationFormat>如螢幕大小 (4:3)</PresentationFormat>
  <Paragraphs>1879</Paragraphs>
  <Slides>71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71</vt:i4>
      </vt:variant>
    </vt:vector>
  </HeadingPairs>
  <TitlesOfParts>
    <vt:vector size="81" baseType="lpstr">
      <vt:lpstr>細明體</vt:lpstr>
      <vt:lpstr>新細明體</vt:lpstr>
      <vt:lpstr>標楷體</vt:lpstr>
      <vt:lpstr>Arial</vt:lpstr>
      <vt:lpstr>Calibri</vt:lpstr>
      <vt:lpstr>Cambria Math</vt:lpstr>
      <vt:lpstr>Courier New</vt:lpstr>
      <vt:lpstr>Lucida Console</vt:lpstr>
      <vt:lpstr>Times New Roman</vt:lpstr>
      <vt:lpstr>Office 佈景主題</vt:lpstr>
      <vt:lpstr>Assignment 2</vt:lpstr>
      <vt:lpstr>PowerPoint 簡報</vt:lpstr>
      <vt:lpstr>PowerPoint 簡報</vt:lpstr>
      <vt:lpstr>PowerPoint 簡報</vt:lpstr>
      <vt:lpstr>Inheritance Hierarchy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Configuration: Debug</vt:lpstr>
      <vt:lpstr>Configuration: Release</vt:lpstr>
      <vt:lpstr>PowerPoint 簡報</vt:lpstr>
      <vt:lpstr>Configuration: Debug</vt:lpstr>
      <vt:lpstr>Configuration: Release</vt:lpstr>
      <vt:lpstr>PowerPoint 簡報</vt:lpstr>
      <vt:lpstr>PowerPoint 簡報</vt:lpstr>
      <vt:lpstr>Configuration: Debug</vt:lpstr>
      <vt:lpstr>Configuration: Release</vt:lpstr>
      <vt:lpstr>PowerPoint 簡報</vt:lpstr>
      <vt:lpstr>PowerPoint 簡報</vt:lpstr>
      <vt:lpstr>PowerPoint 簡報</vt:lpstr>
      <vt:lpstr>Configuration: Debug</vt:lpstr>
      <vt:lpstr>Configuration: Release</vt:lpstr>
      <vt:lpstr>Configuration: Debug</vt:lpstr>
      <vt:lpstr>Configuration: Release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jclin</dc:creator>
  <cp:lastModifiedBy>james</cp:lastModifiedBy>
  <cp:revision>864</cp:revision>
  <dcterms:created xsi:type="dcterms:W3CDTF">2013-03-13T12:22:18Z</dcterms:created>
  <dcterms:modified xsi:type="dcterms:W3CDTF">2024-09-14T09:17:44Z</dcterms:modified>
</cp:coreProperties>
</file>